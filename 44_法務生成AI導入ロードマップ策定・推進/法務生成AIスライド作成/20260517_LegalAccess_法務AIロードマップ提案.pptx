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" name="Picture 2" descr="青いネットワー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97000"/>
            <a:ext cx="698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FD0E9"/>
                </a:solidFill>
                <a:latin typeface="Yu Gothic UI"/>
              </a:rPr>
              <a:t>LEGAL ACCESS  |  SERVICE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778000"/>
            <a:ext cx="762000" cy="254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968500"/>
            <a:ext cx="6985000" cy="177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FFFFFF"/>
                </a:solidFill>
                <a:latin typeface="Yu Gothic UI"/>
              </a:rPr>
              <a:t>法務AI活用</a:t>
            </a:r>
          </a:p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3FD0E9"/>
                </a:solidFill>
                <a:latin typeface="Yu Gothic UI"/>
              </a:rPr>
              <a:t>ロードマップ</a:t>
            </a:r>
            <a:r>
              <a:rPr sz="6000" b="1" i="0">
                <a:solidFill>
                  <a:srgbClr val="FFFFFF"/>
                </a:solidFill>
                <a:latin typeface="Yu Gothic UI"/>
              </a:rPr>
              <a:t>策定・推進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937000"/>
            <a:ext cx="69850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E8EEF5"/>
                </a:solidFill>
                <a:latin typeface="Yu Gothic UI"/>
              </a:rPr>
              <a:t>「とりあえず入れたAI」を、</a:t>
            </a:r>
            <a:r>
              <a:rPr sz="2200" b="1" i="0">
                <a:solidFill>
                  <a:srgbClr val="3FD0E9"/>
                </a:solidFill>
                <a:latin typeface="Yu Gothic UI"/>
              </a:rPr>
              <a:t>経営インパクトの出る武器</a:t>
            </a:r>
            <a:r>
              <a:rPr sz="2200" b="0" i="0">
                <a:solidFill>
                  <a:srgbClr val="E8EEF5"/>
                </a:solidFill>
                <a:latin typeface="Yu Gothic UI"/>
              </a:rPr>
              <a:t>に変える伴走型サービス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5207000"/>
            <a:ext cx="1397000" cy="355600"/>
          </a:xfrm>
          <a:prstGeom prst="rect">
            <a:avLst/>
          </a:prstGeom>
          <a:noFill/>
          <a:ln w="19050">
            <a:solidFill>
              <a:srgbClr val="3FD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5207000"/>
            <a:ext cx="1397000" cy="355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FD0E9"/>
                </a:solidFill>
                <a:latin typeface="Yu Gothic UI"/>
              </a:rPr>
              <a:t>PRESENTED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194300"/>
            <a:ext cx="508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Yu Gothic UI"/>
              </a:rPr>
              <a:t>リーガルアクセス株式会社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473700"/>
            <a:ext cx="508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9C7DE"/>
                </a:solidFill>
                <a:latin typeface="Yu Gothic UI"/>
              </a:rPr>
              <a:t>代表取締役 弁護士　福島 駿太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ISSUE  /  法務部の現在地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B1F3A"/>
                </a:solidFill>
                <a:latin typeface="Yu Gothic UI"/>
              </a:rPr>
              <a:t>入れたはずのAIが、</a:t>
            </a:r>
            <a:r>
              <a:rPr sz="4400" b="1" i="0">
                <a:solidFill>
                  <a:srgbClr val="00B7D4"/>
                </a:solidFill>
                <a:latin typeface="Yu Gothic UI"/>
              </a:rPr>
              <a:t>動いていない</a:t>
            </a:r>
            <a:r>
              <a:rPr sz="4400" b="1" i="0">
                <a:solidFill>
                  <a:srgbClr val="0B1F3A"/>
                </a:solidFill>
                <a:latin typeface="Yu Gothic U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460500"/>
            <a:ext cx="10985500" cy="571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Yu Gothic UI"/>
              </a:rPr>
              <a:t>多くの法務部で起きていること —— </a:t>
            </a:r>
            <a:r>
              <a:rPr sz="2000" b="1" i="0">
                <a:solidFill>
                  <a:srgbClr val="3FD0E9"/>
                </a:solidFill>
                <a:latin typeface="Yu Gothic UI"/>
              </a:rPr>
              <a:t>「ツールは入った。でも、ここから先が分からない」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300" y="2286000"/>
            <a:ext cx="2159000" cy="3683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300" y="2286000"/>
            <a:ext cx="2159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4638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" y="2743200"/>
            <a:ext cx="2159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とりあえず
導入だけは済んだ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300" y="3746500"/>
            <a:ext cx="2159000" cy="20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D4F6B"/>
                </a:solidFill>
                <a:latin typeface="Yu Gothic UI"/>
              </a:rPr>
              <a:t>ChatGPT、Gemini、Copilot — ライセンスはある。けれど、使われていない。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5900" y="2286000"/>
            <a:ext cx="2159000" cy="3683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55900" y="2286000"/>
            <a:ext cx="2159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5900" y="24638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5900" y="2743200"/>
            <a:ext cx="2159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使い方が
分からない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55900" y="3746500"/>
            <a:ext cx="2159000" cy="20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D4F6B"/>
                </a:solidFill>
                <a:latin typeface="Yu Gothic UI"/>
              </a:rPr>
              <a:t>何を聞けば、何に使えばいいのか。社内に答えを持っている人がいない。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6500" y="2286000"/>
            <a:ext cx="2159000" cy="3683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6500" y="2286000"/>
            <a:ext cx="2159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16500" y="24638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6500" y="2743200"/>
            <a:ext cx="2159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法務は特殊で
事例が出てこない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6500" y="3746500"/>
            <a:ext cx="2159000" cy="20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D4F6B"/>
                </a:solidFill>
                <a:latin typeface="Yu Gothic UI"/>
              </a:rPr>
              <a:t>守秘性が高く、他社の活用事例が公にされない。横展開の手本がない。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7100" y="2286000"/>
            <a:ext cx="2159000" cy="3683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7100" y="2286000"/>
            <a:ext cx="2159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77100" y="24638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7100" y="2743200"/>
            <a:ext cx="2159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効果は
あるはずなのに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7100" y="3746500"/>
            <a:ext cx="2159000" cy="20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D4F6B"/>
                </a:solidFill>
                <a:latin typeface="Yu Gothic UI"/>
              </a:rPr>
              <a:t>時間も人件費も削れるはず。でも、どの業務から手をつけるべきか決められない。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37700" y="2286000"/>
            <a:ext cx="2159000" cy="3683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7700" y="2286000"/>
            <a:ext cx="2159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7700" y="24638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7700" y="2743200"/>
            <a:ext cx="2159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情報管理の
線引きが見えない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700" y="3746500"/>
            <a:ext cx="2159000" cy="20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D4F6B"/>
                </a:solidFill>
                <a:latin typeface="Yu Gothic UI"/>
              </a:rPr>
              <a:t>どこまで入れてよいのか。秘密情報・個人情報の扱いがブラックボックス。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WHY  /  法務にAIが効く3つの理由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B1F3A"/>
                </a:solidFill>
                <a:latin typeface="Yu Gothic UI"/>
              </a:rPr>
              <a:t>法務こそ、AIで</a:t>
            </a:r>
            <a:r>
              <a:rPr sz="4400" b="1" i="0">
                <a:solidFill>
                  <a:srgbClr val="00B7D4"/>
                </a:solidFill>
                <a:latin typeface="Yu Gothic UI"/>
              </a:rPr>
              <a:t>大きく変わる</a:t>
            </a:r>
            <a:r>
              <a:rPr sz="4400" b="1" i="0">
                <a:solidFill>
                  <a:srgbClr val="0B1F3A"/>
                </a:solidFill>
                <a:latin typeface="Yu Gothic UI"/>
              </a:rPr>
              <a:t>領域。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58800" y="1460500"/>
            <a:ext cx="3556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8800" y="1460500"/>
            <a:ext cx="3556000" cy="381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800" y="1689100"/>
            <a:ext cx="3556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8800" y="2006600"/>
            <a:ext cx="3556000" cy="698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時間</a:t>
            </a:r>
            <a:r>
              <a:rPr sz="2000" b="1" i="0">
                <a:solidFill>
                  <a:srgbClr val="00B7D4"/>
                </a:solidFill>
                <a:latin typeface="Yu Gothic UI"/>
              </a:rPr>
              <a:t>を、戻す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800" y="2857500"/>
            <a:ext cx="35560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D4F6B"/>
                </a:solidFill>
                <a:latin typeface="Yu Gothic UI"/>
              </a:rPr>
              <a:t>契約レビュー・リサーチ・要約 — これまで弁護士・パラリーガルが手作業で時間を吸い取られていた業務に、AIは直接効く。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1460500"/>
            <a:ext cx="3556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1460500"/>
            <a:ext cx="3556000" cy="381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8000" y="1689100"/>
            <a:ext cx="3556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0" y="2006600"/>
            <a:ext cx="3556000" cy="698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人件費</a:t>
            </a:r>
            <a:r>
              <a:rPr sz="2000" b="1" i="0">
                <a:solidFill>
                  <a:srgbClr val="00B7D4"/>
                </a:solidFill>
                <a:latin typeface="Yu Gothic UI"/>
              </a:rPr>
              <a:t>を、削る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8000" y="2857500"/>
            <a:ext cx="35560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D4F6B"/>
                </a:solidFill>
                <a:latin typeface="Yu Gothic UI"/>
              </a:rPr>
              <a:t>外注に流していた定型業務を内製化できる。法務人員の採用難に対する、現実的な打ち手になる。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1460500"/>
            <a:ext cx="3556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7200" y="1460500"/>
            <a:ext cx="3556000" cy="381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7200" y="1689100"/>
            <a:ext cx="3556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7200" y="2006600"/>
            <a:ext cx="3556000" cy="698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品質</a:t>
            </a:r>
            <a:r>
              <a:rPr sz="2000" b="1" i="0">
                <a:solidFill>
                  <a:srgbClr val="00B7D4"/>
                </a:solidFill>
                <a:latin typeface="Yu Gothic UI"/>
              </a:rPr>
              <a:t>を、上げる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7200" y="2857500"/>
            <a:ext cx="35560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D4F6B"/>
                </a:solidFill>
                <a:latin typeface="Yu Gothic UI"/>
              </a:rPr>
              <a:t>抜け漏れの検出、判例横断、過去類似案件の即時参照。「人がやるよりむしろ精度が上がる」業務が存在する。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572000"/>
            <a:ext cx="10985500" cy="1206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0" rIns="254000" tIns="177800" bIns="152400"/>
          <a:lstStyle/>
          <a:p>
            <a:pPr algn="l">
              <a:lnSpc>
                <a:spcPct val="150000"/>
              </a:lnSpc>
            </a:pPr>
            <a:r>
              <a:rPr sz="4000" b="1" i="0">
                <a:solidFill>
                  <a:srgbClr val="3FD0E9"/>
                </a:solidFill>
                <a:latin typeface="Yu Gothic UI"/>
              </a:rPr>
              <a:t>“  </a:t>
            </a:r>
            <a:r>
              <a:rPr sz="2400" b="1" i="0">
                <a:solidFill>
                  <a:srgbClr val="3FD0E9"/>
                </a:solidFill>
                <a:latin typeface="Yu Gothic UI"/>
              </a:rPr>
              <a:t>質が高く効率的な法律業務</a:t>
            </a:r>
            <a:r>
              <a:rPr sz="2400" b="1" i="0">
                <a:solidFill>
                  <a:srgbClr val="FFFFFF"/>
                </a:solidFill>
                <a:latin typeface="Yu Gothic UI"/>
              </a:rPr>
              <a:t>を叶える「生成AIとの上手な付き合い方」。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B9C7DE"/>
                </a:solidFill>
                <a:latin typeface="Yu Gothic UI"/>
              </a:rPr>
              <a:t>── 拙著『法務のための生成AI活用ガイド』（弘文堂・2025年）より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SERVICE  /  全体像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5つのステップで、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ロードマップから実装まで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700" y="1524000"/>
            <a:ext cx="2159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700" y="17145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B7D4"/>
                </a:solidFill>
                <a:latin typeface="Yu Gothic UI"/>
              </a:rPr>
              <a:t>STEP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700" y="2019300"/>
            <a:ext cx="21590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B1F3A"/>
                </a:solidFill>
                <a:latin typeface="Yu Gothic UI"/>
              </a:rPr>
              <a:t>責任者・現場へ
インタビュー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700" y="2984500"/>
            <a:ext cx="2159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D4F6B"/>
                </a:solidFill>
                <a:latin typeface="Yu Gothic UI"/>
              </a:rPr>
              <a:t>担当部署の責任者と現場担当者、両方の声を聞く。建前と実態を切り分ける。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2578100" y="2921000"/>
            <a:ext cx="101600" cy="127000"/>
          </a:xfrm>
          <a:prstGeom prst="rtTriangle">
            <a:avLst/>
          </a:prstGeom>
          <a:solidFill>
            <a:srgbClr val="00B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5100" y="1524000"/>
            <a:ext cx="2159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5100" y="17145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B7D4"/>
                </a:solidFill>
                <a:latin typeface="Yu Gothic UI"/>
              </a:rPr>
              <a:t>STEP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5100" y="2019300"/>
            <a:ext cx="21590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B1F3A"/>
                </a:solidFill>
                <a:latin typeface="Yu Gothic UI"/>
              </a:rPr>
              <a:t>技術見通しを
策定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5100" y="2984500"/>
            <a:ext cx="2159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D4F6B"/>
                </a:solidFill>
                <a:latin typeface="Yu Gothic UI"/>
              </a:rPr>
              <a:t>汎用AIの最新動向を踏まえ、「今できること」と「これからできること」を定義。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889500" y="2921000"/>
            <a:ext cx="101600" cy="127000"/>
          </a:xfrm>
          <a:prstGeom prst="rtTriangle">
            <a:avLst/>
          </a:prstGeom>
          <a:solidFill>
            <a:srgbClr val="00B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6500" y="1524000"/>
            <a:ext cx="2159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6500" y="17145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B7D4"/>
                </a:solidFill>
                <a:latin typeface="Yu Gothic UI"/>
              </a:rPr>
              <a:t>STEP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6500" y="2019300"/>
            <a:ext cx="21590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B1F3A"/>
                </a:solidFill>
                <a:latin typeface="Yu Gothic UI"/>
              </a:rPr>
              <a:t>業務×AIで
ユースケース選出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6500" y="2984500"/>
            <a:ext cx="2159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D4F6B"/>
                </a:solidFill>
                <a:latin typeface="Yu Gothic UI"/>
              </a:rPr>
              <a:t>業務領域ごとに「AIに任せられる仕事」を具体名で洗い出す。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200900" y="2921000"/>
            <a:ext cx="101600" cy="127000"/>
          </a:xfrm>
          <a:prstGeom prst="rtTriangle">
            <a:avLst/>
          </a:prstGeom>
          <a:solidFill>
            <a:srgbClr val="00B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7900" y="1524000"/>
            <a:ext cx="2159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7900" y="17145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B7D4"/>
                </a:solidFill>
                <a:latin typeface="Yu Gothic UI"/>
              </a:rPr>
              <a:t>STEP 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7900" y="2019300"/>
            <a:ext cx="21590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B1F3A"/>
                </a:solidFill>
                <a:latin typeface="Yu Gothic UI"/>
              </a:rPr>
              <a:t>経営インパクトで
評価・優先順位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27900" y="2984500"/>
            <a:ext cx="2159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D4F6B"/>
                </a:solidFill>
                <a:latin typeface="Yu Gothic UI"/>
              </a:rPr>
              <a:t>時間削減・コスト削減・品質向上の3軸で各ユースケースをスコア化。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9512300" y="2921000"/>
            <a:ext cx="101600" cy="127000"/>
          </a:xfrm>
          <a:prstGeom prst="rtTriangle">
            <a:avLst/>
          </a:prstGeom>
          <a:solidFill>
            <a:srgbClr val="00B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39300" y="1524000"/>
            <a:ext cx="21590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39300" y="1714500"/>
            <a:ext cx="2159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B7D4"/>
                </a:solidFill>
                <a:latin typeface="Yu Gothic UI"/>
              </a:rPr>
              <a:t>STEP 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39300" y="2019300"/>
            <a:ext cx="21590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B1F3A"/>
                </a:solidFill>
                <a:latin typeface="Yu Gothic UI"/>
              </a:rPr>
              <a:t>ロードマップと
実行計画に落とす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39300" y="2984500"/>
            <a:ext cx="2159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D4F6B"/>
                </a:solidFill>
                <a:latin typeface="Yu Gothic UI"/>
              </a:rPr>
              <a:t>短期で着手する案件、中長期で仕込む案件に振り分け、推進まで伴走。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953000"/>
            <a:ext cx="10985500" cy="825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27000" bIns="127000"/>
          <a:lstStyle/>
          <a:p>
            <a:pPr algn="l">
              <a:lnSpc>
                <a:spcPct val="160000"/>
              </a:lnSpc>
            </a:pPr>
            <a:r>
              <a:rPr sz="1800" b="1" i="0">
                <a:solidFill>
                  <a:srgbClr val="3FD0E9"/>
                </a:solidFill>
                <a:latin typeface="Yu Gothic UI"/>
              </a:rPr>
              <a:t>POINT　　</a:t>
            </a:r>
            <a:r>
              <a:rPr sz="1800" b="0" i="0">
                <a:solidFill>
                  <a:srgbClr val="FFFFFF"/>
                </a:solidFill>
                <a:latin typeface="Yu Gothic UI"/>
              </a:rPr>
              <a:t>作って終わりではなく、</a:t>
            </a:r>
            <a:r>
              <a:rPr sz="1800" b="1" i="0">
                <a:solidFill>
                  <a:srgbClr val="3FD0E9"/>
                </a:solidFill>
                <a:latin typeface="Yu Gothic UI"/>
              </a:rPr>
              <a:t>至近のユースケースを実際に立ち上げるところまで一緒に走る</a:t>
            </a:r>
            <a:r>
              <a:rPr sz="1800" b="0" i="0">
                <a:solidFill>
                  <a:srgbClr val="FFFFFF"/>
                </a:solidFill>
                <a:latin typeface="Yu Gothic UI"/>
              </a:rPr>
              <a:t>。「絵に描いた餅」で止めない。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PROFILE  /  代表者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弁護士 × 国際法務 × AI実務 ── 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福島 駿太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460500"/>
            <a:ext cx="3302000" cy="45720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Picture 8" descr="20230901_IMG_1609_Shunta Fukushima_Full 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60500"/>
            <a:ext cx="3302000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5397500"/>
            <a:ext cx="3302000" cy="635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5397500"/>
            <a:ext cx="3302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8890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FD0E9"/>
                </a:solidFill>
                <a:latin typeface="Yu Gothic UI"/>
              </a:rPr>
              <a:t>代表取締役 弁護士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588000"/>
            <a:ext cx="3302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0" bIns="0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Yu Gothic UI"/>
              </a:rPr>
              <a:t>福島 駿太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1460500"/>
            <a:ext cx="72644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B7D4"/>
                </a:solidFill>
                <a:latin typeface="Yu Gothic UI"/>
              </a:rPr>
              <a:t>CAREER ── 経歴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0" y="1816100"/>
            <a:ext cx="19050" cy="41910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9900" y="19685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95800" y="18415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2013年 3月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5800" y="18415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0B1F3A"/>
                </a:solidFill>
                <a:latin typeface="Yu Gothic UI"/>
              </a:rPr>
              <a:t>中央大学法学部 </a:t>
            </a:r>
            <a:r>
              <a:rPr sz="1700" b="1" i="0">
                <a:solidFill>
                  <a:srgbClr val="0B1F3A"/>
                </a:solidFill>
                <a:latin typeface="Yu Gothic UI"/>
              </a:rPr>
              <a:t>卒業</a:t>
            </a:r>
          </a:p>
        </p:txBody>
      </p:sp>
      <p:sp>
        <p:nvSpPr>
          <p:cNvPr id="18" name="Oval 17"/>
          <p:cNvSpPr/>
          <p:nvPr/>
        </p:nvSpPr>
        <p:spPr>
          <a:xfrm>
            <a:off x="4279900" y="24130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95800" y="22860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2014年12月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5800" y="22860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弁護士登録</a:t>
            </a:r>
            <a:r>
              <a:rPr sz="1700" b="0" i="0">
                <a:solidFill>
                  <a:srgbClr val="0B1F3A"/>
                </a:solidFill>
                <a:latin typeface="Yu Gothic UI"/>
              </a:rPr>
              <a:t>（第一東京弁護士会）</a:t>
            </a:r>
          </a:p>
        </p:txBody>
      </p:sp>
      <p:sp>
        <p:nvSpPr>
          <p:cNvPr id="21" name="Oval 20"/>
          <p:cNvSpPr/>
          <p:nvPr/>
        </p:nvSpPr>
        <p:spPr>
          <a:xfrm>
            <a:off x="4279900" y="28575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5800" y="27305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2014年頃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5800" y="27305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0B1F3A"/>
                </a:solidFill>
                <a:latin typeface="Yu Gothic UI"/>
              </a:rPr>
              <a:t>朝日中央綜合法律事務所 勤務</a:t>
            </a:r>
          </a:p>
        </p:txBody>
      </p:sp>
      <p:sp>
        <p:nvSpPr>
          <p:cNvPr id="24" name="Oval 23"/>
          <p:cNvSpPr/>
          <p:nvPr/>
        </p:nvSpPr>
        <p:spPr>
          <a:xfrm>
            <a:off x="4279900" y="33020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95800" y="31750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2017年 8月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5800" y="31750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0B1F3A"/>
                </a:solidFill>
                <a:latin typeface="Yu Gothic UI"/>
              </a:rPr>
              <a:t>柴田・鈴木・中田法律事務所 勤務</a:t>
            </a:r>
          </a:p>
        </p:txBody>
      </p:sp>
      <p:sp>
        <p:nvSpPr>
          <p:cNvPr id="27" name="Oval 26"/>
          <p:cNvSpPr/>
          <p:nvPr/>
        </p:nvSpPr>
        <p:spPr>
          <a:xfrm>
            <a:off x="4279900" y="37465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5800" y="36195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2018年10月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5800" y="36195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アンダーソン・毛利・友常法律事務所</a:t>
            </a:r>
            <a:r>
              <a:rPr sz="1700" b="0" i="0">
                <a:solidFill>
                  <a:srgbClr val="0B1F3A"/>
                </a:solidFill>
                <a:latin typeface="Yu Gothic UI"/>
              </a:rPr>
              <a:t> 勤務</a:t>
            </a:r>
          </a:p>
        </p:txBody>
      </p:sp>
      <p:sp>
        <p:nvSpPr>
          <p:cNvPr id="30" name="Oval 29"/>
          <p:cNvSpPr/>
          <p:nvPr/>
        </p:nvSpPr>
        <p:spPr>
          <a:xfrm>
            <a:off x="4279900" y="41910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5800" y="40640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2023年 5月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5800" y="40640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コーネル大学ロースクール</a:t>
            </a:r>
            <a:r>
              <a:rPr sz="1700" b="0" i="0">
                <a:solidFill>
                  <a:srgbClr val="0B1F3A"/>
                </a:solidFill>
                <a:latin typeface="Yu Gothic UI"/>
              </a:rPr>
              <a:t>修了（法学修士）</a:t>
            </a:r>
          </a:p>
        </p:txBody>
      </p:sp>
      <p:sp>
        <p:nvSpPr>
          <p:cNvPr id="33" name="Oval 32"/>
          <p:cNvSpPr/>
          <p:nvPr/>
        </p:nvSpPr>
        <p:spPr>
          <a:xfrm>
            <a:off x="4279900" y="46355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95800" y="45085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2023年 9月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5800" y="45085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0B1F3A"/>
                </a:solidFill>
                <a:latin typeface="Yu Gothic UI"/>
              </a:rPr>
              <a:t>Walkers（Hong Kong）にて海外研修</a:t>
            </a:r>
          </a:p>
        </p:txBody>
      </p:sp>
      <p:sp>
        <p:nvSpPr>
          <p:cNvPr id="36" name="Oval 35"/>
          <p:cNvSpPr/>
          <p:nvPr/>
        </p:nvSpPr>
        <p:spPr>
          <a:xfrm>
            <a:off x="4279900" y="50800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95800" y="49530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2024年 9月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5800" y="49530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0B1F3A"/>
                </a:solidFill>
                <a:latin typeface="Yu Gothic UI"/>
              </a:rPr>
              <a:t>アンダーソン・毛利・友常法律事務所 復帰</a:t>
            </a:r>
          </a:p>
        </p:txBody>
      </p:sp>
      <p:sp>
        <p:nvSpPr>
          <p:cNvPr id="39" name="Oval 38"/>
          <p:cNvSpPr/>
          <p:nvPr/>
        </p:nvSpPr>
        <p:spPr>
          <a:xfrm>
            <a:off x="4279900" y="5524500"/>
            <a:ext cx="76200" cy="76200"/>
          </a:xfrm>
          <a:prstGeom prst="ellipse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95800" y="5397500"/>
            <a:ext cx="127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7D4"/>
                </a:solidFill>
                <a:latin typeface="Yu Gothic UI"/>
              </a:rPr>
              <a:t>2025年 1月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5800" y="5397500"/>
            <a:ext cx="5715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リーガルアクセス株式会社 創業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PUBLICATION  /  著書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弘文堂より刊行、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累計5,000部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。</a:t>
            </a:r>
          </a:p>
        </p:txBody>
      </p:sp>
      <p:pic>
        <p:nvPicPr>
          <p:cNvPr id="8" name="Picture 7" descr="表紙（法務のための生成AI活用ガイド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2667000" cy="355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2000" y="5207000"/>
            <a:ext cx="26670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ctr">
              <a:lnSpc>
                <a:spcPct val="150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『法務のための生成AI活用ガイド』</a:t>
            </a:r>
          </a:p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3D4F6B"/>
                </a:solidFill>
                <a:latin typeface="Yu Gothic UI"/>
              </a:rPr>
              <a:t>弁護士 福島駿太 著／弘文堂・2025年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7000" y="1524000"/>
            <a:ext cx="7620000" cy="952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152400" bIns="152400"/>
          <a:lstStyle/>
          <a:p>
            <a:pPr algn="l">
              <a:lnSpc>
                <a:spcPct val="150000"/>
              </a:lnSpc>
            </a:pPr>
            <a:r>
              <a:rPr sz="2400" b="1" i="0">
                <a:solidFill>
                  <a:srgbClr val="3FD0E9"/>
                </a:solidFill>
                <a:latin typeface="Yu Gothic UI"/>
              </a:rPr>
              <a:t>質が高く効率的な</a:t>
            </a:r>
            <a:r>
              <a:rPr sz="2400" b="1" i="0">
                <a:solidFill>
                  <a:srgbClr val="FFFFFF"/>
                </a:solidFill>
                <a:latin typeface="Yu Gothic UI"/>
              </a:rPr>
              <a:t>法律業務を叶える</a:t>
            </a:r>
          </a:p>
          <a:p>
            <a:pPr algn="l">
              <a:lnSpc>
                <a:spcPct val="150000"/>
              </a:lnSpc>
            </a:pPr>
            <a:r>
              <a:rPr sz="2400" b="1" i="0">
                <a:solidFill>
                  <a:srgbClr val="FFFFFF"/>
                </a:solidFill>
                <a:latin typeface="Yu Gothic UI"/>
              </a:rPr>
              <a:t>「生成AIとの上手な付き合い方」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7000" y="2603500"/>
            <a:ext cx="762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5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法務部・法律事務所・パラリーガルが、今すぐ実務に取り入れられる実践的な1冊。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7000" y="2857500"/>
            <a:ext cx="762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D4F6B"/>
                </a:solidFill>
                <a:latin typeface="Yu Gothic UI"/>
              </a:rPr>
              <a:t>契約レビュー、リサーチ、ドラフティング、リスク管理まで具体的なプロンプト例で解説。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7000" y="3429000"/>
            <a:ext cx="2413000" cy="18415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429000"/>
            <a:ext cx="2413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606800"/>
            <a:ext cx="24130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B7D4"/>
                </a:solidFill>
                <a:latin typeface="Yu Gothic UI"/>
              </a:rPr>
              <a:t>No.1</a:t>
            </a:r>
            <a:r>
              <a:rPr sz="1600" b="1" i="0">
                <a:solidFill>
                  <a:srgbClr val="0B1F3A"/>
                </a:solidFill>
                <a:latin typeface="Yu Gothic U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3937000" y="4254500"/>
            <a:ext cx="2413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Amazonベストセラー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7000" y="4572000"/>
            <a:ext cx="24130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D4F6B"/>
                </a:solidFill>
                <a:latin typeface="Yu Gothic UI"/>
              </a:rPr>
              <a:t>該当カテゴリで1位を獲得。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0500" y="3429000"/>
            <a:ext cx="2413000" cy="18415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40500" y="3429000"/>
            <a:ext cx="2413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40500" y="3606800"/>
            <a:ext cx="24130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B7D4"/>
                </a:solidFill>
                <a:latin typeface="Yu Gothic UI"/>
              </a:rPr>
              <a:t>No.1</a:t>
            </a:r>
            <a:r>
              <a:rPr sz="1600" b="1" i="0">
                <a:solidFill>
                  <a:srgbClr val="0B1F3A"/>
                </a:solidFill>
                <a:latin typeface="Yu Gothic U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540500" y="4254500"/>
            <a:ext cx="2413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弁護士会ブックセンター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0500" y="4572000"/>
            <a:ext cx="24130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D4F6B"/>
                </a:solidFill>
                <a:latin typeface="Yu Gothic UI"/>
              </a:rPr>
              <a:t>実務家コミュニティで首位。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3429000"/>
            <a:ext cx="2413000" cy="18415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3429000"/>
            <a:ext cx="2413000" cy="254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3606800"/>
            <a:ext cx="24130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B7D4"/>
                </a:solidFill>
                <a:latin typeface="Yu Gothic UI"/>
              </a:rPr>
              <a:t>5,000</a:t>
            </a:r>
            <a:r>
              <a:rPr sz="1600" b="1" i="0">
                <a:solidFill>
                  <a:srgbClr val="0B1F3A"/>
                </a:solidFill>
                <a:latin typeface="Yu Gothic UI"/>
              </a:rPr>
              <a:t>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254500"/>
            <a:ext cx="2413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B1F3A"/>
                </a:solidFill>
                <a:latin typeface="Yu Gothic UI"/>
              </a:rPr>
              <a:t>累計発行部数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4572000"/>
            <a:ext cx="24130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0" bIns="0"/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D4F6B"/>
                </a:solidFill>
                <a:latin typeface="Yu Gothic UI"/>
              </a:rPr>
              <a:t>増刷を重ね、現在も伸長中。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SEMINARS  /  講演・登壇実績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弁護士会・士業団体・企業 ── 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登壇多数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4605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4605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3900" y="14605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3/19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>（水）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89100" y="14605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実はよく知らないけど今さら聞けないAIのこと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主催：弘文堂・GVA 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4900" y="14605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4900" y="14605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9200" y="14605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4/23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>（水）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4400" y="14605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AI活用のルール、「まだいらない」で本当にいいですか？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共催：東京新橋法律事務所・リーガルアクセス株式会社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23876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23876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3900" y="23876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5/21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>（水）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89100" y="23876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企業のAI活用に必要なルール整備を弁護士3名が解説 ｜法的リスクと実践活用を60分で整理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共催：東京新橋法律事務所・リーガルアクセス株式会社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3876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4900" y="23876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9200" y="23876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6/22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>（日）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4400" y="23876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もう一歩先へ 熟練弁護士による生成AIの総合的活用術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主催：GVA TECH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3147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33147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900" y="33147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7/10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>（木）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89100" y="33147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中小企業法務とAIの利活用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主催：東京弁護士会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4900" y="33147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4900" y="33147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9200" y="33147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8/10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>（日）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4400" y="33147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法務のための生成AI活用について ── 基礎編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主催：公認会計士協会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2418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42418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3900" y="42418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8/20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>（水）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89100" y="42418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法務部員のための実践的AI活用方法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主催：国際企業法務協会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4900" y="4241800"/>
            <a:ext cx="53975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4900" y="4241800"/>
            <a:ext cx="38100" cy="8255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9200" y="4241800"/>
            <a:ext cx="8890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B7D4"/>
                </a:solidFill>
                <a:latin typeface="Yu Gothic UI"/>
              </a:rPr>
              <a:t>───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D4F6B"/>
                </a:solidFill>
                <a:latin typeface="Yu Gothic U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7264400" y="4241800"/>
            <a:ext cx="42545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01600" tIns="50800" bIns="50800"/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0B1F3A"/>
                </a:solidFill>
                <a:latin typeface="Yu Gothic UI"/>
              </a:rPr>
              <a:t>そのほか、企業内研修・私的勉強会など登壇実績</a:t>
            </a:r>
            <a:r>
              <a:rPr sz="1600" b="1" i="0">
                <a:solidFill>
                  <a:srgbClr val="00B7D4"/>
                </a:solidFill>
                <a:latin typeface="Yu Gothic UI"/>
              </a:rPr>
              <a:t>多数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D4F6B"/>
                </a:solidFill>
                <a:latin typeface="Yu Gothic UI"/>
              </a:rPr>
              <a:t>個別の社内研修・経営層向けブリーフィング含む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DETAIL ①  /  ヒアリング〜現状分析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まず、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「今、何が起きているか」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を正確に掴む。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524000"/>
            <a:ext cx="6985000" cy="2286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24000"/>
            <a:ext cx="50800" cy="2286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3600" y="1701800"/>
            <a:ext cx="762000" cy="2286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3600" y="1701800"/>
            <a:ext cx="76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Yu Gothic UI"/>
              </a:rPr>
              <a:t>STEP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3600" y="1993900"/>
            <a:ext cx="6477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ヒアリング・状況把握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600" y="2413000"/>
            <a:ext cx="6477000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担当責任者と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1対1で打ち合わせ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。現状のAI導入・活用状況をヒアリング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導入済みツール／未導入ツールを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棚卸し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。「契約だけして使われていない」も含めて把握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現場担当者がどのツールを、どの業務で、どう使っているかを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実態ベース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で確認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962400"/>
            <a:ext cx="6985000" cy="2286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962400"/>
            <a:ext cx="50800" cy="2286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600" y="4140200"/>
            <a:ext cx="762000" cy="2286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600" y="4140200"/>
            <a:ext cx="76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Yu Gothic UI"/>
              </a:rPr>
              <a:t>STEP 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3600" y="4432300"/>
            <a:ext cx="6477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現状分析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3600" y="4851400"/>
            <a:ext cx="6477000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ヒアリング結果をもとに、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現在の投資効率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を可視化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人件費にいくらかかっているのか、AIツールにいくら払っているのか、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金額で並べる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「払っている分のリターンが出ているか」を経営層に説明できる形に整理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7000" y="1524000"/>
            <a:ext cx="3810000" cy="47244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Picture 20" descr="タブレットとペン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0" y="1524000"/>
            <a:ext cx="3810000" cy="47244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899400" y="1676400"/>
            <a:ext cx="1143000" cy="254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99400" y="1676400"/>
            <a:ext cx="1143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FD0E9"/>
                </a:solidFill>
                <a:latin typeface="Yu Gothic UI"/>
              </a:rPr>
              <a:t>HEARING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09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DETAIL ②  /  活用案の策定〜提言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「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どの業務に、どのAIを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」を具体名で出す。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524000"/>
            <a:ext cx="6985000" cy="2286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24000"/>
            <a:ext cx="50800" cy="2286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3600" y="1701800"/>
            <a:ext cx="762000" cy="2286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3600" y="1701800"/>
            <a:ext cx="76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Yu Gothic UI"/>
              </a:rPr>
              <a:t>STEP 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3600" y="1993900"/>
            <a:ext cx="6477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AI活用案の策定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600" y="2413000"/>
            <a:ext cx="6477000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AI活用の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余地があるのに使われていない業務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を洗い出し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既に活用されているが、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さらに踏み込める業務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もリストアップ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業務単位で「使うべきツール／プロンプト方針」をセットで設計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962400"/>
            <a:ext cx="6985000" cy="2286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962400"/>
            <a:ext cx="50800" cy="2286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600" y="4140200"/>
            <a:ext cx="762000" cy="2286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600" y="4140200"/>
            <a:ext cx="76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Yu Gothic UI"/>
              </a:rPr>
              <a:t>STEP 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3600" y="4432300"/>
            <a:ext cx="6477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AI活用案の提言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3600" y="4851400"/>
            <a:ext cx="6477000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個社の業務に応じた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具体的な活用法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を提言（机上論ではなく実装可能な粒度）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導入時の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経営インパクト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（時間削減・コスト削減）を金額で提示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責任者・社員向けの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オンボーディング説明会・研修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を実施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7000" y="1524000"/>
            <a:ext cx="3810000" cy="47244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Picture 20" descr="パソコン画面とコー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0" y="1524000"/>
            <a:ext cx="3810000" cy="47244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899400" y="1676400"/>
            <a:ext cx="1143000" cy="254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99400" y="1676400"/>
            <a:ext cx="1143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FD0E9"/>
                </a:solidFill>
                <a:latin typeface="Yu Gothic UI"/>
              </a:rPr>
              <a:t>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DETAIL ③  /  継続的モニタリング・継続支援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作って終わりではない、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定着するまで伴走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524000"/>
            <a:ext cx="6985000" cy="2286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24000"/>
            <a:ext cx="50800" cy="2286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3600" y="1701800"/>
            <a:ext cx="762000" cy="2286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3600" y="1701800"/>
            <a:ext cx="76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Yu Gothic UI"/>
              </a:rPr>
              <a:t>STEP 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3600" y="1993900"/>
            <a:ext cx="6477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継続的モニタリング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600" y="2413000"/>
            <a:ext cx="6477000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現場でAIが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実際に使われているか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を継続的に把握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定期レビューで「想定通り使えている業務／想定外に止まっている業務」を切り分け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導入直後の盛り上がりで終わらせず、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習慣にする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まで見届ける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962400"/>
            <a:ext cx="6985000" cy="2286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962400"/>
            <a:ext cx="50800" cy="2286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600" y="4140200"/>
            <a:ext cx="762000" cy="2286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600" y="4140200"/>
            <a:ext cx="76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Yu Gothic UI"/>
              </a:rPr>
              <a:t>STEP 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3600" y="4432300"/>
            <a:ext cx="6477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0B1F3A"/>
                </a:solidFill>
                <a:latin typeface="Yu Gothic UI"/>
              </a:rPr>
              <a:t>継続支援・ギャップの解消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3600" y="4851400"/>
            <a:ext cx="6477000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運用と設計の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ギャップが生じた箇所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を特定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使われない理由（UI／教育／業務フロー）を分析し、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解決策を提示</a:t>
            </a:r>
          </a:p>
          <a:p>
            <a:pPr algn="l">
              <a:lnSpc>
                <a:spcPct val="170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▸  </a:t>
            </a:r>
            <a:r>
              <a:rPr sz="1500" b="0" i="0">
                <a:solidFill>
                  <a:srgbClr val="0B1F3A"/>
                </a:solidFill>
                <a:latin typeface="Yu Gothic UI"/>
              </a:rPr>
              <a:t>必要なプロンプト改修、ルール改訂、追加研修まで</a:t>
            </a:r>
            <a:r>
              <a:rPr sz="1500" b="1" i="0">
                <a:solidFill>
                  <a:srgbClr val="00B7D4"/>
                </a:solidFill>
                <a:latin typeface="Yu Gothic UI"/>
              </a:rPr>
              <a:t>実装を支援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7000" y="1524000"/>
            <a:ext cx="3810000" cy="47244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Picture 20" descr="キーボー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0" y="1524000"/>
            <a:ext cx="3810000" cy="47244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899400" y="1676400"/>
            <a:ext cx="1143000" cy="254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99400" y="1676400"/>
            <a:ext cx="1143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FD0E9"/>
                </a:solidFill>
                <a:latin typeface="Yu Gothic UI"/>
              </a:rPr>
              <a:t>RUN &amp; IMPROVE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OPTION  /  個別開発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必要があれば、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個別システム開発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まで。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524000"/>
            <a:ext cx="5461000" cy="4572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778000"/>
            <a:ext cx="5461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55600" rIns="35560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FD0E9"/>
                </a:solidFill>
                <a:latin typeface="Yu Gothic UI"/>
              </a:rPr>
              <a:t>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159000"/>
            <a:ext cx="54610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55600" rIns="355600" tIns="0" bIns="0"/>
          <a:lstStyle/>
          <a:p>
            <a:pPr algn="l">
              <a:lnSpc>
                <a:spcPct val="145000"/>
              </a:lnSpc>
            </a:pPr>
            <a:r>
              <a:rPr sz="2600" b="1" i="0">
                <a:solidFill>
                  <a:srgbClr val="FFFFFF"/>
                </a:solidFill>
                <a:latin typeface="Yu Gothic UI"/>
              </a:rPr>
              <a:t>本サービスは</a:t>
            </a:r>
          </a:p>
          <a:p>
            <a:pPr algn="l">
              <a:lnSpc>
                <a:spcPct val="145000"/>
              </a:lnSpc>
            </a:pPr>
            <a:r>
              <a:rPr sz="3000" b="1" i="0">
                <a:solidFill>
                  <a:srgbClr val="3FD0E9"/>
                </a:solidFill>
                <a:latin typeface="Yu Gothic UI"/>
              </a:rPr>
              <a:t>「汎用型生成AI」</a:t>
            </a:r>
          </a:p>
          <a:p>
            <a:pPr algn="l">
              <a:lnSpc>
                <a:spcPct val="145000"/>
              </a:lnSpc>
            </a:pPr>
            <a:r>
              <a:rPr sz="2600" b="1" i="0">
                <a:solidFill>
                  <a:srgbClr val="FFFFFF"/>
                </a:solidFill>
                <a:latin typeface="Yu Gothic UI"/>
              </a:rPr>
              <a:t>の活用を前提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937000"/>
            <a:ext cx="5461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55600" rIns="355600" tIns="0" bIns="0"/>
          <a:lstStyle/>
          <a:p>
            <a:pPr algn="l">
              <a:lnSpc>
                <a:spcPct val="170000"/>
              </a:lnSpc>
            </a:pPr>
            <a:r>
              <a:rPr sz="1600" b="0" i="0">
                <a:solidFill>
                  <a:srgbClr val="E8EEF5"/>
                </a:solidFill>
                <a:latin typeface="Yu Gothic UI"/>
              </a:rPr>
              <a:t>ChatGPT、Gemini、Claude、Copilot といった汎用AIを、業務に合わせて使いこなす設計を行います。多くの業務は、汎用AIと適切なプロンプト設計でカバーできます。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1524000"/>
            <a:ext cx="5334000" cy="4572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2400" y="1778000"/>
            <a:ext cx="952500" cy="2286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2400" y="1778000"/>
            <a:ext cx="952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Yu Gothic UI"/>
              </a:rPr>
              <a:t>OPTIONAL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2159000"/>
            <a:ext cx="53340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55600" rIns="355600" tIns="0" bIns="0"/>
          <a:lstStyle/>
          <a:p>
            <a:pPr algn="l">
              <a:lnSpc>
                <a:spcPct val="145000"/>
              </a:lnSpc>
            </a:pPr>
            <a:r>
              <a:rPr sz="2600" b="1" i="0">
                <a:solidFill>
                  <a:srgbClr val="0B1F3A"/>
                </a:solidFill>
                <a:latin typeface="Yu Gothic UI"/>
              </a:rPr>
              <a:t>業務特化の</a:t>
            </a:r>
          </a:p>
          <a:p>
            <a:pPr algn="l">
              <a:lnSpc>
                <a:spcPct val="145000"/>
              </a:lnSpc>
            </a:pPr>
            <a:r>
              <a:rPr sz="2600" b="1" i="0">
                <a:solidFill>
                  <a:srgbClr val="0B1F3A"/>
                </a:solidFill>
                <a:latin typeface="Yu Gothic UI"/>
              </a:rPr>
              <a:t>個別開発が必要な場合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556000"/>
            <a:ext cx="53340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55600" rIns="355600" tIns="0" bIns="0"/>
          <a:lstStyle/>
          <a:p>
            <a:pPr algn="l">
              <a:lnSpc>
                <a:spcPct val="170000"/>
              </a:lnSpc>
            </a:pPr>
            <a:r>
              <a:rPr sz="1600" b="0" i="0">
                <a:solidFill>
                  <a:srgbClr val="3D4F6B"/>
                </a:solidFill>
                <a:latin typeface="Yu Gothic UI"/>
              </a:rPr>
              <a:t>社内文書RAG、契約レビュー特化UI、社内チャットボット等、独自システムが必要な場合は</a:t>
            </a:r>
            <a:r>
              <a:rPr sz="1600" b="1" i="0">
                <a:solidFill>
                  <a:srgbClr val="00B7D4"/>
                </a:solidFill>
                <a:latin typeface="Yu Gothic UI"/>
              </a:rPr>
              <a:t>別途お見積り</a:t>
            </a:r>
            <a:r>
              <a:rPr sz="1600" b="0" i="0">
                <a:solidFill>
                  <a:srgbClr val="3D4F6B"/>
                </a:solidFill>
                <a:latin typeface="Yu Gothic UI"/>
              </a:rPr>
              <a:t>のうえ対応いたします。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" y="6502400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Yu Gothic UI"/>
              </a:rPr>
              <a:t>Legal </a:t>
            </a:r>
            <a:r>
              <a:rPr sz="1400" b="1" i="0">
                <a:solidFill>
                  <a:srgbClr val="00B7D4"/>
                </a:solidFill>
                <a:latin typeface="Yu Gothic UI"/>
              </a:rPr>
              <a:t>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95000" y="6502400"/>
            <a:ext cx="114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99A8BD"/>
                </a:solidFill>
                <a:latin typeface="Yu Gothic UI"/>
              </a:rPr>
              <a:t>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0700"/>
            <a:ext cx="381000" cy="127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64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B7D4"/>
                </a:solidFill>
                <a:latin typeface="Yu Gothic UI"/>
              </a:rPr>
              <a:t>PRICING  /  料金・お支払い・上限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85800"/>
            <a:ext cx="111125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B1F3A"/>
                </a:solidFill>
                <a:latin typeface="Yu Gothic UI"/>
              </a:rPr>
              <a:t>月額制の伴走サービス、</a:t>
            </a:r>
            <a:r>
              <a:rPr sz="4000" b="1" i="0">
                <a:solidFill>
                  <a:srgbClr val="00B7D4"/>
                </a:solidFill>
                <a:latin typeface="Yu Gothic UI"/>
              </a:rPr>
              <a:t>上限8社</a:t>
            </a:r>
            <a:r>
              <a:rPr sz="4000" b="1" i="0">
                <a:solidFill>
                  <a:srgbClr val="0B1F3A"/>
                </a:solidFill>
                <a:latin typeface="Yu Gothic U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524000"/>
            <a:ext cx="5715000" cy="4572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841500"/>
            <a:ext cx="571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0" rIns="38100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FD0E9"/>
                </a:solidFill>
                <a:latin typeface="Yu Gothic UI"/>
              </a:rPr>
              <a:t>MONTHLY FEE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222500"/>
            <a:ext cx="57150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0" rIns="381000" tIns="0" bIns="0"/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FFFF"/>
                </a:solidFill>
                <a:latin typeface="Yu Gothic UI"/>
              </a:rPr>
              <a:t>50</a:t>
            </a:r>
            <a:r>
              <a:rPr sz="2800" b="1" i="0">
                <a:solidFill>
                  <a:srgbClr val="3FD0E9"/>
                </a:solidFill>
                <a:latin typeface="Yu Gothic UI"/>
              </a:rPr>
              <a:t>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683000"/>
            <a:ext cx="571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0" rIns="381000" tIns="0" bIns="0"/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EEF5"/>
                </a:solidFill>
                <a:latin typeface="Yu Gothic UI"/>
              </a:rPr>
              <a:t>× ご契約月数（税別）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4318000"/>
            <a:ext cx="5715000" cy="177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0" rIns="381000" tIns="0" bIns="0"/>
          <a:lstStyle/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B9C7DE"/>
                </a:solidFill>
                <a:latin typeface="Yu Gothic UI"/>
              </a:rPr>
              <a:t>月額固定で、ヒアリング・分析・提言・研修・継続モニタリングまで含む包括フィー。</a:t>
            </a:r>
          </a:p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B9C7DE"/>
                </a:solidFill>
                <a:latin typeface="Yu Gothic UI"/>
              </a:rPr>
              <a:t>個別開発が必要な場合は別途お見積り。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2400" y="1524000"/>
            <a:ext cx="5080000" cy="2159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2400" y="1524000"/>
            <a:ext cx="38100" cy="2159000"/>
          </a:xfrm>
          <a:prstGeom prst="rect">
            <a:avLst/>
          </a:prstGeom>
          <a:solidFill>
            <a:srgbClr val="00B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5600" y="1778000"/>
            <a:ext cx="46736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B7D4"/>
                </a:solidFill>
                <a:latin typeface="Yu Gothic UI"/>
              </a:rPr>
              <a:t>PAYMENT ── お支払い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5600" y="2159000"/>
            <a:ext cx="46736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80000"/>
              </a:lnSpc>
            </a:pPr>
            <a:r>
              <a:rPr sz="1700" b="0" i="0">
                <a:solidFill>
                  <a:srgbClr val="0B1F3A"/>
                </a:solidFill>
                <a:latin typeface="Yu Gothic UI"/>
              </a:rPr>
              <a:t>ご契約時に</a:t>
            </a:r>
            <a:r>
              <a:rPr sz="1700" b="1" i="0">
                <a:solidFill>
                  <a:srgbClr val="00B7D4"/>
                </a:solidFill>
                <a:latin typeface="Yu Gothic UI"/>
              </a:rPr>
              <a:t>当初月分</a:t>
            </a:r>
            <a:r>
              <a:rPr sz="1700" b="0" i="0">
                <a:solidFill>
                  <a:srgbClr val="0B1F3A"/>
                </a:solidFill>
                <a:latin typeface="Yu Gothic UI"/>
              </a:rPr>
              <a:t>をご入金いただきます。</a:t>
            </a:r>
          </a:p>
          <a:p>
            <a:pPr algn="l">
              <a:lnSpc>
                <a:spcPct val="180000"/>
              </a:lnSpc>
            </a:pPr>
            <a:r>
              <a:rPr sz="1700" b="0" i="0">
                <a:solidFill>
                  <a:srgbClr val="0B1F3A"/>
                </a:solidFill>
                <a:latin typeface="Yu Gothic UI"/>
              </a:rPr>
              <a:t>以降は</a:t>
            </a:r>
            <a:r>
              <a:rPr sz="1700" b="1" i="0">
                <a:solidFill>
                  <a:srgbClr val="00B7D4"/>
                </a:solidFill>
                <a:latin typeface="Yu Gothic UI"/>
              </a:rPr>
              <a:t>前月25日まで</a:t>
            </a:r>
            <a:r>
              <a:rPr sz="1700" b="0" i="0">
                <a:solidFill>
                  <a:srgbClr val="0B1F3A"/>
                </a:solidFill>
                <a:latin typeface="Yu Gothic UI"/>
              </a:rPr>
              <a:t>に当月分をお支払い。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2400" y="3937000"/>
            <a:ext cx="5080000" cy="2159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2400" y="3937000"/>
            <a:ext cx="38100" cy="21590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05600" y="4127500"/>
            <a:ext cx="46736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FD0E9"/>
                </a:solidFill>
                <a:latin typeface="Yu Gothic UI"/>
              </a:rPr>
              <a:t>LIMITATION ── ご支援先の上限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5600" y="4445000"/>
            <a:ext cx="46736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3FD0E9"/>
                </a:solidFill>
                <a:latin typeface="Yu Gothic UI"/>
              </a:rPr>
              <a:t>8社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5600" y="5334000"/>
            <a:ext cx="4673600" cy="698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70000"/>
              </a:lnSpc>
            </a:pPr>
            <a:r>
              <a:rPr sz="1600" b="0" i="0">
                <a:solidFill>
                  <a:srgbClr val="FFFFFF"/>
                </a:solidFill>
                <a:latin typeface="Yu Gothic UI"/>
              </a:rPr>
              <a:t>伴走型のため、同時にお引き受けできる企業数に</a:t>
            </a:r>
            <a:r>
              <a:rPr sz="1600" b="1" i="0">
                <a:solidFill>
                  <a:srgbClr val="3FD0E9"/>
                </a:solidFill>
                <a:latin typeface="Yu Gothic UI"/>
              </a:rPr>
              <a:t>上限</a:t>
            </a:r>
            <a:r>
              <a:rPr sz="1600" b="0" i="0">
                <a:solidFill>
                  <a:srgbClr val="FFFFFF"/>
                </a:solidFill>
                <a:latin typeface="Yu Gothic UI"/>
              </a:rPr>
              <a:t>を設けています。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" name="Picture 2" descr="青いネットワー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143000"/>
            <a:ext cx="698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FD0E9"/>
                </a:solidFill>
                <a:latin typeface="Yu Gothic UI"/>
              </a:rPr>
              <a:t>APPLICATION  |  お申込み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524000"/>
            <a:ext cx="6985000" cy="177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3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</a:rPr>
              <a:t>お申込みは、</a:t>
            </a:r>
          </a:p>
          <a:p>
            <a:pPr algn="l">
              <a:lnSpc>
                <a:spcPct val="130000"/>
              </a:lnSpc>
            </a:pPr>
            <a:r>
              <a:rPr sz="5600" b="1" i="0">
                <a:solidFill>
                  <a:srgbClr val="3FD0E9"/>
                </a:solidFill>
                <a:latin typeface="Yu Gothic UI"/>
              </a:rPr>
              <a:t>先着順</a:t>
            </a:r>
            <a:r>
              <a:rPr sz="5600" b="1" i="0">
                <a:solidFill>
                  <a:srgbClr val="FFFFFF"/>
                </a:solidFill>
                <a:latin typeface="Yu Gothic UI"/>
              </a:rPr>
              <a:t>とさせていただきます。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429000"/>
            <a:ext cx="9525000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>
              <a:lnSpc>
                <a:spcPct val="170000"/>
              </a:lnSpc>
            </a:pPr>
            <a:r>
              <a:rPr sz="2000" b="0" i="0">
                <a:solidFill>
                  <a:srgbClr val="E8EEF5"/>
                </a:solidFill>
                <a:latin typeface="Yu Gothic UI"/>
              </a:rPr>
              <a:t>他の企業様からのお申込みが先に入った場合、ご依頼を</a:t>
            </a:r>
            <a:r>
              <a:rPr sz="2000" b="1" i="0">
                <a:solidFill>
                  <a:srgbClr val="3FD0E9"/>
                </a:solidFill>
                <a:latin typeface="Yu Gothic UI"/>
              </a:rPr>
              <a:t>やむを得ずお断り</a:t>
            </a:r>
            <a:r>
              <a:rPr sz="2000" b="0" i="0">
                <a:solidFill>
                  <a:srgbClr val="E8EEF5"/>
                </a:solidFill>
                <a:latin typeface="Yu Gothic UI"/>
              </a:rPr>
              <a:t>させていただくことがございます。</a:t>
            </a:r>
          </a:p>
          <a:p>
            <a:pPr algn="l">
              <a:lnSpc>
                <a:spcPct val="170000"/>
              </a:lnSpc>
            </a:pPr>
            <a:r>
              <a:rPr sz="2000" b="0" i="0">
                <a:solidFill>
                  <a:srgbClr val="E8EEF5"/>
                </a:solidFill>
                <a:latin typeface="Yu Gothic UI"/>
              </a:rPr>
              <a:t>ご検討中の場合は、</a:t>
            </a:r>
            <a:r>
              <a:rPr sz="2000" b="1" i="0">
                <a:solidFill>
                  <a:srgbClr val="3FD0E9"/>
                </a:solidFill>
                <a:latin typeface="Yu Gothic UI"/>
              </a:rPr>
              <a:t>お早めにご連絡</a:t>
            </a:r>
            <a:r>
              <a:rPr sz="2000" b="0" i="0">
                <a:solidFill>
                  <a:srgbClr val="E8EEF5"/>
                </a:solidFill>
                <a:latin typeface="Yu Gothic UI"/>
              </a:rPr>
              <a:t>いただけますと幸いです。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080000"/>
            <a:ext cx="8255000" cy="1016000"/>
          </a:xfrm>
          <a:prstGeom prst="rect">
            <a:avLst/>
          </a:prstGeom>
          <a:noFill/>
          <a:ln w="19050">
            <a:solidFill>
              <a:srgbClr val="3FD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5080000"/>
            <a:ext cx="38100" cy="1016000"/>
          </a:xfrm>
          <a:prstGeom prst="rect">
            <a:avLst/>
          </a:prstGeom>
          <a:solidFill>
            <a:srgbClr val="3FD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5207000"/>
            <a:ext cx="1270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FD0E9"/>
                </a:solidFill>
                <a:latin typeface="Yu Gothic UI"/>
              </a:rPr>
              <a:t>CONTACT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3000" y="5207000"/>
            <a:ext cx="635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Yu Gothic UI"/>
              </a:rPr>
              <a:t>リーガルアクセス株式会社 ／ 代表取締役 弁護士 福島 駿太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3000" y="5588000"/>
            <a:ext cx="6350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9C7DE"/>
                </a:solidFill>
                <a:latin typeface="Yu Gothic UI"/>
              </a:rPr>
              <a:t>本資料に関するお問い合わせは、商談ご担当窓口までご連絡ください。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