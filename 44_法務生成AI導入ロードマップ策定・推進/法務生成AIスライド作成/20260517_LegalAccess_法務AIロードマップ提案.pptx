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1F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404" autoAdjust="0"/>
  </p:normalViewPr>
  <p:slideViewPr>
    <p:cSldViewPr snapToGrid="0" snapToObjects="1">
      <p:cViewPr varScale="1">
        <p:scale>
          <a:sx n="67" d="100"/>
          <a:sy n="67" d="100"/>
        </p:scale>
        <p:origin x="548" y="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3" name="Picture 2" descr="青いネットワー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62000" y="1397000"/>
            <a:ext cx="6985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3FD0E9"/>
                </a:solidFill>
                <a:latin typeface="Yu Gothic UI"/>
              </a:rPr>
              <a:t>LEGAL ACCESS  |  SERVICE PROPOSAL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1778000"/>
            <a:ext cx="762000" cy="25400"/>
          </a:xfrm>
          <a:prstGeom prst="rect">
            <a:avLst/>
          </a:prstGeom>
          <a:solidFill>
            <a:srgbClr val="3FD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62000" y="1968500"/>
            <a:ext cx="6985000" cy="177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20000"/>
              </a:lnSpc>
            </a:pPr>
            <a:r>
              <a:rPr sz="6000" b="1" i="0">
                <a:solidFill>
                  <a:srgbClr val="FFFFFF"/>
                </a:solidFill>
                <a:latin typeface="Yu Gothic UI"/>
              </a:rPr>
              <a:t>法務AI活用</a:t>
            </a:r>
          </a:p>
          <a:p>
            <a:pPr algn="l">
              <a:lnSpc>
                <a:spcPct val="120000"/>
              </a:lnSpc>
            </a:pPr>
            <a:r>
              <a:rPr sz="6000" b="1" i="0">
                <a:solidFill>
                  <a:srgbClr val="3FD0E9"/>
                </a:solidFill>
                <a:latin typeface="Yu Gothic UI"/>
              </a:rPr>
              <a:t>ロードマップ</a:t>
            </a:r>
            <a:r>
              <a:rPr sz="6000" b="1" i="0">
                <a:solidFill>
                  <a:srgbClr val="FFFFFF"/>
                </a:solidFill>
                <a:latin typeface="Yu Gothic UI"/>
              </a:rPr>
              <a:t>策定・推進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3937000"/>
            <a:ext cx="6985000" cy="889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50000"/>
              </a:lnSpc>
            </a:pPr>
            <a:r>
              <a:rPr sz="2200" b="0" i="0">
                <a:solidFill>
                  <a:srgbClr val="E8EEF5"/>
                </a:solidFill>
                <a:latin typeface="Yu Gothic UI"/>
              </a:rPr>
              <a:t>「とりあえず入れたAI」を、</a:t>
            </a:r>
            <a:r>
              <a:rPr sz="2200" b="1" i="0">
                <a:solidFill>
                  <a:srgbClr val="3FD0E9"/>
                </a:solidFill>
                <a:latin typeface="Yu Gothic UI"/>
              </a:rPr>
              <a:t>経営インパクトの出る武器</a:t>
            </a:r>
            <a:r>
              <a:rPr sz="2200" b="0" i="0">
                <a:solidFill>
                  <a:srgbClr val="E8EEF5"/>
                </a:solidFill>
                <a:latin typeface="Yu Gothic UI"/>
              </a:rPr>
              <a:t>に変える伴走型サービス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5207000"/>
            <a:ext cx="1397000" cy="355600"/>
          </a:xfrm>
          <a:prstGeom prst="rect">
            <a:avLst/>
          </a:prstGeom>
          <a:noFill/>
          <a:ln w="19050">
            <a:solidFill>
              <a:srgbClr val="3FD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2000" y="5207000"/>
            <a:ext cx="1397000" cy="355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3FD0E9"/>
                </a:solidFill>
                <a:latin typeface="Yu Gothic UI"/>
              </a:rPr>
              <a:t>PRESENTED BY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5194300"/>
            <a:ext cx="50800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Yu Gothic UI"/>
              </a:rPr>
              <a:t>リーガルアクセス株式会社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5530850"/>
            <a:ext cx="5080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chemeClr val="bg1"/>
                </a:solidFill>
                <a:latin typeface="Yu Gothic UI"/>
              </a:rPr>
              <a:t>代表取締役 弁護士　福島 駿太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04800" y="6502400"/>
            <a:ext cx="2540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1F3A"/>
                </a:solidFill>
                <a:latin typeface="Yu Gothic UI"/>
              </a:rPr>
              <a:t>Legal </a:t>
            </a:r>
            <a:r>
              <a:rPr sz="1400" b="1" i="0">
                <a:solidFill>
                  <a:srgbClr val="00B7D4"/>
                </a:solidFill>
                <a:latin typeface="Yu Gothic UI"/>
              </a:rPr>
              <a:t>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795000" y="6502400"/>
            <a:ext cx="1143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r">
              <a:lnSpc>
                <a:spcPct val="115000"/>
              </a:lnSpc>
            </a:pPr>
            <a:r>
              <a:rPr sz="1400" b="0" i="0">
                <a:solidFill>
                  <a:srgbClr val="99A8BD"/>
                </a:solidFill>
                <a:latin typeface="Yu Gothic UI"/>
              </a:rPr>
              <a:t>02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20700"/>
            <a:ext cx="381000" cy="12700"/>
          </a:xfrm>
          <a:prstGeom prst="rect">
            <a:avLst/>
          </a:prstGeom>
          <a:solidFill>
            <a:srgbClr val="3FD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66800" y="406400"/>
            <a:ext cx="5715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0B7D4"/>
                </a:solidFill>
                <a:latin typeface="Yu Gothic UI"/>
              </a:rPr>
              <a:t>ISSUE  /  法務部の現在地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685800"/>
            <a:ext cx="11112500" cy="50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20000"/>
              </a:lnSpc>
            </a:pPr>
            <a:r>
              <a:rPr sz="4400" b="1" i="0">
                <a:solidFill>
                  <a:srgbClr val="0B1F3A"/>
                </a:solidFill>
                <a:latin typeface="Yu Gothic UI"/>
              </a:rPr>
              <a:t>入れたはずのAIが、</a:t>
            </a:r>
            <a:r>
              <a:rPr sz="4400" b="1" i="0">
                <a:solidFill>
                  <a:srgbClr val="00B7D4"/>
                </a:solidFill>
                <a:latin typeface="Yu Gothic UI"/>
              </a:rPr>
              <a:t>動いていない</a:t>
            </a:r>
            <a:r>
              <a:rPr sz="4400" b="1" i="0">
                <a:solidFill>
                  <a:srgbClr val="0B1F3A"/>
                </a:solidFill>
                <a:latin typeface="Yu Gothic UI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1460500"/>
            <a:ext cx="10985500" cy="5715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27000" rtlCol="0" anchor="ctr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Yu Gothic UI"/>
              </a:rPr>
              <a:t>多くの法務部で起きていること —— </a:t>
            </a:r>
            <a:r>
              <a:rPr sz="2000" b="1" i="0">
                <a:solidFill>
                  <a:srgbClr val="3FD0E9"/>
                </a:solidFill>
                <a:latin typeface="Yu Gothic UI"/>
              </a:rPr>
              <a:t>「ツールは入った。でも、ここから先が分からない」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300" y="2286000"/>
            <a:ext cx="2159000" cy="3683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95300" y="2286000"/>
            <a:ext cx="2159000" cy="254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95300" y="2463800"/>
            <a:ext cx="2159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" y="2743200"/>
            <a:ext cx="2159000" cy="952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just">
              <a:lnSpc>
                <a:spcPct val="135000"/>
              </a:lnSpc>
            </a:pPr>
            <a:r>
              <a:rPr sz="2200" b="1" i="0">
                <a:solidFill>
                  <a:srgbClr val="0B1F3A"/>
                </a:solidFill>
                <a:latin typeface="Yu Gothic UI"/>
              </a:rPr>
              <a:t>とりあえず導入だけは済んだ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5300" y="4184650"/>
            <a:ext cx="2159000" cy="165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>
              <a:lnSpc>
                <a:spcPct val="160000"/>
              </a:lnSpc>
            </a:pPr>
            <a:r>
              <a:rPr sz="1600" b="0" i="0">
                <a:solidFill>
                  <a:srgbClr val="3D4F6B"/>
                </a:solidFill>
                <a:latin typeface="Yu Gothic UI"/>
              </a:rPr>
              <a:t>ChatGPT、Gemini、Copilot — ライセンスはある。けれど、使われていない。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55900" y="2286000"/>
            <a:ext cx="2159000" cy="3683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55900" y="2286000"/>
            <a:ext cx="2159000" cy="254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755900" y="2463800"/>
            <a:ext cx="2159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55900" y="2743200"/>
            <a:ext cx="2159000" cy="952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just">
              <a:lnSpc>
                <a:spcPct val="135000"/>
              </a:lnSpc>
            </a:pPr>
            <a:r>
              <a:rPr sz="2200" b="1" i="0">
                <a:solidFill>
                  <a:srgbClr val="0B1F3A"/>
                </a:solidFill>
                <a:latin typeface="Yu Gothic UI"/>
              </a:rPr>
              <a:t>使い方が分からない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55900" y="4184650"/>
            <a:ext cx="2159000" cy="165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>
              <a:lnSpc>
                <a:spcPct val="160000"/>
              </a:lnSpc>
            </a:pPr>
            <a:r>
              <a:rPr sz="1600" b="0" i="0">
                <a:solidFill>
                  <a:srgbClr val="3D4F6B"/>
                </a:solidFill>
                <a:latin typeface="Yu Gothic UI"/>
              </a:rPr>
              <a:t>何を聞けば、何に使えばいいのか。社内に答えを持っている人がいない。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16500" y="2286000"/>
            <a:ext cx="2159000" cy="3683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16500" y="2286000"/>
            <a:ext cx="2159000" cy="254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16500" y="2463800"/>
            <a:ext cx="2159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16500" y="2743200"/>
            <a:ext cx="2159000" cy="952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just">
              <a:lnSpc>
                <a:spcPct val="135000"/>
              </a:lnSpc>
            </a:pPr>
            <a:r>
              <a:rPr sz="2200" b="1" i="0">
                <a:solidFill>
                  <a:srgbClr val="0B1F3A"/>
                </a:solidFill>
                <a:latin typeface="Yu Gothic UI"/>
              </a:rPr>
              <a:t>法務は特殊で事例が出てこない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16500" y="4184650"/>
            <a:ext cx="2159000" cy="165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>
              <a:lnSpc>
                <a:spcPct val="160000"/>
              </a:lnSpc>
            </a:pPr>
            <a:r>
              <a:rPr sz="1600" b="0" i="0">
                <a:solidFill>
                  <a:srgbClr val="3D4F6B"/>
                </a:solidFill>
                <a:latin typeface="Yu Gothic UI"/>
              </a:rPr>
              <a:t>守秘性が高く、他社の活用事例が公にされない。横展開の手本がない。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77100" y="2286000"/>
            <a:ext cx="2159000" cy="3683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277100" y="2286000"/>
            <a:ext cx="2159000" cy="254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277100" y="2463800"/>
            <a:ext cx="2159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77100" y="2743200"/>
            <a:ext cx="2159000" cy="952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just">
              <a:lnSpc>
                <a:spcPct val="135000"/>
              </a:lnSpc>
            </a:pPr>
            <a:r>
              <a:rPr sz="2200" b="1" i="0">
                <a:solidFill>
                  <a:srgbClr val="0B1F3A"/>
                </a:solidFill>
                <a:latin typeface="Yu Gothic UI"/>
              </a:rPr>
              <a:t>効果はあるはずなのに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77100" y="4184650"/>
            <a:ext cx="2159000" cy="165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>
              <a:lnSpc>
                <a:spcPct val="160000"/>
              </a:lnSpc>
            </a:pPr>
            <a:r>
              <a:rPr sz="1600" b="0" i="0">
                <a:solidFill>
                  <a:srgbClr val="3D4F6B"/>
                </a:solidFill>
                <a:latin typeface="Yu Gothic UI"/>
              </a:rPr>
              <a:t>時間も人件費も削れるはず。でも、どの業務から手をつけるべきか決められない。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7700" y="2286000"/>
            <a:ext cx="2159000" cy="3683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537700" y="2286000"/>
            <a:ext cx="2159000" cy="254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537700" y="2463800"/>
            <a:ext cx="2159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37700" y="2743200"/>
            <a:ext cx="2159000" cy="952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just">
              <a:lnSpc>
                <a:spcPct val="135000"/>
              </a:lnSpc>
            </a:pPr>
            <a:r>
              <a:rPr sz="2200" b="1" i="0">
                <a:solidFill>
                  <a:srgbClr val="0B1F3A"/>
                </a:solidFill>
                <a:latin typeface="Yu Gothic UI"/>
              </a:rPr>
              <a:t>情報管理の線引きが見えない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37700" y="4184650"/>
            <a:ext cx="2292350" cy="165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>
              <a:lnSpc>
                <a:spcPct val="160000"/>
              </a:lnSpc>
            </a:pPr>
            <a:r>
              <a:rPr sz="1600" b="0" i="0">
                <a:solidFill>
                  <a:srgbClr val="3D4F6B"/>
                </a:solidFill>
                <a:latin typeface="Yu Gothic UI"/>
              </a:rPr>
              <a:t>どこまで入れてよいのか。秘密情報・個人情報の扱いがブラックボックス。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04800" y="6502400"/>
            <a:ext cx="2540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1F3A"/>
                </a:solidFill>
                <a:latin typeface="Yu Gothic UI"/>
              </a:rPr>
              <a:t>Legal </a:t>
            </a:r>
            <a:r>
              <a:rPr sz="1400" b="1" i="0">
                <a:solidFill>
                  <a:srgbClr val="00B7D4"/>
                </a:solidFill>
                <a:latin typeface="Yu Gothic UI"/>
              </a:rPr>
              <a:t>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795000" y="6502400"/>
            <a:ext cx="1143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r">
              <a:lnSpc>
                <a:spcPct val="115000"/>
              </a:lnSpc>
            </a:pPr>
            <a:r>
              <a:rPr sz="1400" b="0" i="0">
                <a:solidFill>
                  <a:srgbClr val="99A8BD"/>
                </a:solidFill>
                <a:latin typeface="Yu Gothic UI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20700"/>
            <a:ext cx="381000" cy="12700"/>
          </a:xfrm>
          <a:prstGeom prst="rect">
            <a:avLst/>
          </a:prstGeom>
          <a:solidFill>
            <a:srgbClr val="3FD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66800" y="406400"/>
            <a:ext cx="5715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0B7D4"/>
                </a:solidFill>
                <a:latin typeface="Yu Gothic UI"/>
              </a:rPr>
              <a:t>WHY  /  法務にAIが効く3つの理由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685800"/>
            <a:ext cx="11112500" cy="50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20000"/>
              </a:lnSpc>
            </a:pPr>
            <a:r>
              <a:rPr sz="4400" b="1" i="0">
                <a:solidFill>
                  <a:srgbClr val="0B1F3A"/>
                </a:solidFill>
                <a:latin typeface="Yu Gothic UI"/>
              </a:rPr>
              <a:t>法務こそ、AIで</a:t>
            </a:r>
            <a:r>
              <a:rPr sz="4400" b="1" i="0">
                <a:solidFill>
                  <a:srgbClr val="00B7D4"/>
                </a:solidFill>
                <a:latin typeface="Yu Gothic UI"/>
              </a:rPr>
              <a:t>大きく変わる</a:t>
            </a:r>
            <a:r>
              <a:rPr sz="4400" b="1" i="0">
                <a:solidFill>
                  <a:srgbClr val="0B1F3A"/>
                </a:solidFill>
                <a:latin typeface="Yu Gothic UI"/>
              </a:rPr>
              <a:t>領域。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58800" y="1536700"/>
            <a:ext cx="3556000" cy="3248026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58800" y="1536700"/>
            <a:ext cx="3556000" cy="381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58800" y="1765300"/>
            <a:ext cx="3556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0" rIns="203200" bIns="0" rtlCol="0" anchor="t"/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8800" y="2159000"/>
            <a:ext cx="3556000" cy="698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0" rIns="203200" bIns="0" rtlCol="0" anchor="t"/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0B1F3A"/>
                </a:solidFill>
                <a:latin typeface="Yu Gothic UI"/>
              </a:rPr>
              <a:t>時間</a:t>
            </a:r>
            <a:r>
              <a:rPr sz="2000" b="1" i="0">
                <a:solidFill>
                  <a:srgbClr val="00B7D4"/>
                </a:solidFill>
                <a:latin typeface="Yu Gothic UI"/>
              </a:rPr>
              <a:t>を、戻す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8800" y="2933700"/>
            <a:ext cx="3556000" cy="1397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0" rIns="203200" bIns="0" rtlCol="0" anchor="t"/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3D4F6B"/>
                </a:solidFill>
                <a:latin typeface="Yu Gothic UI"/>
              </a:rPr>
              <a:t>契約レビュー・リサーチ・要約 — これまで弁護士・パラリーガルが手作業で時間を吸い取られていた業務に、AIは直接効く。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8000" y="1536700"/>
            <a:ext cx="3556000" cy="3248026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18000" y="1536700"/>
            <a:ext cx="3556000" cy="381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18000" y="1765300"/>
            <a:ext cx="3556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0" rIns="203200" bIns="0" rtlCol="0" anchor="t"/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COST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8000" y="2159000"/>
            <a:ext cx="3556000" cy="698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0" rIns="203200" bIns="0" rtlCol="0" anchor="t"/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0B1F3A"/>
                </a:solidFill>
                <a:latin typeface="Yu Gothic UI"/>
              </a:rPr>
              <a:t>人件費</a:t>
            </a:r>
            <a:r>
              <a:rPr sz="2000" b="1" i="0">
                <a:solidFill>
                  <a:srgbClr val="00B7D4"/>
                </a:solidFill>
                <a:latin typeface="Yu Gothic UI"/>
              </a:rPr>
              <a:t>を、削る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7999" y="2933700"/>
            <a:ext cx="3692525" cy="1397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0" rIns="203200" bIns="0" rtlCol="0" anchor="t"/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3D4F6B"/>
                </a:solidFill>
                <a:latin typeface="Yu Gothic UI"/>
              </a:rPr>
              <a:t>外注に流していた定型業務を内製化できる。法務人員の採用難に対する、現実的な打ち手になる。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77200" y="1536700"/>
            <a:ext cx="3556000" cy="3248026"/>
          </a:xfrm>
          <a:prstGeom prst="rect">
            <a:avLst/>
          </a:prstGeom>
          <a:solidFill>
            <a:srgbClr val="FFFFFF"/>
          </a:solidFill>
          <a:ln w="19050">
            <a:solidFill>
              <a:srgbClr val="E8EE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77200" y="1536700"/>
            <a:ext cx="3556000" cy="381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77200" y="1765300"/>
            <a:ext cx="3556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0" rIns="203200" bIns="0" rtlCol="0" anchor="t"/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QUALITY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77200" y="2159000"/>
            <a:ext cx="3556000" cy="698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0" rIns="203200" bIns="0" rtlCol="0" anchor="t"/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0B1F3A"/>
                </a:solidFill>
                <a:latin typeface="Yu Gothic UI"/>
              </a:rPr>
              <a:t>品質</a:t>
            </a:r>
            <a:r>
              <a:rPr sz="2000" b="1" i="0">
                <a:solidFill>
                  <a:srgbClr val="00B7D4"/>
                </a:solidFill>
                <a:latin typeface="Yu Gothic UI"/>
              </a:rPr>
              <a:t>を、上げる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77200" y="2933700"/>
            <a:ext cx="3556000" cy="1397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0" rIns="203200" bIns="0" rtlCol="0" anchor="t"/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3D4F6B"/>
                </a:solidFill>
                <a:latin typeface="Yu Gothic UI"/>
              </a:rPr>
              <a:t>抜け漏れの検出、判例横断、過去類似案件の即時参照。「人がやるよりむしろ精度が上がる」業務が存在する。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4981576"/>
            <a:ext cx="10985500" cy="1257299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0" tIns="177800" rIns="254000" bIns="152400" rtlCol="0" anchor="t"/>
          <a:lstStyle/>
          <a:p>
            <a:pPr algn="l">
              <a:lnSpc>
                <a:spcPct val="150000"/>
              </a:lnSpc>
            </a:pPr>
            <a:r>
              <a:rPr sz="2400" b="1" i="0">
                <a:solidFill>
                  <a:srgbClr val="3FD0E9"/>
                </a:solidFill>
                <a:latin typeface="Yu Gothic UI"/>
              </a:rPr>
              <a:t>質が高く効率的な法律業務</a:t>
            </a:r>
            <a:r>
              <a:rPr sz="2400" b="1" i="0">
                <a:solidFill>
                  <a:srgbClr val="FFFFFF"/>
                </a:solidFill>
                <a:latin typeface="Yu Gothic UI"/>
              </a:rPr>
              <a:t>を叶える「生成AIとの上手な付き合い方」。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chemeClr val="bg1"/>
                </a:solidFill>
                <a:latin typeface="Yu Gothic UI"/>
              </a:rPr>
              <a:t>── 拙著『法務のための生成AI活用ガイド』（弘文堂・2025年）より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04800" y="6502400"/>
            <a:ext cx="2540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1F3A"/>
                </a:solidFill>
                <a:latin typeface="Yu Gothic UI"/>
              </a:rPr>
              <a:t>Legal </a:t>
            </a:r>
            <a:r>
              <a:rPr sz="1400" b="1" i="0">
                <a:solidFill>
                  <a:srgbClr val="00B7D4"/>
                </a:solidFill>
                <a:latin typeface="Yu Gothic UI"/>
              </a:rPr>
              <a:t>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795000" y="6502400"/>
            <a:ext cx="1143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r">
              <a:lnSpc>
                <a:spcPct val="115000"/>
              </a:lnSpc>
            </a:pPr>
            <a:r>
              <a:rPr sz="1400" b="0" i="0">
                <a:solidFill>
                  <a:srgbClr val="99A8BD"/>
                </a:solidFill>
                <a:latin typeface="Yu Gothic UI"/>
              </a:rPr>
              <a:t>04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20700"/>
            <a:ext cx="381000" cy="12700"/>
          </a:xfrm>
          <a:prstGeom prst="rect">
            <a:avLst/>
          </a:prstGeom>
          <a:solidFill>
            <a:srgbClr val="3FD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66800" y="406400"/>
            <a:ext cx="5715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0B7D4"/>
                </a:solidFill>
                <a:latin typeface="Yu Gothic UI"/>
              </a:rPr>
              <a:t>SERVICE  /  全体像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685800"/>
            <a:ext cx="11112500" cy="50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0B1F3A"/>
                </a:solidFill>
                <a:latin typeface="Yu Gothic UI"/>
              </a:rPr>
              <a:t>5つのステップで、</a:t>
            </a:r>
            <a:r>
              <a:rPr sz="4000" b="1" i="0">
                <a:solidFill>
                  <a:srgbClr val="00B7D4"/>
                </a:solidFill>
                <a:latin typeface="Yu Gothic UI"/>
              </a:rPr>
              <a:t>ロードマップから実装まで</a:t>
            </a:r>
            <a:r>
              <a:rPr sz="4000" b="1" i="0">
                <a:solidFill>
                  <a:srgbClr val="0B1F3A"/>
                </a:solidFill>
                <a:latin typeface="Yu Gothic UI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700" y="1590675"/>
            <a:ext cx="2159000" cy="32131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93700" y="1790700"/>
            <a:ext cx="2159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7D4"/>
                </a:solidFill>
                <a:latin typeface="Yu Gothic UI"/>
              </a:rPr>
              <a:t>STEP 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700" y="2095500"/>
            <a:ext cx="2159000" cy="889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0B1F3A"/>
                </a:solidFill>
                <a:latin typeface="Yu Gothic UI"/>
              </a:rPr>
              <a:t>責任者・現場へ
インタビュー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700" y="3060700"/>
            <a:ext cx="2159000" cy="1333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65000"/>
              </a:lnSpc>
            </a:pPr>
            <a:r>
              <a:rPr sz="1600" b="0" i="0">
                <a:solidFill>
                  <a:srgbClr val="3D4F6B"/>
                </a:solidFill>
                <a:latin typeface="Yu Gothic UI"/>
              </a:rPr>
              <a:t>担当部署の責任者と現場担当者、両方の声を聞く。建前と実態を切り分ける。</a:t>
            </a:r>
          </a:p>
        </p:txBody>
      </p:sp>
      <p:sp>
        <p:nvSpPr>
          <p:cNvPr id="12" name="Right Triangle 11"/>
          <p:cNvSpPr/>
          <p:nvPr/>
        </p:nvSpPr>
        <p:spPr>
          <a:xfrm>
            <a:off x="2578100" y="2997200"/>
            <a:ext cx="101600" cy="127000"/>
          </a:xfrm>
          <a:prstGeom prst="rtTriangle">
            <a:avLst/>
          </a:prstGeom>
          <a:solidFill>
            <a:srgbClr val="00B7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3" name="Rectangle 12"/>
          <p:cNvSpPr/>
          <p:nvPr/>
        </p:nvSpPr>
        <p:spPr>
          <a:xfrm>
            <a:off x="2705100" y="1590675"/>
            <a:ext cx="2159000" cy="32131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05100" y="1790700"/>
            <a:ext cx="2159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7D4"/>
                </a:solidFill>
                <a:latin typeface="Yu Gothic UI"/>
              </a:rPr>
              <a:t>STEP 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05100" y="2095500"/>
            <a:ext cx="2159000" cy="889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0B1F3A"/>
                </a:solidFill>
                <a:latin typeface="Yu Gothic UI"/>
              </a:rPr>
              <a:t>技術見通しを
策定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5100" y="3060700"/>
            <a:ext cx="2241550" cy="1333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65000"/>
              </a:lnSpc>
            </a:pPr>
            <a:r>
              <a:rPr sz="1600" b="0" i="0">
                <a:solidFill>
                  <a:srgbClr val="3D4F6B"/>
                </a:solidFill>
                <a:latin typeface="Yu Gothic UI"/>
              </a:rPr>
              <a:t>汎用AIの最新動向を踏まえ、「今できること」と「これからできること」を定義。</a:t>
            </a:r>
          </a:p>
        </p:txBody>
      </p:sp>
      <p:sp>
        <p:nvSpPr>
          <p:cNvPr id="17" name="Right Triangle 16"/>
          <p:cNvSpPr/>
          <p:nvPr/>
        </p:nvSpPr>
        <p:spPr>
          <a:xfrm>
            <a:off x="4889500" y="2997200"/>
            <a:ext cx="101600" cy="127000"/>
          </a:xfrm>
          <a:prstGeom prst="rtTriangle">
            <a:avLst/>
          </a:prstGeom>
          <a:solidFill>
            <a:srgbClr val="00B7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Rectangle 17"/>
          <p:cNvSpPr/>
          <p:nvPr/>
        </p:nvSpPr>
        <p:spPr>
          <a:xfrm>
            <a:off x="5016500" y="1590675"/>
            <a:ext cx="2159000" cy="32131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16500" y="1790700"/>
            <a:ext cx="2159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7D4"/>
                </a:solidFill>
                <a:latin typeface="Yu Gothic UI"/>
              </a:rPr>
              <a:t>STEP 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6500" y="2095500"/>
            <a:ext cx="2159000" cy="889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0B1F3A"/>
                </a:solidFill>
                <a:latin typeface="Yu Gothic UI"/>
              </a:rPr>
              <a:t>業務×AIで
ユースケース選出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16500" y="3060700"/>
            <a:ext cx="2159000" cy="1333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65000"/>
              </a:lnSpc>
            </a:pPr>
            <a:r>
              <a:rPr sz="1600" b="0" i="0">
                <a:solidFill>
                  <a:srgbClr val="3D4F6B"/>
                </a:solidFill>
                <a:latin typeface="Yu Gothic UI"/>
              </a:rPr>
              <a:t>業務領域ごとに「AIに任せられる仕事」を具体名で洗い出す。</a:t>
            </a:r>
          </a:p>
        </p:txBody>
      </p:sp>
      <p:sp>
        <p:nvSpPr>
          <p:cNvPr id="22" name="Right Triangle 21"/>
          <p:cNvSpPr/>
          <p:nvPr/>
        </p:nvSpPr>
        <p:spPr>
          <a:xfrm>
            <a:off x="7200900" y="2997200"/>
            <a:ext cx="101600" cy="127000"/>
          </a:xfrm>
          <a:prstGeom prst="rtTriangle">
            <a:avLst/>
          </a:prstGeom>
          <a:solidFill>
            <a:srgbClr val="00B7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3" name="Rectangle 22"/>
          <p:cNvSpPr/>
          <p:nvPr/>
        </p:nvSpPr>
        <p:spPr>
          <a:xfrm>
            <a:off x="7327900" y="1590675"/>
            <a:ext cx="2159000" cy="32131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327900" y="1790700"/>
            <a:ext cx="2159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7D4"/>
                </a:solidFill>
                <a:latin typeface="Yu Gothic UI"/>
              </a:rPr>
              <a:t>STEP 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7900" y="2095500"/>
            <a:ext cx="2159000" cy="889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0B1F3A"/>
                </a:solidFill>
                <a:latin typeface="Yu Gothic UI"/>
              </a:rPr>
              <a:t>経営インパクトで
評価・優先順位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27900" y="3060700"/>
            <a:ext cx="2159000" cy="1333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65000"/>
              </a:lnSpc>
            </a:pPr>
            <a:r>
              <a:rPr sz="1600" b="0" i="0">
                <a:solidFill>
                  <a:srgbClr val="3D4F6B"/>
                </a:solidFill>
                <a:latin typeface="Yu Gothic UI"/>
              </a:rPr>
              <a:t>時間削減・コスト削減・品質向上の3軸で各ユースケースをスコア化。</a:t>
            </a:r>
          </a:p>
        </p:txBody>
      </p:sp>
      <p:sp>
        <p:nvSpPr>
          <p:cNvPr id="27" name="Right Triangle 26"/>
          <p:cNvSpPr/>
          <p:nvPr/>
        </p:nvSpPr>
        <p:spPr>
          <a:xfrm>
            <a:off x="9512300" y="2997200"/>
            <a:ext cx="101600" cy="127000"/>
          </a:xfrm>
          <a:prstGeom prst="rtTriangle">
            <a:avLst/>
          </a:prstGeom>
          <a:solidFill>
            <a:srgbClr val="00B7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8" name="Rectangle 27"/>
          <p:cNvSpPr/>
          <p:nvPr/>
        </p:nvSpPr>
        <p:spPr>
          <a:xfrm>
            <a:off x="9639300" y="1590675"/>
            <a:ext cx="2159000" cy="32131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7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639300" y="1790700"/>
            <a:ext cx="2159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7D4"/>
                </a:solidFill>
                <a:latin typeface="Yu Gothic UI"/>
              </a:rPr>
              <a:t>STEP 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39300" y="2095500"/>
            <a:ext cx="2159000" cy="889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0B1F3A"/>
                </a:solidFill>
                <a:latin typeface="Yu Gothic UI"/>
              </a:rPr>
              <a:t>ロードマップと実行計画に落とす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39300" y="3060700"/>
            <a:ext cx="2228850" cy="1333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65000"/>
              </a:lnSpc>
            </a:pPr>
            <a:r>
              <a:rPr sz="1600" b="0" i="0">
                <a:solidFill>
                  <a:srgbClr val="3D4F6B"/>
                </a:solidFill>
                <a:latin typeface="Yu Gothic UI"/>
              </a:rPr>
              <a:t>短期で着手する案件、中長期で仕込む案件に振り分け、推進まで伴走。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5067300"/>
            <a:ext cx="10985500" cy="11049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0" tIns="127000" rIns="254000" bIns="127000" rtlCol="0" anchor="ctr"/>
          <a:lstStyle/>
          <a:p>
            <a:pPr algn="l">
              <a:lnSpc>
                <a:spcPct val="160000"/>
              </a:lnSpc>
            </a:pPr>
            <a:r>
              <a:rPr sz="2000" b="1" i="0">
                <a:solidFill>
                  <a:srgbClr val="3FD0E9"/>
                </a:solidFill>
                <a:latin typeface="Yu Gothic UI"/>
              </a:rPr>
              <a:t>POINT　　</a:t>
            </a:r>
            <a:r>
              <a:rPr sz="2000" b="0" i="0">
                <a:solidFill>
                  <a:srgbClr val="FFFFFF"/>
                </a:solidFill>
                <a:latin typeface="Yu Gothic UI"/>
              </a:rPr>
              <a:t>作って終わりではなく、</a:t>
            </a:r>
            <a:r>
              <a:rPr sz="2000" b="1" i="0">
                <a:solidFill>
                  <a:srgbClr val="3FD0E9"/>
                </a:solidFill>
                <a:latin typeface="Yu Gothic UI"/>
              </a:rPr>
              <a:t>至近のユースケースを実際に立ち上げるところまで一緒に走る</a:t>
            </a:r>
            <a:r>
              <a:rPr sz="2000" b="0" i="0">
                <a:solidFill>
                  <a:srgbClr val="FFFFFF"/>
                </a:solidFill>
                <a:latin typeface="Yu Gothic UI"/>
              </a:rPr>
              <a:t>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04800" y="6502400"/>
            <a:ext cx="2540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1F3A"/>
                </a:solidFill>
                <a:latin typeface="Yu Gothic UI"/>
              </a:rPr>
              <a:t>Legal </a:t>
            </a:r>
            <a:r>
              <a:rPr sz="1400" b="1" i="0">
                <a:solidFill>
                  <a:srgbClr val="00B7D4"/>
                </a:solidFill>
                <a:latin typeface="Yu Gothic UI"/>
              </a:rPr>
              <a:t>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795000" y="6502400"/>
            <a:ext cx="1143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r">
              <a:lnSpc>
                <a:spcPct val="115000"/>
              </a:lnSpc>
            </a:pPr>
            <a:r>
              <a:rPr sz="1400" b="0" i="0">
                <a:solidFill>
                  <a:srgbClr val="99A8BD"/>
                </a:solidFill>
                <a:latin typeface="Yu Gothic UI"/>
              </a:rPr>
              <a:t>05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20700"/>
            <a:ext cx="381000" cy="12700"/>
          </a:xfrm>
          <a:prstGeom prst="rect">
            <a:avLst/>
          </a:prstGeom>
          <a:solidFill>
            <a:srgbClr val="3FD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66800" y="406400"/>
            <a:ext cx="5715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0B7D4"/>
                </a:solidFill>
                <a:latin typeface="Yu Gothic UI"/>
              </a:rPr>
              <a:t>PROFILE  /  代表者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685800"/>
            <a:ext cx="11112500" cy="50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0B1F3A"/>
                </a:solidFill>
                <a:latin typeface="Yu Gothic UI"/>
              </a:rPr>
              <a:t>弁護士 × 国際法務 × AI実務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1555750"/>
            <a:ext cx="3038475" cy="4572000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9" name="Picture 8" descr="20230901_IMG_1609_Shunta Fukushima_Full Portra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55750"/>
            <a:ext cx="3038475" cy="4572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09600" y="5492750"/>
            <a:ext cx="3038475" cy="7747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9600" y="5492750"/>
            <a:ext cx="3302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88900" rIns="203200" bIns="0" rtlCol="0" anchor="t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FD0E9"/>
                </a:solidFill>
                <a:latin typeface="Yu Gothic UI"/>
              </a:rPr>
              <a:t>代表取締役 弁護士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5762625"/>
            <a:ext cx="33020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0" rIns="203200" bIns="0" rtlCol="0" anchor="t"/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Yu Gothic UI"/>
              </a:rPr>
              <a:t>福島 駿太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16400" y="1565275"/>
            <a:ext cx="72644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0B7D4"/>
                </a:solidFill>
                <a:latin typeface="Yu Gothic UI"/>
              </a:rPr>
              <a:t>CAREER ── 経歴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8000" y="2120900"/>
            <a:ext cx="19050" cy="4191000"/>
          </a:xfrm>
          <a:prstGeom prst="rect">
            <a:avLst/>
          </a:prstGeom>
          <a:solidFill>
            <a:srgbClr val="3FD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Oval 14"/>
          <p:cNvSpPr/>
          <p:nvPr/>
        </p:nvSpPr>
        <p:spPr>
          <a:xfrm>
            <a:off x="4279900" y="2273300"/>
            <a:ext cx="76200" cy="76200"/>
          </a:xfrm>
          <a:prstGeom prst="ellipse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Rectangle 15"/>
          <p:cNvSpPr/>
          <p:nvPr/>
        </p:nvSpPr>
        <p:spPr>
          <a:xfrm>
            <a:off x="4495800" y="2146300"/>
            <a:ext cx="1270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b="1" i="0">
                <a:solidFill>
                  <a:srgbClr val="00B7D4"/>
                </a:solidFill>
                <a:latin typeface="Yu Gothic UI"/>
              </a:rPr>
              <a:t>2013年 3月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5800" y="2146300"/>
            <a:ext cx="5715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40000"/>
              </a:lnSpc>
            </a:pPr>
            <a:r>
              <a:rPr b="0" i="0">
                <a:solidFill>
                  <a:srgbClr val="0B1F3A"/>
                </a:solidFill>
                <a:latin typeface="Yu Gothic UI"/>
              </a:rPr>
              <a:t>中央大学法学部 </a:t>
            </a:r>
            <a:r>
              <a:rPr b="1" i="0">
                <a:solidFill>
                  <a:srgbClr val="0B1F3A"/>
                </a:solidFill>
                <a:latin typeface="Yu Gothic UI"/>
              </a:rPr>
              <a:t>卒業</a:t>
            </a:r>
          </a:p>
        </p:txBody>
      </p:sp>
      <p:sp>
        <p:nvSpPr>
          <p:cNvPr id="18" name="Oval 17"/>
          <p:cNvSpPr/>
          <p:nvPr/>
        </p:nvSpPr>
        <p:spPr>
          <a:xfrm>
            <a:off x="4279900" y="2717800"/>
            <a:ext cx="76200" cy="76200"/>
          </a:xfrm>
          <a:prstGeom prst="ellipse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" name="Rectangle 18"/>
          <p:cNvSpPr/>
          <p:nvPr/>
        </p:nvSpPr>
        <p:spPr>
          <a:xfrm>
            <a:off x="4495800" y="2590800"/>
            <a:ext cx="1270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b="1" i="0">
                <a:solidFill>
                  <a:srgbClr val="00B7D4"/>
                </a:solidFill>
                <a:latin typeface="Yu Gothic UI"/>
              </a:rPr>
              <a:t>2014年12月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5800" y="2590800"/>
            <a:ext cx="5715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40000"/>
              </a:lnSpc>
            </a:pPr>
            <a:r>
              <a:rPr b="1" i="0">
                <a:solidFill>
                  <a:srgbClr val="0B1F3A"/>
                </a:solidFill>
                <a:latin typeface="Yu Gothic UI"/>
              </a:rPr>
              <a:t>弁護士登録</a:t>
            </a:r>
            <a:r>
              <a:rPr b="0" i="0">
                <a:solidFill>
                  <a:srgbClr val="0B1F3A"/>
                </a:solidFill>
                <a:latin typeface="Yu Gothic UI"/>
              </a:rPr>
              <a:t>（第一東京弁護士会）</a:t>
            </a:r>
          </a:p>
        </p:txBody>
      </p:sp>
      <p:sp>
        <p:nvSpPr>
          <p:cNvPr id="21" name="Oval 20"/>
          <p:cNvSpPr/>
          <p:nvPr/>
        </p:nvSpPr>
        <p:spPr>
          <a:xfrm>
            <a:off x="4279900" y="3162300"/>
            <a:ext cx="76200" cy="76200"/>
          </a:xfrm>
          <a:prstGeom prst="ellipse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2" name="Rectangle 21"/>
          <p:cNvSpPr/>
          <p:nvPr/>
        </p:nvSpPr>
        <p:spPr>
          <a:xfrm>
            <a:off x="4495800" y="3035300"/>
            <a:ext cx="1270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b="1" i="0">
                <a:solidFill>
                  <a:srgbClr val="00B7D4"/>
                </a:solidFill>
                <a:latin typeface="Yu Gothic UI"/>
              </a:rPr>
              <a:t>2014年頃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5800" y="3035300"/>
            <a:ext cx="5715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40000"/>
              </a:lnSpc>
            </a:pPr>
            <a:r>
              <a:rPr b="0" i="0">
                <a:solidFill>
                  <a:srgbClr val="0B1F3A"/>
                </a:solidFill>
                <a:latin typeface="Yu Gothic UI"/>
              </a:rPr>
              <a:t>朝日中央綜合法律事務所 勤務</a:t>
            </a:r>
          </a:p>
        </p:txBody>
      </p:sp>
      <p:sp>
        <p:nvSpPr>
          <p:cNvPr id="24" name="Oval 23"/>
          <p:cNvSpPr/>
          <p:nvPr/>
        </p:nvSpPr>
        <p:spPr>
          <a:xfrm>
            <a:off x="4279900" y="3606800"/>
            <a:ext cx="76200" cy="76200"/>
          </a:xfrm>
          <a:prstGeom prst="ellipse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5" name="Rectangle 24"/>
          <p:cNvSpPr/>
          <p:nvPr/>
        </p:nvSpPr>
        <p:spPr>
          <a:xfrm>
            <a:off x="4495800" y="3479800"/>
            <a:ext cx="1270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b="1" i="0">
                <a:solidFill>
                  <a:srgbClr val="00B7D4"/>
                </a:solidFill>
                <a:latin typeface="Yu Gothic UI"/>
              </a:rPr>
              <a:t>2017年 8月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65800" y="3479800"/>
            <a:ext cx="5715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40000"/>
              </a:lnSpc>
            </a:pPr>
            <a:r>
              <a:rPr b="0" i="0">
                <a:solidFill>
                  <a:srgbClr val="0B1F3A"/>
                </a:solidFill>
                <a:latin typeface="Yu Gothic UI"/>
              </a:rPr>
              <a:t>柴田・鈴木・中田法律事務所 勤務</a:t>
            </a:r>
          </a:p>
        </p:txBody>
      </p:sp>
      <p:sp>
        <p:nvSpPr>
          <p:cNvPr id="27" name="Oval 26"/>
          <p:cNvSpPr/>
          <p:nvPr/>
        </p:nvSpPr>
        <p:spPr>
          <a:xfrm>
            <a:off x="4279900" y="4051300"/>
            <a:ext cx="76200" cy="76200"/>
          </a:xfrm>
          <a:prstGeom prst="ellipse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8" name="Rectangle 27"/>
          <p:cNvSpPr/>
          <p:nvPr/>
        </p:nvSpPr>
        <p:spPr>
          <a:xfrm>
            <a:off x="4495800" y="3924300"/>
            <a:ext cx="1270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b="1" i="0">
                <a:solidFill>
                  <a:srgbClr val="00B7D4"/>
                </a:solidFill>
                <a:latin typeface="Yu Gothic UI"/>
              </a:rPr>
              <a:t>2018年10月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65800" y="3924300"/>
            <a:ext cx="5715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40000"/>
              </a:lnSpc>
            </a:pPr>
            <a:r>
              <a:rPr b="1" i="0">
                <a:solidFill>
                  <a:srgbClr val="0B1F3A"/>
                </a:solidFill>
                <a:latin typeface="Yu Gothic UI"/>
              </a:rPr>
              <a:t>アンダーソン・毛利・友常法律事務所</a:t>
            </a:r>
            <a:r>
              <a:rPr b="0" i="0">
                <a:solidFill>
                  <a:srgbClr val="0B1F3A"/>
                </a:solidFill>
                <a:latin typeface="Yu Gothic UI"/>
              </a:rPr>
              <a:t> 勤務</a:t>
            </a:r>
          </a:p>
        </p:txBody>
      </p:sp>
      <p:sp>
        <p:nvSpPr>
          <p:cNvPr id="30" name="Oval 29"/>
          <p:cNvSpPr/>
          <p:nvPr/>
        </p:nvSpPr>
        <p:spPr>
          <a:xfrm>
            <a:off x="4279900" y="4495800"/>
            <a:ext cx="76200" cy="76200"/>
          </a:xfrm>
          <a:prstGeom prst="ellipse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1" name="Rectangle 30"/>
          <p:cNvSpPr/>
          <p:nvPr/>
        </p:nvSpPr>
        <p:spPr>
          <a:xfrm>
            <a:off x="4495800" y="4368800"/>
            <a:ext cx="1270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b="1" i="0">
                <a:solidFill>
                  <a:srgbClr val="00B7D4"/>
                </a:solidFill>
                <a:latin typeface="Yu Gothic UI"/>
              </a:rPr>
              <a:t>2023年 5月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65800" y="4368800"/>
            <a:ext cx="5715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40000"/>
              </a:lnSpc>
            </a:pPr>
            <a:r>
              <a:rPr b="1" i="0">
                <a:solidFill>
                  <a:srgbClr val="0B1F3A"/>
                </a:solidFill>
                <a:latin typeface="Yu Gothic UI"/>
              </a:rPr>
              <a:t>コーネル大学ロースクール</a:t>
            </a:r>
            <a:r>
              <a:rPr b="0" i="0">
                <a:solidFill>
                  <a:srgbClr val="0B1F3A"/>
                </a:solidFill>
                <a:latin typeface="Yu Gothic UI"/>
              </a:rPr>
              <a:t>修了（法学修士）</a:t>
            </a:r>
          </a:p>
        </p:txBody>
      </p:sp>
      <p:sp>
        <p:nvSpPr>
          <p:cNvPr id="33" name="Oval 32"/>
          <p:cNvSpPr/>
          <p:nvPr/>
        </p:nvSpPr>
        <p:spPr>
          <a:xfrm>
            <a:off x="4279900" y="4940300"/>
            <a:ext cx="76200" cy="76200"/>
          </a:xfrm>
          <a:prstGeom prst="ellipse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4" name="Rectangle 33"/>
          <p:cNvSpPr/>
          <p:nvPr/>
        </p:nvSpPr>
        <p:spPr>
          <a:xfrm>
            <a:off x="4495800" y="4813300"/>
            <a:ext cx="1270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b="1" i="0">
                <a:solidFill>
                  <a:srgbClr val="00B7D4"/>
                </a:solidFill>
                <a:latin typeface="Yu Gothic UI"/>
              </a:rPr>
              <a:t>2023年 9月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65800" y="4813300"/>
            <a:ext cx="5715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40000"/>
              </a:lnSpc>
            </a:pPr>
            <a:r>
              <a:rPr b="0" i="0">
                <a:solidFill>
                  <a:srgbClr val="0B1F3A"/>
                </a:solidFill>
                <a:latin typeface="Yu Gothic UI"/>
              </a:rPr>
              <a:t>Walkers（Hong Kong）にて海外研修</a:t>
            </a:r>
          </a:p>
        </p:txBody>
      </p:sp>
      <p:sp>
        <p:nvSpPr>
          <p:cNvPr id="36" name="Oval 35"/>
          <p:cNvSpPr/>
          <p:nvPr/>
        </p:nvSpPr>
        <p:spPr>
          <a:xfrm>
            <a:off x="4279900" y="5384800"/>
            <a:ext cx="76200" cy="76200"/>
          </a:xfrm>
          <a:prstGeom prst="ellipse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7" name="Rectangle 36"/>
          <p:cNvSpPr/>
          <p:nvPr/>
        </p:nvSpPr>
        <p:spPr>
          <a:xfrm>
            <a:off x="4495800" y="5257800"/>
            <a:ext cx="1270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b="1" i="0">
                <a:solidFill>
                  <a:srgbClr val="00B7D4"/>
                </a:solidFill>
                <a:latin typeface="Yu Gothic UI"/>
              </a:rPr>
              <a:t>2024年 9月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5800" y="5257800"/>
            <a:ext cx="5715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40000"/>
              </a:lnSpc>
            </a:pPr>
            <a:r>
              <a:rPr b="0" i="0">
                <a:solidFill>
                  <a:srgbClr val="0B1F3A"/>
                </a:solidFill>
                <a:latin typeface="Yu Gothic UI"/>
              </a:rPr>
              <a:t>アンダーソン・毛利・友常法律事務所 復帰</a:t>
            </a:r>
          </a:p>
        </p:txBody>
      </p:sp>
      <p:sp>
        <p:nvSpPr>
          <p:cNvPr id="39" name="Oval 38"/>
          <p:cNvSpPr/>
          <p:nvPr/>
        </p:nvSpPr>
        <p:spPr>
          <a:xfrm>
            <a:off x="4279900" y="5829300"/>
            <a:ext cx="76200" cy="76200"/>
          </a:xfrm>
          <a:prstGeom prst="ellipse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0" name="Rectangle 39"/>
          <p:cNvSpPr/>
          <p:nvPr/>
        </p:nvSpPr>
        <p:spPr>
          <a:xfrm>
            <a:off x="4495800" y="5702300"/>
            <a:ext cx="1270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b="1" i="0">
                <a:solidFill>
                  <a:srgbClr val="00B7D4"/>
                </a:solidFill>
                <a:latin typeface="Yu Gothic UI"/>
              </a:rPr>
              <a:t>2025年 1月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65800" y="5702300"/>
            <a:ext cx="5715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40000"/>
              </a:lnSpc>
            </a:pPr>
            <a:r>
              <a:rPr b="1" i="0">
                <a:solidFill>
                  <a:srgbClr val="0B1F3A"/>
                </a:solidFill>
                <a:latin typeface="Yu Gothic UI"/>
              </a:rPr>
              <a:t>リーガルアクセス株式会社 創業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04800" y="6502400"/>
            <a:ext cx="2540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1F3A"/>
                </a:solidFill>
                <a:latin typeface="Yu Gothic UI"/>
              </a:rPr>
              <a:t>Legal </a:t>
            </a:r>
            <a:r>
              <a:rPr sz="1400" b="1" i="0">
                <a:solidFill>
                  <a:srgbClr val="00B7D4"/>
                </a:solidFill>
                <a:latin typeface="Yu Gothic UI"/>
              </a:rPr>
              <a:t>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795000" y="6502400"/>
            <a:ext cx="1143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r">
              <a:lnSpc>
                <a:spcPct val="115000"/>
              </a:lnSpc>
            </a:pPr>
            <a:r>
              <a:rPr sz="1400" b="0" i="0">
                <a:solidFill>
                  <a:srgbClr val="99A8BD"/>
                </a:solidFill>
                <a:latin typeface="Yu Gothic UI"/>
              </a:rPr>
              <a:t>06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20700"/>
            <a:ext cx="381000" cy="12700"/>
          </a:xfrm>
          <a:prstGeom prst="rect">
            <a:avLst/>
          </a:prstGeom>
          <a:solidFill>
            <a:srgbClr val="3FD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66800" y="406400"/>
            <a:ext cx="5715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0B7D4"/>
                </a:solidFill>
                <a:latin typeface="Yu Gothic UI"/>
              </a:rPr>
              <a:t>PUBLICATION  /  著書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685800"/>
            <a:ext cx="11112500" cy="76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0B1F3A"/>
                </a:solidFill>
                <a:latin typeface="Yu Gothic UI"/>
              </a:rPr>
              <a:t>弘文堂より刊行、</a:t>
            </a:r>
            <a:r>
              <a:rPr lang="en-US" sz="4000" b="1" i="0">
                <a:solidFill>
                  <a:srgbClr val="00B7D4"/>
                </a:solidFill>
                <a:latin typeface="Yu Gothic UI"/>
              </a:rPr>
              <a:t>No.1</a:t>
            </a:r>
            <a:r>
              <a:rPr lang="ja-JP" altLang="en-US" sz="4000" b="1" i="0">
                <a:solidFill>
                  <a:srgbClr val="00B7D4"/>
                </a:solidFill>
                <a:latin typeface="Yu Gothic UI"/>
              </a:rPr>
              <a:t>獲得</a:t>
            </a:r>
            <a:r>
              <a:rPr sz="4000" b="1" i="0">
                <a:solidFill>
                  <a:srgbClr val="0B1F3A"/>
                </a:solidFill>
                <a:latin typeface="Yu Gothic UI"/>
              </a:rPr>
              <a:t>。</a:t>
            </a:r>
          </a:p>
        </p:txBody>
      </p:sp>
      <p:pic>
        <p:nvPicPr>
          <p:cNvPr id="8" name="Picture 7" descr="表紙（法務のための生成AI活用ガイド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524000"/>
            <a:ext cx="2667000" cy="3556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47700" y="5207000"/>
            <a:ext cx="2895600" cy="11303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ctr">
              <a:lnSpc>
                <a:spcPct val="150000"/>
              </a:lnSpc>
            </a:pPr>
            <a:r>
              <a:rPr sz="1600" b="1" i="0">
                <a:solidFill>
                  <a:srgbClr val="0B1F3A"/>
                </a:solidFill>
                <a:latin typeface="Yu Gothic UI"/>
              </a:rPr>
              <a:t>『法務のための生成AI活用ガイド』</a:t>
            </a:r>
          </a:p>
          <a:p>
            <a:pPr algn="ctr">
              <a:lnSpc>
                <a:spcPct val="150000"/>
              </a:lnSpc>
            </a:pPr>
            <a:r>
              <a:rPr sz="1400" b="0" i="0">
                <a:solidFill>
                  <a:srgbClr val="3D4F6B"/>
                </a:solidFill>
                <a:latin typeface="Yu Gothic UI"/>
              </a:rPr>
              <a:t>弁護士 福島駿太 著</a:t>
            </a:r>
            <a:endParaRPr lang="en-US" sz="1400" b="0" i="0">
              <a:solidFill>
                <a:srgbClr val="3D4F6B"/>
              </a:solidFill>
              <a:latin typeface="Yu Gothic UI"/>
            </a:endParaRPr>
          </a:p>
          <a:p>
            <a:pPr algn="ctr">
              <a:lnSpc>
                <a:spcPct val="150000"/>
              </a:lnSpc>
            </a:pPr>
            <a:r>
              <a:rPr sz="1400" b="0" i="0">
                <a:solidFill>
                  <a:srgbClr val="3D4F6B"/>
                </a:solidFill>
                <a:latin typeface="Yu Gothic UI"/>
              </a:rPr>
              <a:t>弘文堂・2025年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24300" y="1730375"/>
            <a:ext cx="7620000" cy="144145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52400" rIns="203200" bIns="152400" rtlCol="0" anchor="t"/>
          <a:lstStyle/>
          <a:p>
            <a:pPr algn="l">
              <a:lnSpc>
                <a:spcPct val="150000"/>
              </a:lnSpc>
            </a:pPr>
            <a:r>
              <a:rPr sz="2400" b="1" i="0">
                <a:solidFill>
                  <a:srgbClr val="3FD0E9"/>
                </a:solidFill>
                <a:latin typeface="Yu Gothic UI"/>
              </a:rPr>
              <a:t>質が高く効率的な</a:t>
            </a:r>
            <a:r>
              <a:rPr sz="2400" b="1" i="0">
                <a:solidFill>
                  <a:srgbClr val="FFFFFF"/>
                </a:solidFill>
                <a:latin typeface="Yu Gothic UI"/>
              </a:rPr>
              <a:t>法律業務を叶える</a:t>
            </a:r>
          </a:p>
          <a:p>
            <a:pPr algn="l">
              <a:lnSpc>
                <a:spcPct val="150000"/>
              </a:lnSpc>
            </a:pPr>
            <a:r>
              <a:rPr sz="2400" b="1" i="0">
                <a:solidFill>
                  <a:srgbClr val="FFFFFF"/>
                </a:solidFill>
                <a:latin typeface="Yu Gothic UI"/>
              </a:rPr>
              <a:t>「生成AIとの上手な付き合い方」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24300" y="3340100"/>
            <a:ext cx="76200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50000"/>
              </a:lnSpc>
            </a:pPr>
            <a:r>
              <a:rPr b="1" i="0">
                <a:solidFill>
                  <a:srgbClr val="0B1F3A"/>
                </a:solidFill>
                <a:latin typeface="Yu Gothic UI"/>
              </a:rPr>
              <a:t>法務部・法律事務所・パラリーガルが、今すぐ実務に取り入れられる実践的な1冊。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24300" y="3716337"/>
            <a:ext cx="76200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B1F3A"/>
                </a:solidFill>
                <a:latin typeface="Yu Gothic UI"/>
              </a:rPr>
              <a:t>契約レビュー、リサーチ、ドラフティング、リスク管理まで具体的なプロンプト例で解説。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7000" y="4343400"/>
            <a:ext cx="2413000" cy="18415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937000" y="4343400"/>
            <a:ext cx="2413000" cy="254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937000" y="4521200"/>
            <a:ext cx="2413000" cy="50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B7D4"/>
                </a:solidFill>
                <a:latin typeface="Yu Gothic UI"/>
              </a:rPr>
              <a:t>No.1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7000" y="5168900"/>
            <a:ext cx="2413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40000"/>
              </a:lnSpc>
            </a:pPr>
            <a:r>
              <a:rPr sz="1700" b="1" i="0">
                <a:solidFill>
                  <a:srgbClr val="0B1F3A"/>
                </a:solidFill>
                <a:latin typeface="Yu Gothic UI"/>
              </a:rPr>
              <a:t>Amazonベストセラー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7000" y="5486400"/>
            <a:ext cx="2413000" cy="50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D4F6B"/>
                </a:solidFill>
                <a:latin typeface="Yu Gothic UI"/>
              </a:rPr>
              <a:t>該当カテゴリで1位を獲得。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40500" y="4343400"/>
            <a:ext cx="2413000" cy="18415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540500" y="4343400"/>
            <a:ext cx="2413000" cy="254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40500" y="4521200"/>
            <a:ext cx="2413000" cy="50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B7D4"/>
                </a:solidFill>
                <a:latin typeface="Yu Gothic UI"/>
              </a:rPr>
              <a:t>No.1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40500" y="5168900"/>
            <a:ext cx="2413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40000"/>
              </a:lnSpc>
            </a:pPr>
            <a:r>
              <a:rPr sz="1700" b="1" i="0">
                <a:solidFill>
                  <a:srgbClr val="0B1F3A"/>
                </a:solidFill>
                <a:latin typeface="Yu Gothic UI"/>
              </a:rPr>
              <a:t>弁護士会ブックセンター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40500" y="5486400"/>
            <a:ext cx="2413000" cy="50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D4F6B"/>
                </a:solidFill>
                <a:latin typeface="Yu Gothic UI"/>
              </a:rPr>
              <a:t>実務家コミュニティで首位。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4343400"/>
            <a:ext cx="2413000" cy="18415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144000" y="4343400"/>
            <a:ext cx="2413000" cy="254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144000" y="4521200"/>
            <a:ext cx="2413000" cy="50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00B7D4"/>
                </a:solidFill>
                <a:latin typeface="Yu Gothic UI"/>
              </a:rPr>
              <a:t>5,000</a:t>
            </a:r>
            <a:r>
              <a:rPr sz="1600" b="1" i="0">
                <a:solidFill>
                  <a:srgbClr val="0B1F3A"/>
                </a:solidFill>
                <a:latin typeface="Yu Gothic UI"/>
              </a:rPr>
              <a:t>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5168900"/>
            <a:ext cx="2413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40000"/>
              </a:lnSpc>
            </a:pPr>
            <a:r>
              <a:rPr sz="1700" b="1" i="0">
                <a:solidFill>
                  <a:srgbClr val="0B1F3A"/>
                </a:solidFill>
                <a:latin typeface="Yu Gothic UI"/>
              </a:rPr>
              <a:t>累計発行部数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5486400"/>
            <a:ext cx="2413000" cy="50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0" rIns="152400" bIns="0" rtlCol="0" anchor="t"/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D4F6B"/>
                </a:solidFill>
                <a:latin typeface="Yu Gothic UI"/>
              </a:rPr>
              <a:t>増刷を重ね、現在も伸長中。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04800" y="6502400"/>
            <a:ext cx="2540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1F3A"/>
                </a:solidFill>
                <a:latin typeface="Yu Gothic UI"/>
              </a:rPr>
              <a:t>Legal </a:t>
            </a:r>
            <a:r>
              <a:rPr sz="1400" b="1" i="0">
                <a:solidFill>
                  <a:srgbClr val="00B7D4"/>
                </a:solidFill>
                <a:latin typeface="Yu Gothic UI"/>
              </a:rPr>
              <a:t>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795000" y="6502400"/>
            <a:ext cx="1143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r">
              <a:lnSpc>
                <a:spcPct val="115000"/>
              </a:lnSpc>
            </a:pPr>
            <a:r>
              <a:rPr sz="1400" b="0" i="0">
                <a:solidFill>
                  <a:srgbClr val="99A8BD"/>
                </a:solidFill>
                <a:latin typeface="Yu Gothic UI"/>
              </a:rPr>
              <a:t>07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20700"/>
            <a:ext cx="381000" cy="12700"/>
          </a:xfrm>
          <a:prstGeom prst="rect">
            <a:avLst/>
          </a:prstGeom>
          <a:solidFill>
            <a:srgbClr val="3FD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66800" y="406400"/>
            <a:ext cx="5715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0B7D4"/>
                </a:solidFill>
                <a:latin typeface="Yu Gothic UI"/>
              </a:rPr>
              <a:t>SEMINARS  /  講演・登壇実績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685800"/>
            <a:ext cx="11112500" cy="50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0B1F3A"/>
                </a:solidFill>
                <a:latin typeface="Yu Gothic UI"/>
              </a:rPr>
              <a:t>弁護士会・士業団体・企業 ── </a:t>
            </a:r>
            <a:r>
              <a:rPr sz="4000" b="1" i="0">
                <a:solidFill>
                  <a:srgbClr val="00B7D4"/>
                </a:solidFill>
                <a:latin typeface="Yu Gothic UI"/>
              </a:rPr>
              <a:t>登壇多数</a:t>
            </a:r>
            <a:r>
              <a:rPr sz="4000" b="1" i="0">
                <a:solidFill>
                  <a:srgbClr val="0B1F3A"/>
                </a:solidFill>
                <a:latin typeface="Yu Gothic UI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1536700"/>
            <a:ext cx="5397500" cy="10541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E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9600" y="1536700"/>
            <a:ext cx="38100" cy="10541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23900" y="1536700"/>
            <a:ext cx="889000" cy="1054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0B7D4"/>
                </a:solidFill>
                <a:latin typeface="Yu Gothic UI"/>
              </a:rPr>
              <a:t>3/19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D4F6B"/>
                </a:solidFill>
                <a:latin typeface="Yu Gothic UI"/>
              </a:rPr>
              <a:t>（水）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89100" y="1536700"/>
            <a:ext cx="4254500" cy="1054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0800" rIns="101600" bIns="50800" rtlCol="0" anchor="ctr"/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0B1F3A"/>
                </a:solidFill>
                <a:latin typeface="Yu Gothic UI"/>
              </a:rPr>
              <a:t>実はよく知らないけど今さら聞けないAIのこと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D4F6B"/>
                </a:solidFill>
                <a:latin typeface="Yu Gothic UI"/>
              </a:rPr>
              <a:t>主催：弘文堂・GVA TECH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4900" y="1536700"/>
            <a:ext cx="5753100" cy="10541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E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84899" y="1536700"/>
            <a:ext cx="45719" cy="10541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99199" y="1536700"/>
            <a:ext cx="947569" cy="1054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0B7D4"/>
                </a:solidFill>
                <a:latin typeface="Yu Gothic UI"/>
              </a:rPr>
              <a:t>4/23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D4F6B"/>
                </a:solidFill>
                <a:latin typeface="Yu Gothic UI"/>
              </a:rPr>
              <a:t>（水）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4400" y="1536700"/>
            <a:ext cx="4534796" cy="1054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0800" rIns="101600" bIns="50800" rtlCol="0" anchor="ctr"/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0B1F3A"/>
                </a:solidFill>
                <a:latin typeface="Yu Gothic UI"/>
              </a:rPr>
              <a:t>AI活用のルール、「まだいらない」で本当にいいですか？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D4F6B"/>
                </a:solidFill>
                <a:latin typeface="Yu Gothic UI"/>
              </a:rPr>
              <a:t>共催：東京新橋法律事務所・リーガルアクセス株式会社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2701925"/>
            <a:ext cx="5397500" cy="10541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E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9600" y="2701925"/>
            <a:ext cx="38100" cy="10541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23900" y="2701925"/>
            <a:ext cx="889000" cy="1054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0B7D4"/>
                </a:solidFill>
                <a:latin typeface="Yu Gothic UI"/>
              </a:rPr>
              <a:t>5/21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D4F6B"/>
                </a:solidFill>
                <a:latin typeface="Yu Gothic UI"/>
              </a:rPr>
              <a:t>（水）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89100" y="2701925"/>
            <a:ext cx="4254500" cy="1054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0800" rIns="101600" bIns="50800" rtlCol="0" anchor="ctr"/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0B1F3A"/>
                </a:solidFill>
                <a:latin typeface="Yu Gothic UI"/>
              </a:rPr>
              <a:t>企業のAI活用に必要なルール整備を弁護士3名が解説 ｜法的リスクと実践活用を60分で整理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D4F6B"/>
                </a:solidFill>
                <a:latin typeface="Yu Gothic UI"/>
              </a:rPr>
              <a:t>共催：東京新橋法律事務所・リーガルアクセス株式会社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4900" y="2701925"/>
            <a:ext cx="5753100" cy="10541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E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84899" y="2701925"/>
            <a:ext cx="45719" cy="10541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99199" y="2701925"/>
            <a:ext cx="947569" cy="1054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0B7D4"/>
                </a:solidFill>
                <a:latin typeface="Yu Gothic UI"/>
              </a:rPr>
              <a:t>6/22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D4F6B"/>
                </a:solidFill>
                <a:latin typeface="Yu Gothic UI"/>
              </a:rPr>
              <a:t>（日）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64400" y="2701925"/>
            <a:ext cx="4534796" cy="1054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0800" rIns="101600" bIns="50800" rtlCol="0" anchor="ctr"/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0B1F3A"/>
                </a:solidFill>
                <a:latin typeface="Yu Gothic UI"/>
              </a:rPr>
              <a:t>もう一歩先へ 熟練弁護士による生成AIの総合的活用術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D4F6B"/>
                </a:solidFill>
                <a:latin typeface="Yu Gothic UI"/>
              </a:rPr>
              <a:t>主催：GVA TECH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3886200"/>
            <a:ext cx="5397500" cy="10541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E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09600" y="3886200"/>
            <a:ext cx="38100" cy="10541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23900" y="3886200"/>
            <a:ext cx="889000" cy="1054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0B7D4"/>
                </a:solidFill>
                <a:latin typeface="Yu Gothic UI"/>
              </a:rPr>
              <a:t>7/10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D4F6B"/>
                </a:solidFill>
                <a:latin typeface="Yu Gothic UI"/>
              </a:rPr>
              <a:t>（木）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89100" y="3886200"/>
            <a:ext cx="4254500" cy="1054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0800" rIns="101600" bIns="50800" rtlCol="0" anchor="ctr"/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0B1F3A"/>
                </a:solidFill>
                <a:latin typeface="Yu Gothic UI"/>
              </a:rPr>
              <a:t>中小企業法務とAIの利活用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D4F6B"/>
                </a:solidFill>
                <a:latin typeface="Yu Gothic UI"/>
              </a:rPr>
              <a:t>主催：東京弁護士会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4900" y="3886200"/>
            <a:ext cx="5753100" cy="10541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E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184899" y="3886200"/>
            <a:ext cx="45719" cy="10541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99199" y="3886200"/>
            <a:ext cx="947569" cy="1054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0B7D4"/>
                </a:solidFill>
                <a:latin typeface="Yu Gothic UI"/>
              </a:rPr>
              <a:t>8/10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D4F6B"/>
                </a:solidFill>
                <a:latin typeface="Yu Gothic UI"/>
              </a:rPr>
              <a:t>（日）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4400" y="3886200"/>
            <a:ext cx="4534796" cy="1054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0800" rIns="101600" bIns="50800" rtlCol="0" anchor="ctr"/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0B1F3A"/>
                </a:solidFill>
                <a:latin typeface="Yu Gothic UI"/>
              </a:rPr>
              <a:t>法務のための生成AI活用について ── 基礎編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D4F6B"/>
                </a:solidFill>
                <a:latin typeface="Yu Gothic UI"/>
              </a:rPr>
              <a:t>主催：公認会計士協会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5108575"/>
            <a:ext cx="5397500" cy="10541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E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09600" y="5108575"/>
            <a:ext cx="38100" cy="10541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23900" y="5108575"/>
            <a:ext cx="889000" cy="1054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0B7D4"/>
                </a:solidFill>
                <a:latin typeface="Yu Gothic UI"/>
              </a:rPr>
              <a:t>8/20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D4F6B"/>
                </a:solidFill>
                <a:latin typeface="Yu Gothic UI"/>
              </a:rPr>
              <a:t>（水）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89100" y="5108575"/>
            <a:ext cx="4254500" cy="1054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0800" rIns="101600" bIns="50800" rtlCol="0" anchor="ctr"/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0B1F3A"/>
                </a:solidFill>
                <a:latin typeface="Yu Gothic UI"/>
              </a:rPr>
              <a:t>法務部員のための実践的AI活用方法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D4F6B"/>
                </a:solidFill>
                <a:latin typeface="Yu Gothic UI"/>
              </a:rPr>
              <a:t>主催：国際企業法務協会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4900" y="5108575"/>
            <a:ext cx="5753100" cy="10541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E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184899" y="5108575"/>
            <a:ext cx="45719" cy="10541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299199" y="5108575"/>
            <a:ext cx="947569" cy="1054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0B7D4"/>
                </a:solidFill>
                <a:latin typeface="Yu Gothic UI"/>
              </a:rPr>
              <a:t>───</a:t>
            </a:r>
          </a:p>
          <a:p>
            <a:pPr algn="l">
              <a:lnSpc>
                <a:spcPct val="120000"/>
              </a:lnSpc>
            </a:pPr>
            <a:endParaRPr sz="2000" b="1" i="0">
              <a:solidFill>
                <a:srgbClr val="00B7D4"/>
              </a:solidFill>
              <a:latin typeface="Yu Gothic U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264400" y="5108575"/>
            <a:ext cx="4534796" cy="10541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50800" rIns="101600" bIns="50800" rtlCol="0" anchor="ctr"/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0B1F3A"/>
                </a:solidFill>
                <a:latin typeface="Yu Gothic UI"/>
              </a:rPr>
              <a:t>その</a:t>
            </a:r>
            <a:r>
              <a:rPr lang="ja-JP" altLang="en-US" sz="1600" b="1" i="0">
                <a:solidFill>
                  <a:srgbClr val="0B1F3A"/>
                </a:solidFill>
                <a:latin typeface="Yu Gothic UI"/>
              </a:rPr>
              <a:t>他</a:t>
            </a:r>
            <a:r>
              <a:rPr sz="1600" b="1" i="0">
                <a:solidFill>
                  <a:srgbClr val="0B1F3A"/>
                </a:solidFill>
                <a:latin typeface="Yu Gothic UI"/>
              </a:rPr>
              <a:t>、登壇実績</a:t>
            </a:r>
            <a:r>
              <a:rPr sz="1600" b="1" i="0">
                <a:solidFill>
                  <a:srgbClr val="00B7D4"/>
                </a:solidFill>
                <a:latin typeface="Yu Gothic UI"/>
              </a:rPr>
              <a:t>多数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D4F6B"/>
                </a:solidFill>
                <a:latin typeface="Yu Gothic UI"/>
              </a:rPr>
              <a:t>個別の社内研修・経営層向けブリーフィング含む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04800" y="6502400"/>
            <a:ext cx="2540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1F3A"/>
                </a:solidFill>
                <a:latin typeface="Yu Gothic UI"/>
              </a:rPr>
              <a:t>Legal </a:t>
            </a:r>
            <a:r>
              <a:rPr sz="1400" b="1" i="0">
                <a:solidFill>
                  <a:srgbClr val="00B7D4"/>
                </a:solidFill>
                <a:latin typeface="Yu Gothic UI"/>
              </a:rPr>
              <a:t>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28350" y="6502400"/>
            <a:ext cx="1143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r">
              <a:lnSpc>
                <a:spcPct val="115000"/>
              </a:lnSpc>
            </a:pPr>
            <a:r>
              <a:rPr sz="1400" b="0" i="0">
                <a:solidFill>
                  <a:srgbClr val="99A8BD"/>
                </a:solidFill>
                <a:latin typeface="Yu Gothic UI"/>
              </a:rPr>
              <a:t>08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20700"/>
            <a:ext cx="381000" cy="12700"/>
          </a:xfrm>
          <a:prstGeom prst="rect">
            <a:avLst/>
          </a:prstGeom>
          <a:solidFill>
            <a:srgbClr val="3FD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66800" y="406400"/>
            <a:ext cx="5715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0B7D4"/>
                </a:solidFill>
                <a:latin typeface="Yu Gothic UI"/>
              </a:rPr>
              <a:t>DETAIL ①  /  ヒアリング〜現状分析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685800"/>
            <a:ext cx="11112500" cy="50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0B1F3A"/>
                </a:solidFill>
                <a:latin typeface="Yu Gothic UI"/>
              </a:rPr>
              <a:t>まず、</a:t>
            </a:r>
            <a:r>
              <a:rPr sz="4000" b="1" i="0">
                <a:solidFill>
                  <a:srgbClr val="00B7D4"/>
                </a:solidFill>
                <a:latin typeface="Yu Gothic UI"/>
              </a:rPr>
              <a:t>「今、何が起きているか」</a:t>
            </a:r>
            <a:r>
              <a:rPr sz="4000" b="1" i="0">
                <a:solidFill>
                  <a:srgbClr val="0B1F3A"/>
                </a:solidFill>
                <a:latin typeface="Yu Gothic UI"/>
              </a:rPr>
              <a:t>を正確に掴む。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50" y="1524000"/>
            <a:ext cx="7181850" cy="2286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4350" y="1524000"/>
            <a:ext cx="50992" cy="22860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8349" y="1701800"/>
            <a:ext cx="764875" cy="2286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68349" y="1701800"/>
            <a:ext cx="764875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Yu Gothic UI"/>
              </a:rPr>
              <a:t>STEP 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350" y="1946275"/>
            <a:ext cx="6501442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35000"/>
              </a:lnSpc>
            </a:pPr>
            <a:r>
              <a:rPr sz="2200" b="1" i="0">
                <a:solidFill>
                  <a:srgbClr val="0B1F3A"/>
                </a:solidFill>
                <a:latin typeface="Yu Gothic UI"/>
              </a:rPr>
              <a:t>ヒアリング・状況把握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350" y="2413000"/>
            <a:ext cx="6756400" cy="1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▸  </a:t>
            </a:r>
            <a:r>
              <a:rPr sz="1400" b="0" i="0">
                <a:solidFill>
                  <a:srgbClr val="0B1F3A"/>
                </a:solidFill>
                <a:latin typeface="Yu Gothic UI"/>
              </a:rPr>
              <a:t>担当責任者と</a:t>
            </a:r>
            <a:r>
              <a:rPr sz="1400" b="1" i="0">
                <a:solidFill>
                  <a:srgbClr val="00B7D4"/>
                </a:solidFill>
                <a:latin typeface="Yu Gothic UI"/>
              </a:rPr>
              <a:t>1対1で打ち合わせ</a:t>
            </a:r>
            <a:r>
              <a:rPr sz="1400" b="0" i="0">
                <a:solidFill>
                  <a:srgbClr val="0B1F3A"/>
                </a:solidFill>
                <a:latin typeface="Yu Gothic UI"/>
              </a:rPr>
              <a:t>。現状のAI導入・活用状況をヒアリング</a:t>
            </a:r>
          </a:p>
          <a:p>
            <a:pPr algn="l">
              <a:lnSpc>
                <a:spcPct val="170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▸  </a:t>
            </a:r>
            <a:r>
              <a:rPr sz="1400" b="0" i="0">
                <a:solidFill>
                  <a:srgbClr val="0B1F3A"/>
                </a:solidFill>
                <a:latin typeface="Yu Gothic UI"/>
              </a:rPr>
              <a:t>導入済みツール／未導入ツールを</a:t>
            </a:r>
            <a:r>
              <a:rPr sz="1400" b="1" i="0">
                <a:solidFill>
                  <a:srgbClr val="00B7D4"/>
                </a:solidFill>
                <a:latin typeface="Yu Gothic UI"/>
              </a:rPr>
              <a:t>棚卸し</a:t>
            </a:r>
            <a:r>
              <a:rPr sz="1400" b="0" i="0">
                <a:solidFill>
                  <a:srgbClr val="0B1F3A"/>
                </a:solidFill>
                <a:latin typeface="Yu Gothic UI"/>
              </a:rPr>
              <a:t>。「契約だけして使われていない」も含めて把握</a:t>
            </a:r>
          </a:p>
          <a:p>
            <a:pPr algn="l">
              <a:lnSpc>
                <a:spcPct val="170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▸  </a:t>
            </a:r>
            <a:r>
              <a:rPr sz="1400" b="0" i="0">
                <a:solidFill>
                  <a:srgbClr val="0B1F3A"/>
                </a:solidFill>
                <a:latin typeface="Yu Gothic UI"/>
              </a:rPr>
              <a:t>現場担当者がどのツールを、どの業務で、どう使っているかを</a:t>
            </a:r>
            <a:r>
              <a:rPr sz="1400" b="1" i="0">
                <a:solidFill>
                  <a:srgbClr val="00B7D4"/>
                </a:solidFill>
                <a:latin typeface="Yu Gothic UI"/>
              </a:rPr>
              <a:t>実態ベース</a:t>
            </a:r>
            <a:r>
              <a:rPr sz="1400" b="0" i="0">
                <a:solidFill>
                  <a:srgbClr val="0B1F3A"/>
                </a:solidFill>
                <a:latin typeface="Yu Gothic UI"/>
              </a:rPr>
              <a:t>で確認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50" y="3962400"/>
            <a:ext cx="7181850" cy="2286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14350" y="3962400"/>
            <a:ext cx="50992" cy="22860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8349" y="4140200"/>
            <a:ext cx="764875" cy="2286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68349" y="4140200"/>
            <a:ext cx="764875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Yu Gothic UI"/>
              </a:rPr>
              <a:t>STEP 02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350" y="4384675"/>
            <a:ext cx="6501442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35000"/>
              </a:lnSpc>
            </a:pPr>
            <a:r>
              <a:rPr sz="2200" b="1" i="0">
                <a:solidFill>
                  <a:srgbClr val="0B1F3A"/>
                </a:solidFill>
                <a:latin typeface="Yu Gothic UI"/>
              </a:rPr>
              <a:t>現状分析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350" y="4851400"/>
            <a:ext cx="6501442" cy="1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▸  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ヒアリング結果をもとに、</a:t>
            </a:r>
            <a:r>
              <a:rPr sz="1500" b="1" i="0">
                <a:solidFill>
                  <a:srgbClr val="00B7D4"/>
                </a:solidFill>
                <a:latin typeface="Yu Gothic UI"/>
              </a:rPr>
              <a:t>現在の投資効率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を可視化</a:t>
            </a:r>
          </a:p>
          <a:p>
            <a:pPr algn="l">
              <a:lnSpc>
                <a:spcPct val="170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▸  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人件費にいくらかかっているのか、AIツールにいくら払っているのか、</a:t>
            </a:r>
            <a:r>
              <a:rPr sz="1500" b="1" i="0">
                <a:solidFill>
                  <a:srgbClr val="00B7D4"/>
                </a:solidFill>
                <a:latin typeface="Yu Gothic UI"/>
              </a:rPr>
              <a:t>金額で並べる</a:t>
            </a:r>
          </a:p>
          <a:p>
            <a:pPr algn="l">
              <a:lnSpc>
                <a:spcPct val="170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▸  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「払っている分のリターンが出ているか」を経営層に説明できる形に整理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80350" y="1524000"/>
            <a:ext cx="3810000" cy="4724400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21" name="Picture 20" descr="タブレットとペン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8925" y="1524000"/>
            <a:ext cx="3810000" cy="47244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32750" y="1676400"/>
            <a:ext cx="1143000" cy="254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32750" y="1676400"/>
            <a:ext cx="1143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3FD0E9"/>
                </a:solidFill>
                <a:latin typeface="Yu Gothic UI"/>
              </a:rPr>
              <a:t>HEARING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04800" y="6502400"/>
            <a:ext cx="2540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1F3A"/>
                </a:solidFill>
                <a:latin typeface="Yu Gothic UI"/>
              </a:rPr>
              <a:t>Legal </a:t>
            </a:r>
            <a:r>
              <a:rPr sz="1400" b="1" i="0">
                <a:solidFill>
                  <a:srgbClr val="00B7D4"/>
                </a:solidFill>
                <a:latin typeface="Yu Gothic UI"/>
              </a:rPr>
              <a:t>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795000" y="6502400"/>
            <a:ext cx="1143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r">
              <a:lnSpc>
                <a:spcPct val="115000"/>
              </a:lnSpc>
            </a:pPr>
            <a:r>
              <a:rPr sz="1400" b="0" i="0">
                <a:solidFill>
                  <a:srgbClr val="99A8BD"/>
                </a:solidFill>
                <a:latin typeface="Yu Gothic UI"/>
              </a:rPr>
              <a:t>09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20700"/>
            <a:ext cx="381000" cy="12700"/>
          </a:xfrm>
          <a:prstGeom prst="rect">
            <a:avLst/>
          </a:prstGeom>
          <a:solidFill>
            <a:srgbClr val="3FD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66800" y="406400"/>
            <a:ext cx="5715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0B7D4"/>
                </a:solidFill>
                <a:latin typeface="Yu Gothic UI"/>
              </a:rPr>
              <a:t>DETAIL ②  /  活用案の策定〜提言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685800"/>
            <a:ext cx="11112500" cy="736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0B1F3A"/>
                </a:solidFill>
                <a:latin typeface="Yu Gothic UI"/>
              </a:rPr>
              <a:t>「</a:t>
            </a:r>
            <a:r>
              <a:rPr sz="4000" b="1" i="0">
                <a:solidFill>
                  <a:srgbClr val="00B7D4"/>
                </a:solidFill>
                <a:latin typeface="Yu Gothic UI"/>
              </a:rPr>
              <a:t>どの業務に、どのAIを</a:t>
            </a:r>
            <a:r>
              <a:rPr lang="ja-JP" altLang="en-US" sz="4000" b="1" i="0">
                <a:solidFill>
                  <a:srgbClr val="00B7D4"/>
                </a:solidFill>
                <a:latin typeface="Yu Gothic UI"/>
              </a:rPr>
              <a:t>使うのか</a:t>
            </a:r>
            <a:r>
              <a:rPr sz="4000" b="1" i="0">
                <a:solidFill>
                  <a:srgbClr val="0B1F3A"/>
                </a:solidFill>
                <a:latin typeface="Yu Gothic UI"/>
              </a:rPr>
              <a:t>」を具体名で出す。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1524000"/>
            <a:ext cx="6985000" cy="2286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9600" y="1524000"/>
            <a:ext cx="50800" cy="22860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3600" y="1701800"/>
            <a:ext cx="762000" cy="2286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63600" y="1701800"/>
            <a:ext cx="76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Yu Gothic UI"/>
              </a:rPr>
              <a:t>STEP 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3600" y="1917700"/>
            <a:ext cx="64770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35000"/>
              </a:lnSpc>
            </a:pPr>
            <a:r>
              <a:rPr sz="2200" b="1" i="0">
                <a:solidFill>
                  <a:srgbClr val="0B1F3A"/>
                </a:solidFill>
                <a:latin typeface="Yu Gothic UI"/>
              </a:rPr>
              <a:t>AI活用案の策定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3600" y="2413000"/>
            <a:ext cx="6731000" cy="1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▸  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AI活用の</a:t>
            </a:r>
            <a:r>
              <a:rPr sz="1500" b="1" i="0">
                <a:solidFill>
                  <a:srgbClr val="00B7D4"/>
                </a:solidFill>
                <a:latin typeface="Yu Gothic UI"/>
              </a:rPr>
              <a:t>余地があるのに使われていない業務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を洗い出し</a:t>
            </a:r>
          </a:p>
          <a:p>
            <a:pPr algn="l">
              <a:lnSpc>
                <a:spcPct val="170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▸  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既に活用されているが、</a:t>
            </a:r>
            <a:r>
              <a:rPr sz="1500" b="1" i="0">
                <a:solidFill>
                  <a:srgbClr val="00B7D4"/>
                </a:solidFill>
                <a:latin typeface="Yu Gothic UI"/>
              </a:rPr>
              <a:t>さらに踏み込める業務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もリストアップ</a:t>
            </a:r>
          </a:p>
          <a:p>
            <a:pPr algn="l">
              <a:lnSpc>
                <a:spcPct val="170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▸  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業務単位で「使うべきツール／プロンプト方針」をセットで設計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962400"/>
            <a:ext cx="6985000" cy="2286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9600" y="3962400"/>
            <a:ext cx="50800" cy="22860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63600" y="4140200"/>
            <a:ext cx="762000" cy="2286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63600" y="4140200"/>
            <a:ext cx="76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Yu Gothic UI"/>
              </a:rPr>
              <a:t>STEP 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3600" y="4356100"/>
            <a:ext cx="64770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35000"/>
              </a:lnSpc>
            </a:pPr>
            <a:r>
              <a:rPr sz="2200" b="1" i="0">
                <a:solidFill>
                  <a:srgbClr val="0B1F3A"/>
                </a:solidFill>
                <a:latin typeface="Yu Gothic UI"/>
              </a:rPr>
              <a:t>AI活用案の提言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3600" y="4851400"/>
            <a:ext cx="6731000" cy="1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▸  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個社の業務に応じた</a:t>
            </a:r>
            <a:r>
              <a:rPr sz="1500" b="1" i="0">
                <a:solidFill>
                  <a:srgbClr val="00B7D4"/>
                </a:solidFill>
                <a:latin typeface="Yu Gothic UI"/>
              </a:rPr>
              <a:t>具体的な活用法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を提言（机上論ではなく実装可能な粒度）</a:t>
            </a:r>
          </a:p>
          <a:p>
            <a:pPr algn="l">
              <a:lnSpc>
                <a:spcPct val="170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▸  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導入時の</a:t>
            </a:r>
            <a:r>
              <a:rPr sz="1500" b="1" i="0">
                <a:solidFill>
                  <a:srgbClr val="00B7D4"/>
                </a:solidFill>
                <a:latin typeface="Yu Gothic UI"/>
              </a:rPr>
              <a:t>経営インパクト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（時間削減・コスト削減）を金額で提示</a:t>
            </a:r>
          </a:p>
          <a:p>
            <a:pPr algn="l">
              <a:lnSpc>
                <a:spcPct val="170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▸  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責任者・社員向けの</a:t>
            </a:r>
            <a:r>
              <a:rPr sz="1500" b="1" i="0">
                <a:solidFill>
                  <a:srgbClr val="00B7D4"/>
                </a:solidFill>
                <a:latin typeface="Yu Gothic UI"/>
              </a:rPr>
              <a:t>オンボーディング説明会・研修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を実施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47000" y="1524000"/>
            <a:ext cx="3810000" cy="4724400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21" name="Picture 20" descr="パソコン画面とコー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7000" y="1524000"/>
            <a:ext cx="3810000" cy="47244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899400" y="1676400"/>
            <a:ext cx="1143000" cy="254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899400" y="1676400"/>
            <a:ext cx="1143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3FD0E9"/>
                </a:solidFill>
                <a:latin typeface="Yu Gothic UI"/>
              </a:rPr>
              <a:t>DESIGN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04800" y="6502400"/>
            <a:ext cx="2540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1F3A"/>
                </a:solidFill>
                <a:latin typeface="Yu Gothic UI"/>
              </a:rPr>
              <a:t>Legal </a:t>
            </a:r>
            <a:r>
              <a:rPr sz="1400" b="1" i="0">
                <a:solidFill>
                  <a:srgbClr val="00B7D4"/>
                </a:solidFill>
                <a:latin typeface="Yu Gothic UI"/>
              </a:rPr>
              <a:t>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795000" y="6502400"/>
            <a:ext cx="1143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r">
              <a:lnSpc>
                <a:spcPct val="115000"/>
              </a:lnSpc>
            </a:pPr>
            <a:r>
              <a:rPr sz="1400" b="0" i="0">
                <a:solidFill>
                  <a:srgbClr val="99A8BD"/>
                </a:solidFill>
                <a:latin typeface="Yu Gothic UI"/>
              </a:rPr>
              <a:t>10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20700"/>
            <a:ext cx="381000" cy="12700"/>
          </a:xfrm>
          <a:prstGeom prst="rect">
            <a:avLst/>
          </a:prstGeom>
          <a:solidFill>
            <a:srgbClr val="3FD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66800" y="406400"/>
            <a:ext cx="5715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0B7D4"/>
                </a:solidFill>
                <a:latin typeface="Yu Gothic UI"/>
              </a:rPr>
              <a:t>DETAIL ③  /  継続的モニタリング・継続支援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685800"/>
            <a:ext cx="11112500" cy="50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0B1F3A"/>
                </a:solidFill>
                <a:latin typeface="Yu Gothic UI"/>
              </a:rPr>
              <a:t>作って終わりではない、</a:t>
            </a:r>
            <a:r>
              <a:rPr sz="4000" b="1" i="0">
                <a:solidFill>
                  <a:srgbClr val="00B7D4"/>
                </a:solidFill>
                <a:latin typeface="Yu Gothic UI"/>
              </a:rPr>
              <a:t>定着するまで伴走</a:t>
            </a:r>
            <a:r>
              <a:rPr sz="4000" b="1" i="0">
                <a:solidFill>
                  <a:srgbClr val="0B1F3A"/>
                </a:solidFill>
                <a:latin typeface="Yu Gothic UI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1524000"/>
            <a:ext cx="6985000" cy="2286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9600" y="1524000"/>
            <a:ext cx="50800" cy="22860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3600" y="1701800"/>
            <a:ext cx="762000" cy="2286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63600" y="1701800"/>
            <a:ext cx="76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Yu Gothic UI"/>
              </a:rPr>
              <a:t>STEP 05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3600" y="1908175"/>
            <a:ext cx="64770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35000"/>
              </a:lnSpc>
            </a:pPr>
            <a:r>
              <a:rPr sz="2200" b="1" i="0">
                <a:solidFill>
                  <a:srgbClr val="0B1F3A"/>
                </a:solidFill>
                <a:latin typeface="Yu Gothic UI"/>
              </a:rPr>
              <a:t>継続的モニタリング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3600" y="2413000"/>
            <a:ext cx="6477000" cy="1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▸  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現場でAIが</a:t>
            </a:r>
            <a:r>
              <a:rPr sz="1500" b="1" i="0">
                <a:solidFill>
                  <a:srgbClr val="00B7D4"/>
                </a:solidFill>
                <a:latin typeface="Yu Gothic UI"/>
              </a:rPr>
              <a:t>実際に使われているか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を継続的に把握</a:t>
            </a:r>
          </a:p>
          <a:p>
            <a:pPr algn="l">
              <a:lnSpc>
                <a:spcPct val="170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▸  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定期レビューで「想定通り使えている業務／想定外に止まっている業務」を切り分け</a:t>
            </a:r>
          </a:p>
          <a:p>
            <a:pPr algn="l">
              <a:lnSpc>
                <a:spcPct val="170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▸  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導入直後の盛り上がりで終わらせず、</a:t>
            </a:r>
            <a:r>
              <a:rPr sz="1500" b="1" i="0">
                <a:solidFill>
                  <a:srgbClr val="00B7D4"/>
                </a:solidFill>
                <a:latin typeface="Yu Gothic UI"/>
              </a:rPr>
              <a:t>習慣にする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まで見届ける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962400"/>
            <a:ext cx="6985000" cy="2286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9600" y="3962400"/>
            <a:ext cx="50800" cy="22860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63600" y="4140200"/>
            <a:ext cx="762000" cy="2286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63600" y="4140200"/>
            <a:ext cx="76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Yu Gothic UI"/>
              </a:rPr>
              <a:t>STEP 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3600" y="4346575"/>
            <a:ext cx="64770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35000"/>
              </a:lnSpc>
            </a:pPr>
            <a:r>
              <a:rPr sz="2200" b="1" i="0">
                <a:solidFill>
                  <a:srgbClr val="0B1F3A"/>
                </a:solidFill>
                <a:latin typeface="Yu Gothic UI"/>
              </a:rPr>
              <a:t>継続支援・ギャップの解消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3600" y="4851400"/>
            <a:ext cx="6477000" cy="1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▸  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運用と設計の</a:t>
            </a:r>
            <a:r>
              <a:rPr sz="1500" b="1" i="0">
                <a:solidFill>
                  <a:srgbClr val="00B7D4"/>
                </a:solidFill>
                <a:latin typeface="Yu Gothic UI"/>
              </a:rPr>
              <a:t>ギャップが生じた箇所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を特定</a:t>
            </a:r>
          </a:p>
          <a:p>
            <a:pPr algn="l">
              <a:lnSpc>
                <a:spcPct val="170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▸  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使われない理由（UI／教育／業務フロー）を分析し、</a:t>
            </a:r>
            <a:r>
              <a:rPr sz="1500" b="1" i="0">
                <a:solidFill>
                  <a:srgbClr val="00B7D4"/>
                </a:solidFill>
                <a:latin typeface="Yu Gothic UI"/>
              </a:rPr>
              <a:t>解決策を提示</a:t>
            </a:r>
          </a:p>
          <a:p>
            <a:pPr algn="l">
              <a:lnSpc>
                <a:spcPct val="170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▸  </a:t>
            </a:r>
            <a:r>
              <a:rPr sz="1500" b="0" i="0">
                <a:solidFill>
                  <a:srgbClr val="0B1F3A"/>
                </a:solidFill>
                <a:latin typeface="Yu Gothic UI"/>
              </a:rPr>
              <a:t>必要なプロンプト改修、ルール改訂、追加研修まで</a:t>
            </a:r>
            <a:r>
              <a:rPr sz="1500" b="1" i="0">
                <a:solidFill>
                  <a:srgbClr val="00B7D4"/>
                </a:solidFill>
                <a:latin typeface="Yu Gothic UI"/>
              </a:rPr>
              <a:t>実装を支援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47000" y="1524000"/>
            <a:ext cx="3810000" cy="4724400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21" name="Picture 20" descr="キーボー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7000" y="1524000"/>
            <a:ext cx="3810000" cy="47244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899400" y="1571625"/>
            <a:ext cx="1143000" cy="46355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899400" y="1676400"/>
            <a:ext cx="1143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3FD0E9"/>
                </a:solidFill>
                <a:latin typeface="Yu Gothic UI"/>
              </a:rPr>
              <a:t>RUN &amp; IMPROVE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04800" y="6502400"/>
            <a:ext cx="2540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1F3A"/>
                </a:solidFill>
                <a:latin typeface="Yu Gothic UI"/>
              </a:rPr>
              <a:t>Legal </a:t>
            </a:r>
            <a:r>
              <a:rPr sz="1400" b="1" i="0">
                <a:solidFill>
                  <a:srgbClr val="00B7D4"/>
                </a:solidFill>
                <a:latin typeface="Yu Gothic UI"/>
              </a:rPr>
              <a:t>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795000" y="6502400"/>
            <a:ext cx="1143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r">
              <a:lnSpc>
                <a:spcPct val="115000"/>
              </a:lnSpc>
            </a:pPr>
            <a:r>
              <a:rPr sz="1400" b="0" i="0">
                <a:solidFill>
                  <a:srgbClr val="99A8BD"/>
                </a:solidFill>
                <a:latin typeface="Yu Gothic UI"/>
              </a:rPr>
              <a:t>11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20700"/>
            <a:ext cx="381000" cy="12700"/>
          </a:xfrm>
          <a:prstGeom prst="rect">
            <a:avLst/>
          </a:prstGeom>
          <a:solidFill>
            <a:srgbClr val="3FD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66800" y="406400"/>
            <a:ext cx="5715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0B7D4"/>
                </a:solidFill>
                <a:latin typeface="Yu Gothic UI"/>
              </a:rPr>
              <a:t>OPTION  /  個別開発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685800"/>
            <a:ext cx="11112500" cy="50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0B1F3A"/>
                </a:solidFill>
                <a:latin typeface="Yu Gothic UI"/>
              </a:rPr>
              <a:t>必要があれば、</a:t>
            </a:r>
            <a:r>
              <a:rPr sz="4000" b="1" i="0">
                <a:solidFill>
                  <a:srgbClr val="00B7D4"/>
                </a:solidFill>
                <a:latin typeface="Yu Gothic UI"/>
              </a:rPr>
              <a:t>個別システム開発</a:t>
            </a:r>
            <a:r>
              <a:rPr sz="4000" b="1" i="0">
                <a:solidFill>
                  <a:srgbClr val="0B1F3A"/>
                </a:solidFill>
                <a:latin typeface="Yu Gothic UI"/>
              </a:rPr>
              <a:t>まで。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1590675"/>
            <a:ext cx="5461000" cy="4572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9600" y="1844675"/>
            <a:ext cx="54610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5600" tIns="0" rIns="355600" bIns="0" rtlCol="0" anchor="t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FD0E9"/>
                </a:solidFill>
                <a:latin typeface="Yu Gothic UI"/>
              </a:rPr>
              <a:t>DEFAULT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225675"/>
            <a:ext cx="5461000" cy="1397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5600" tIns="0" rIns="355600" bIns="0" rtlCol="0" anchor="t"/>
          <a:lstStyle/>
          <a:p>
            <a:pPr algn="l">
              <a:lnSpc>
                <a:spcPct val="145000"/>
              </a:lnSpc>
            </a:pPr>
            <a:r>
              <a:rPr sz="2600" b="1" i="0">
                <a:solidFill>
                  <a:srgbClr val="FFFFFF"/>
                </a:solidFill>
                <a:latin typeface="Yu Gothic UI"/>
              </a:rPr>
              <a:t>本サービスは</a:t>
            </a:r>
          </a:p>
          <a:p>
            <a:pPr algn="l">
              <a:lnSpc>
                <a:spcPct val="145000"/>
              </a:lnSpc>
            </a:pPr>
            <a:r>
              <a:rPr sz="3000" b="1" i="0">
                <a:solidFill>
                  <a:srgbClr val="3FD0E9"/>
                </a:solidFill>
                <a:latin typeface="Yu Gothic UI"/>
              </a:rPr>
              <a:t>「汎用型生成AI」</a:t>
            </a:r>
          </a:p>
          <a:p>
            <a:pPr algn="l">
              <a:lnSpc>
                <a:spcPct val="145000"/>
              </a:lnSpc>
            </a:pPr>
            <a:r>
              <a:rPr sz="2600" b="1" i="0">
                <a:solidFill>
                  <a:srgbClr val="FFFFFF"/>
                </a:solidFill>
                <a:latin typeface="Yu Gothic UI"/>
              </a:rPr>
              <a:t>の活用を前提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251325"/>
            <a:ext cx="5461000" cy="15303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5600" tIns="0" rIns="355600" bIns="0" rtlCol="0" anchor="t"/>
          <a:lstStyle/>
          <a:p>
            <a:pPr algn="l">
              <a:lnSpc>
                <a:spcPct val="170000"/>
              </a:lnSpc>
            </a:pPr>
            <a:r>
              <a:rPr sz="1600" b="0" i="0">
                <a:solidFill>
                  <a:srgbClr val="E8EEF5"/>
                </a:solidFill>
                <a:latin typeface="Yu Gothic UI"/>
              </a:rPr>
              <a:t>ChatGPT、Gemini、Claude、Copilot といった汎用AIを、業務に合わせて使いこなす設計を行います。多くの業務は、汎用AIと適切なプロンプト設計でカバーできます。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8400" y="1590675"/>
            <a:ext cx="5334000" cy="4572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02400" y="1844675"/>
            <a:ext cx="952500" cy="2286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502400" y="1844675"/>
            <a:ext cx="9525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Yu Gothic UI"/>
              </a:rPr>
              <a:t>OPTIONAL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8400" y="2225675"/>
            <a:ext cx="5334000" cy="1397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5600" tIns="0" rIns="355600" bIns="0" rtlCol="0" anchor="t"/>
          <a:lstStyle/>
          <a:p>
            <a:pPr algn="l">
              <a:lnSpc>
                <a:spcPct val="145000"/>
              </a:lnSpc>
            </a:pPr>
            <a:r>
              <a:rPr sz="2600" b="1" i="0">
                <a:solidFill>
                  <a:srgbClr val="0B1F3A"/>
                </a:solidFill>
                <a:latin typeface="Yu Gothic UI"/>
              </a:rPr>
              <a:t>業務特化の</a:t>
            </a:r>
          </a:p>
          <a:p>
            <a:pPr algn="l">
              <a:lnSpc>
                <a:spcPct val="145000"/>
              </a:lnSpc>
            </a:pPr>
            <a:r>
              <a:rPr sz="2600" b="1" i="0">
                <a:solidFill>
                  <a:srgbClr val="0B1F3A"/>
                </a:solidFill>
                <a:latin typeface="Yu Gothic UI"/>
              </a:rPr>
              <a:t>個別開発が必要な場合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8400" y="3622675"/>
            <a:ext cx="5334000" cy="228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5600" tIns="0" rIns="355600" bIns="0" rtlCol="0" anchor="t"/>
          <a:lstStyle/>
          <a:p>
            <a:pPr algn="l">
              <a:lnSpc>
                <a:spcPct val="170000"/>
              </a:lnSpc>
            </a:pPr>
            <a:r>
              <a:rPr sz="1600" b="0" i="0">
                <a:solidFill>
                  <a:srgbClr val="3D4F6B"/>
                </a:solidFill>
                <a:latin typeface="Yu Gothic UI"/>
              </a:rPr>
              <a:t>社内文書RAG、契約レビュー特化UI、社内チャットボット等、独自システムが必要な場合は</a:t>
            </a:r>
            <a:r>
              <a:rPr sz="1600" b="1" i="0">
                <a:solidFill>
                  <a:srgbClr val="00B7D4"/>
                </a:solidFill>
                <a:latin typeface="Yu Gothic UI"/>
              </a:rPr>
              <a:t>別途お見積り</a:t>
            </a:r>
            <a:r>
              <a:rPr sz="1600" b="0" i="0">
                <a:solidFill>
                  <a:srgbClr val="3D4F6B"/>
                </a:solidFill>
                <a:latin typeface="Yu Gothic UI"/>
              </a:rPr>
              <a:t>のうえ対応いたします。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04800" y="6502400"/>
            <a:ext cx="2540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1F3A"/>
                </a:solidFill>
                <a:latin typeface="Yu Gothic UI"/>
              </a:rPr>
              <a:t>Legal </a:t>
            </a:r>
            <a:r>
              <a:rPr sz="1400" b="1" i="0">
                <a:solidFill>
                  <a:srgbClr val="00B7D4"/>
                </a:solidFill>
                <a:latin typeface="Yu Gothic UI"/>
              </a:rPr>
              <a:t>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795000" y="6502400"/>
            <a:ext cx="1143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r">
              <a:lnSpc>
                <a:spcPct val="115000"/>
              </a:lnSpc>
            </a:pPr>
            <a:r>
              <a:rPr sz="1400" b="0" i="0">
                <a:solidFill>
                  <a:srgbClr val="99A8BD"/>
                </a:solidFill>
                <a:latin typeface="Yu Gothic UI"/>
              </a:rPr>
              <a:t>12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20700"/>
            <a:ext cx="381000" cy="12700"/>
          </a:xfrm>
          <a:prstGeom prst="rect">
            <a:avLst/>
          </a:prstGeom>
          <a:solidFill>
            <a:srgbClr val="3FD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66800" y="406400"/>
            <a:ext cx="5715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0B7D4"/>
                </a:solidFill>
                <a:latin typeface="Yu Gothic UI"/>
              </a:rPr>
              <a:t>PRICING  /  料金・お支払い・上限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685800"/>
            <a:ext cx="11112500" cy="50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20000"/>
              </a:lnSpc>
            </a:pPr>
            <a:r>
              <a:rPr sz="4000" b="1" i="0">
                <a:solidFill>
                  <a:srgbClr val="0B1F3A"/>
                </a:solidFill>
                <a:latin typeface="Yu Gothic UI"/>
              </a:rPr>
              <a:t>月額制の伴走サービス、</a:t>
            </a:r>
            <a:r>
              <a:rPr sz="4000" b="1" i="0">
                <a:solidFill>
                  <a:srgbClr val="00B7D4"/>
                </a:solidFill>
                <a:latin typeface="Yu Gothic UI"/>
              </a:rPr>
              <a:t>上限8社</a:t>
            </a:r>
            <a:r>
              <a:rPr sz="4000" b="1" i="0">
                <a:solidFill>
                  <a:srgbClr val="0B1F3A"/>
                </a:solidFill>
                <a:latin typeface="Yu Gothic UI"/>
              </a:rPr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1524000"/>
            <a:ext cx="5715000" cy="4572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9600" y="1841500"/>
            <a:ext cx="5715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0" tIns="0" rIns="381000" bIns="0" rtlCol="0" anchor="t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FD0E9"/>
                </a:solidFill>
                <a:latin typeface="Yu Gothic UI"/>
              </a:rPr>
              <a:t>MONTHLY FEE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222500"/>
            <a:ext cx="5715000" cy="1397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0" tIns="0" rIns="381000" bIns="0" rtlCol="0" anchor="t"/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FFFFFF"/>
                </a:solidFill>
                <a:latin typeface="Yu Gothic UI"/>
              </a:rPr>
              <a:t>50</a:t>
            </a:r>
            <a:r>
              <a:rPr sz="2800" b="1" i="0">
                <a:solidFill>
                  <a:srgbClr val="3FD0E9"/>
                </a:solidFill>
                <a:latin typeface="Yu Gothic UI"/>
              </a:rPr>
              <a:t>万円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683000"/>
            <a:ext cx="5715000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0" tIns="0" rIns="381000" bIns="0" rtlCol="0" anchor="t"/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EEF5"/>
                </a:solidFill>
                <a:latin typeface="Yu Gothic UI"/>
              </a:rPr>
              <a:t>× ご契約月数（税別）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4318000"/>
            <a:ext cx="5715000" cy="177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0" tIns="0" rIns="381000" bIns="0" rtlCol="0" anchor="t"/>
          <a:lstStyle/>
          <a:p>
            <a:pPr algn="l">
              <a:lnSpc>
                <a:spcPct val="170000"/>
              </a:lnSpc>
            </a:pPr>
            <a:r>
              <a:rPr sz="1600" b="0" i="0">
                <a:solidFill>
                  <a:schemeClr val="bg1"/>
                </a:solidFill>
                <a:latin typeface="Yu Gothic UI"/>
              </a:rPr>
              <a:t>月額固定で、ヒアリング・分析・提言・研修・継続モニタリングまで含む包括フィー。</a:t>
            </a:r>
          </a:p>
          <a:p>
            <a:pPr algn="l">
              <a:lnSpc>
                <a:spcPct val="170000"/>
              </a:lnSpc>
            </a:pPr>
            <a:r>
              <a:rPr sz="1600" b="0" i="0">
                <a:solidFill>
                  <a:schemeClr val="bg1"/>
                </a:solidFill>
                <a:latin typeface="Yu Gothic UI"/>
              </a:rPr>
              <a:t>個別開発が必要な場合は別途お見積り。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02400" y="1524000"/>
            <a:ext cx="5080000" cy="183515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98590" y="1616074"/>
            <a:ext cx="49528" cy="1743075"/>
          </a:xfrm>
          <a:prstGeom prst="rect">
            <a:avLst/>
          </a:prstGeom>
          <a:solidFill>
            <a:srgbClr val="00B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705600" y="1701800"/>
            <a:ext cx="46736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0B7D4"/>
                </a:solidFill>
                <a:latin typeface="Yu Gothic UI"/>
              </a:rPr>
              <a:t>PAYMENT ── お支払い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05600" y="2082800"/>
            <a:ext cx="4673600" cy="9874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80000"/>
              </a:lnSpc>
            </a:pPr>
            <a:r>
              <a:rPr sz="1700" b="0" i="0">
                <a:solidFill>
                  <a:srgbClr val="0B1F3A"/>
                </a:solidFill>
                <a:latin typeface="Yu Gothic UI"/>
              </a:rPr>
              <a:t>ご契約時に</a:t>
            </a:r>
            <a:r>
              <a:rPr sz="1700" b="1" i="0">
                <a:solidFill>
                  <a:srgbClr val="00B7D4"/>
                </a:solidFill>
                <a:latin typeface="Yu Gothic UI"/>
              </a:rPr>
              <a:t>当初月分</a:t>
            </a:r>
            <a:r>
              <a:rPr sz="1700" b="0" i="0">
                <a:solidFill>
                  <a:srgbClr val="0B1F3A"/>
                </a:solidFill>
                <a:latin typeface="Yu Gothic UI"/>
              </a:rPr>
              <a:t>をご入金いただきます。</a:t>
            </a:r>
          </a:p>
          <a:p>
            <a:pPr algn="l">
              <a:lnSpc>
                <a:spcPct val="180000"/>
              </a:lnSpc>
            </a:pPr>
            <a:r>
              <a:rPr sz="1700" b="0" i="0">
                <a:solidFill>
                  <a:srgbClr val="0B1F3A"/>
                </a:solidFill>
                <a:latin typeface="Yu Gothic UI"/>
              </a:rPr>
              <a:t>以降は</a:t>
            </a:r>
            <a:r>
              <a:rPr sz="1700" b="1" i="0">
                <a:solidFill>
                  <a:srgbClr val="00B7D4"/>
                </a:solidFill>
                <a:latin typeface="Yu Gothic UI"/>
              </a:rPr>
              <a:t>前月25日まで</a:t>
            </a:r>
            <a:r>
              <a:rPr sz="1700" b="0" i="0">
                <a:solidFill>
                  <a:srgbClr val="0B1F3A"/>
                </a:solidFill>
                <a:latin typeface="Yu Gothic UI"/>
              </a:rPr>
              <a:t>に当月分をお支払い。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02400" y="3565524"/>
            <a:ext cx="5080000" cy="25304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02399" y="3565525"/>
            <a:ext cx="45719" cy="2530474"/>
          </a:xfrm>
          <a:prstGeom prst="rect">
            <a:avLst/>
          </a:prstGeom>
          <a:solidFill>
            <a:srgbClr val="3FD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705600" y="3756025"/>
            <a:ext cx="4673600" cy="3175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FD0E9"/>
                </a:solidFill>
                <a:latin typeface="Yu Gothic UI"/>
              </a:rPr>
              <a:t>LIMITATION ── ご支援先の上限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05600" y="4073525"/>
            <a:ext cx="4673600" cy="76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3FD0E9"/>
                </a:solidFill>
                <a:latin typeface="Yu Gothic UI"/>
              </a:rPr>
              <a:t>8</a:t>
            </a:r>
            <a:r>
              <a:rPr sz="3200" b="1" i="0">
                <a:solidFill>
                  <a:srgbClr val="3FD0E9"/>
                </a:solidFill>
                <a:latin typeface="Yu Gothic UI"/>
              </a:rPr>
              <a:t>社</a:t>
            </a:r>
            <a:endParaRPr sz="6000" b="1" i="0">
              <a:solidFill>
                <a:srgbClr val="3FD0E9"/>
              </a:solidFill>
              <a:latin typeface="Yu Gothic U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705600" y="4962524"/>
            <a:ext cx="4673600" cy="9302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70000"/>
              </a:lnSpc>
            </a:pPr>
            <a:r>
              <a:rPr lang="ja-JP" altLang="en-US" sz="1600" b="0" i="0">
                <a:solidFill>
                  <a:srgbClr val="FFFFFF"/>
                </a:solidFill>
                <a:latin typeface="Yu Gothic UI"/>
              </a:rPr>
              <a:t>伴走型で深くコミットする</a:t>
            </a:r>
            <a:r>
              <a:rPr sz="1600" b="0" i="0">
                <a:solidFill>
                  <a:srgbClr val="FFFFFF"/>
                </a:solidFill>
                <a:latin typeface="Yu Gothic UI"/>
              </a:rPr>
              <a:t>ため、同時にお引き受けできる企業数に</a:t>
            </a:r>
            <a:r>
              <a:rPr sz="1600" b="1" i="0">
                <a:solidFill>
                  <a:srgbClr val="3FD0E9"/>
                </a:solidFill>
                <a:latin typeface="Yu Gothic UI"/>
              </a:rPr>
              <a:t>上限</a:t>
            </a:r>
            <a:r>
              <a:rPr sz="1600" b="0" i="0">
                <a:solidFill>
                  <a:srgbClr val="FFFFFF"/>
                </a:solidFill>
                <a:latin typeface="Yu Gothic UI"/>
              </a:rPr>
              <a:t>を設けています。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3" name="Picture 2" descr="青いネットワー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62000" y="1143000"/>
            <a:ext cx="6985000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FD0E9"/>
                </a:solidFill>
                <a:latin typeface="Yu Gothic UI"/>
              </a:rPr>
              <a:t>APPLICATION  |  お申込み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1524000"/>
            <a:ext cx="6985000" cy="33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30000"/>
              </a:lnSpc>
            </a:pPr>
            <a:r>
              <a:rPr sz="4000" b="1" i="0">
                <a:solidFill>
                  <a:srgbClr val="FFFFFF"/>
                </a:solidFill>
                <a:latin typeface="Yu Gothic UI"/>
              </a:rPr>
              <a:t>お申込みは、</a:t>
            </a:r>
          </a:p>
          <a:p>
            <a:pPr algn="l">
              <a:lnSpc>
                <a:spcPct val="130000"/>
              </a:lnSpc>
            </a:pPr>
            <a:r>
              <a:rPr sz="4000" b="1" i="0">
                <a:solidFill>
                  <a:srgbClr val="3FD0E9"/>
                </a:solidFill>
                <a:latin typeface="Yu Gothic UI"/>
              </a:rPr>
              <a:t>先着順</a:t>
            </a:r>
            <a:r>
              <a:rPr sz="4000" b="1" i="0">
                <a:solidFill>
                  <a:srgbClr val="FFFFFF"/>
                </a:solidFill>
                <a:latin typeface="Yu Gothic UI"/>
              </a:rPr>
              <a:t>とさせていただきます。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429000"/>
            <a:ext cx="6543675" cy="1397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t"/>
          <a:lstStyle/>
          <a:p>
            <a:pPr algn="l">
              <a:lnSpc>
                <a:spcPct val="170000"/>
              </a:lnSpc>
            </a:pPr>
            <a:r>
              <a:rPr sz="1600" b="0" i="0">
                <a:solidFill>
                  <a:srgbClr val="E8EEF5"/>
                </a:solidFill>
                <a:latin typeface="Yu Gothic UI"/>
              </a:rPr>
              <a:t>他の企業様からのお申込みが先に入った場合、ご依頼を</a:t>
            </a:r>
            <a:r>
              <a:rPr sz="1600" b="1" i="0">
                <a:solidFill>
                  <a:srgbClr val="3FD0E9"/>
                </a:solidFill>
                <a:latin typeface="Yu Gothic UI"/>
              </a:rPr>
              <a:t>やむを得ずお断り</a:t>
            </a:r>
            <a:r>
              <a:rPr sz="1600" b="0" i="0">
                <a:solidFill>
                  <a:srgbClr val="E8EEF5"/>
                </a:solidFill>
                <a:latin typeface="Yu Gothic UI"/>
              </a:rPr>
              <a:t>させていただくことがございます。</a:t>
            </a:r>
          </a:p>
          <a:p>
            <a:pPr algn="l">
              <a:lnSpc>
                <a:spcPct val="170000"/>
              </a:lnSpc>
            </a:pPr>
            <a:r>
              <a:rPr sz="1600" b="0" i="0">
                <a:solidFill>
                  <a:srgbClr val="E8EEF5"/>
                </a:solidFill>
                <a:latin typeface="Yu Gothic UI"/>
              </a:rPr>
              <a:t>ご検討中の場合は、</a:t>
            </a:r>
            <a:r>
              <a:rPr sz="1600" b="1" i="0">
                <a:solidFill>
                  <a:srgbClr val="3FD0E9"/>
                </a:solidFill>
                <a:latin typeface="Yu Gothic UI"/>
              </a:rPr>
              <a:t>お早めにご連絡</a:t>
            </a:r>
            <a:r>
              <a:rPr sz="1600" b="0" i="0">
                <a:solidFill>
                  <a:srgbClr val="E8EEF5"/>
                </a:solidFill>
                <a:latin typeface="Yu Gothic UI"/>
              </a:rPr>
              <a:t>いただけますと幸いです。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5241925"/>
            <a:ext cx="6362700" cy="1016000"/>
          </a:xfrm>
          <a:prstGeom prst="rect">
            <a:avLst/>
          </a:prstGeom>
          <a:noFill/>
          <a:ln w="19050">
            <a:solidFill>
              <a:srgbClr val="3FD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61999" y="5241925"/>
            <a:ext cx="45719" cy="1016000"/>
          </a:xfrm>
          <a:prstGeom prst="rect">
            <a:avLst/>
          </a:prstGeom>
          <a:solidFill>
            <a:srgbClr val="3FD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016000" y="5368925"/>
            <a:ext cx="978877" cy="25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FD0E9"/>
                </a:solidFill>
                <a:latin typeface="Yu Gothic UI"/>
              </a:rPr>
              <a:t>CONTACT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13000" y="5368925"/>
            <a:ext cx="4894385" cy="381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Yu Gothic UI"/>
              </a:rPr>
              <a:t>リーガルアクセス</a:t>
            </a:r>
            <a:r>
              <a:rPr lang="ja-JP" altLang="en-US" sz="2000" b="1" i="0">
                <a:solidFill>
                  <a:srgbClr val="FFFFFF"/>
                </a:solidFill>
                <a:latin typeface="Yu Gothic UI"/>
              </a:rPr>
              <a:t>（</a:t>
            </a:r>
            <a:r>
              <a:rPr sz="2000" b="1" i="0">
                <a:solidFill>
                  <a:srgbClr val="FFFFFF"/>
                </a:solidFill>
                <a:latin typeface="Yu Gothic UI"/>
              </a:rPr>
              <a:t>株</a:t>
            </a:r>
            <a:r>
              <a:rPr lang="ja-JP" altLang="en-US" sz="2000" b="1" i="0">
                <a:solidFill>
                  <a:srgbClr val="FFFFFF"/>
                </a:solidFill>
                <a:latin typeface="Yu Gothic UI"/>
              </a:rPr>
              <a:t>）</a:t>
            </a:r>
            <a:r>
              <a:rPr sz="2000" b="1" i="0">
                <a:solidFill>
                  <a:srgbClr val="FFFFFF"/>
                </a:solidFill>
                <a:latin typeface="Yu Gothic UI"/>
              </a:rPr>
              <a:t> ／  福島 駿太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3000" y="5749924"/>
            <a:ext cx="4894385" cy="380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50800" rIns="50800" bIns="50800" rtlCol="0" anchor="ctr"/>
          <a:lstStyle/>
          <a:p>
            <a:pPr algn="l">
              <a:lnSpc>
                <a:spcPct val="115000"/>
              </a:lnSpc>
            </a:pPr>
            <a:r>
              <a:rPr lang="en-US" altLang="ja-JP" sz="1400" b="0" i="0">
                <a:solidFill>
                  <a:schemeClr val="bg1"/>
                </a:solidFill>
                <a:latin typeface="Yu Gothic UI"/>
              </a:rPr>
              <a:t>Mail</a:t>
            </a:r>
            <a:r>
              <a:rPr lang="ja-JP" altLang="en-US" sz="1400" b="0" i="0">
                <a:solidFill>
                  <a:schemeClr val="bg1"/>
                </a:solidFill>
                <a:latin typeface="Yu Gothic UI"/>
              </a:rPr>
              <a:t>：</a:t>
            </a:r>
            <a:r>
              <a:rPr lang="en-US" altLang="ja-JP" sz="1400" b="0" i="0">
                <a:solidFill>
                  <a:schemeClr val="bg1"/>
                </a:solidFill>
                <a:latin typeface="Yu Gothic UI"/>
              </a:rPr>
              <a:t>shunta.fukushima@legalaccess.co.jp</a:t>
            </a:r>
            <a:endParaRPr sz="1400" b="0" i="0">
              <a:solidFill>
                <a:schemeClr val="bg1"/>
              </a:solidFill>
              <a:latin typeface="Yu Gothic U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888</Words>
  <Application>Microsoft Office PowerPoint</Application>
  <PresentationFormat>ワイド画面</PresentationFormat>
  <Paragraphs>223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Yu Gothic UI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ASL2</cp:lastModifiedBy>
  <cp:revision>52</cp:revision>
  <dcterms:created xsi:type="dcterms:W3CDTF">2013-01-27T09:14:16Z</dcterms:created>
  <dcterms:modified xsi:type="dcterms:W3CDTF">2026-05-24T11:43:41Z</dcterms:modified>
  <cp:category/>
</cp:coreProperties>
</file>