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_1_cover-right.jpg"/>
          <p:cNvPicPr>
            <a:picLocks noChangeAspect="1"/>
          </p:cNvPicPr>
          <p:nvPr/>
        </p:nvPicPr>
        <p:blipFill>
          <a:blip r:embed="rId2"/>
          <a:srcRect l="23319" r="23319"/>
          <a:stretch>
            <a:fillRect/>
          </a:stretch>
        </p:blipFill>
        <p:spPr>
          <a:xfrm>
            <a:off x="7315200" y="0"/>
            <a:ext cx="4876495" cy="6858000"/>
          </a:xfrm>
          <a:prstGeom prst="rect">
            <a:avLst/>
          </a:prstGeom>
        </p:spPr>
      </p:pic>
      <p:sp>
        <p:nvSpPr>
          <p:cNvPr id="4" name="TextBox 3"/>
          <p:cNvSpPr txBox="1"/>
          <p:nvPr/>
        </p:nvSpPr>
        <p:spPr>
          <a:xfrm>
            <a:off x="640080" y="640080"/>
            <a:ext cx="5943600" cy="457200"/>
          </a:xfrm>
          <a:prstGeom prst="rect">
            <a:avLst/>
          </a:prstGeom>
          <a:noFill/>
        </p:spPr>
        <p:txBody>
          <a:bodyPr wrap="square" anchor="t" lIns="0" rIns="0" tIns="0" bIns="0">
            <a:spAutoFit/>
          </a:bodyPr>
          <a:lstStyle/>
          <a:p>
            <a:pPr algn="l">
              <a:lnSpc>
                <a:spcPct val="100000"/>
              </a:lnSpc>
              <a:spcBef>
                <a:spcPts val="0"/>
              </a:spcBef>
              <a:spcAft>
                <a:spcPts val="0"/>
              </a:spcAft>
            </a:pPr>
            <a:r>
              <a:rPr sz="1700" b="1">
                <a:solidFill>
                  <a:srgbClr val="2B6444"/>
                </a:solidFill>
                <a:latin typeface="Noto Sans JP"/>
                <a:ea typeface="Noto Sans JP"/>
                <a:cs typeface="Noto Sans JP"/>
              </a:rPr>
              <a:t>SPECIAL REPORT</a:t>
            </a:r>
          </a:p>
        </p:txBody>
      </p:sp>
      <p:sp>
        <p:nvSpPr>
          <p:cNvPr id="5" name="Rectangle 4"/>
          <p:cNvSpPr/>
          <p:nvPr/>
        </p:nvSpPr>
        <p:spPr>
          <a:xfrm>
            <a:off x="640080" y="1143000"/>
            <a:ext cx="2926080" cy="45720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43000"/>
            <a:ext cx="2926080" cy="457200"/>
          </a:xfrm>
          <a:prstGeom prst="rect">
            <a:avLst/>
          </a:prstGeom>
          <a:noFill/>
        </p:spPr>
        <p:txBody>
          <a:bodyPr wrap="square" anchor="ctr" lIns="0" rIns="0" tIns="0" bIns="0">
            <a:spAutoFit/>
          </a:bodyPr>
          <a:lstStyle/>
          <a:p>
            <a:pPr algn="ctr">
              <a:lnSpc>
                <a:spcPct val="100000"/>
              </a:lnSpc>
              <a:spcBef>
                <a:spcPts val="0"/>
              </a:spcBef>
              <a:spcAft>
                <a:spcPts val="0"/>
              </a:spcAft>
            </a:pPr>
            <a:r>
              <a:rPr sz="1600" b="1">
                <a:solidFill>
                  <a:srgbClr val="1E4D33"/>
                </a:solidFill>
                <a:latin typeface="Noto Sans JP"/>
                <a:ea typeface="Noto Sans JP"/>
                <a:cs typeface="Noto Sans JP"/>
              </a:rPr>
              <a:t>交通事故 弁護士費用特約</a:t>
            </a:r>
          </a:p>
        </p:txBody>
      </p:sp>
      <p:sp>
        <p:nvSpPr>
          <p:cNvPr id="7" name="TextBox 6"/>
          <p:cNvSpPr txBox="1"/>
          <p:nvPr/>
        </p:nvSpPr>
        <p:spPr>
          <a:xfrm>
            <a:off x="640080" y="1828800"/>
            <a:ext cx="6400800" cy="1645920"/>
          </a:xfrm>
          <a:prstGeom prst="rect">
            <a:avLst/>
          </a:prstGeom>
          <a:noFill/>
        </p:spPr>
        <p:txBody>
          <a:bodyPr wrap="square" anchor="t" lIns="0" rIns="0" tIns="0" bIns="0">
            <a:spAutoFit/>
          </a:bodyPr>
          <a:lstStyle/>
          <a:p>
            <a:pPr algn="l">
              <a:lnSpc>
                <a:spcPct val="115000"/>
              </a:lnSpc>
              <a:spcBef>
                <a:spcPts val="0"/>
              </a:spcBef>
              <a:spcAft>
                <a:spcPts val="0"/>
              </a:spcAft>
            </a:pPr>
            <a:r>
              <a:rPr sz="3800" b="1">
                <a:solidFill>
                  <a:srgbClr val="1E4D33"/>
                </a:solidFill>
                <a:latin typeface="Noto Serif JP"/>
                <a:ea typeface="Noto Serif JP"/>
                <a:cs typeface="Noto Serif JP"/>
              </a:rPr>
              <a:t>交通事故案件における</a:t>
            </a:r>
          </a:p>
          <a:p>
            <a:pPr algn="l">
              <a:lnSpc>
                <a:spcPct val="115000"/>
              </a:lnSpc>
              <a:spcBef>
                <a:spcPts val="0"/>
              </a:spcBef>
              <a:spcAft>
                <a:spcPts val="0"/>
              </a:spcAft>
            </a:pPr>
            <a:r>
              <a:rPr sz="3800" b="1">
                <a:solidFill>
                  <a:srgbClr val="1E4D33"/>
                </a:solidFill>
                <a:latin typeface="Noto Serif JP"/>
                <a:ea typeface="Noto Serif JP"/>
                <a:cs typeface="Noto Serif JP"/>
              </a:rPr>
              <a:t>弁護士早期介入の重要性</a:t>
            </a:r>
          </a:p>
        </p:txBody>
      </p:sp>
      <p:sp>
        <p:nvSpPr>
          <p:cNvPr id="8" name="TextBox 7"/>
          <p:cNvSpPr txBox="1"/>
          <p:nvPr/>
        </p:nvSpPr>
        <p:spPr>
          <a:xfrm>
            <a:off x="640080" y="3383280"/>
            <a:ext cx="6400800" cy="548640"/>
          </a:xfrm>
          <a:prstGeom prst="rect">
            <a:avLst/>
          </a:prstGeom>
          <a:noFill/>
        </p:spPr>
        <p:txBody>
          <a:bodyPr wrap="square" anchor="t" lIns="0" rIns="0" tIns="0" bIns="0">
            <a:spAutoFit/>
          </a:bodyPr>
          <a:lstStyle/>
          <a:p>
            <a:pPr algn="l">
              <a:lnSpc>
                <a:spcPct val="120000"/>
              </a:lnSpc>
              <a:spcBef>
                <a:spcPts val="0"/>
              </a:spcBef>
              <a:spcAft>
                <a:spcPts val="0"/>
              </a:spcAft>
            </a:pPr>
            <a:r>
              <a:rPr sz="1800" b="0">
                <a:solidFill>
                  <a:srgbClr val="555555"/>
                </a:solidFill>
                <a:latin typeface="Noto Sans JP"/>
                <a:ea typeface="Noto Sans JP"/>
                <a:cs typeface="Noto Sans JP"/>
              </a:rPr>
              <a:t>3つの事例から考える「初動から弁護士を入れる」ことの意義</a:t>
            </a:r>
          </a:p>
        </p:txBody>
      </p:sp>
      <p:sp>
        <p:nvSpPr>
          <p:cNvPr id="9" name="TextBox 8"/>
          <p:cNvSpPr txBox="1"/>
          <p:nvPr/>
        </p:nvSpPr>
        <p:spPr>
          <a:xfrm>
            <a:off x="640080" y="4023360"/>
            <a:ext cx="6400800" cy="822960"/>
          </a:xfrm>
          <a:prstGeom prst="rect">
            <a:avLst/>
          </a:prstGeom>
          <a:noFill/>
        </p:spPr>
        <p:txBody>
          <a:bodyPr wrap="square" anchor="t" lIns="0" rIns="0" tIns="0" bIns="0">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本レポートは、弁護士法人相生綜合法律事務所が実際に取り扱った交通事故案件をもとに、保険代理店様へ向けて作成した特別レポートです。</a:t>
            </a:r>
          </a:p>
        </p:txBody>
      </p:sp>
      <p:sp>
        <p:nvSpPr>
          <p:cNvPr id="10" name="Rectangle 9"/>
          <p:cNvSpPr/>
          <p:nvPr/>
        </p:nvSpPr>
        <p:spPr>
          <a:xfrm>
            <a:off x="640080" y="4983480"/>
            <a:ext cx="2011680" cy="10058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029200"/>
            <a:ext cx="2011680" cy="502920"/>
          </a:xfrm>
          <a:prstGeom prst="rect">
            <a:avLst/>
          </a:prstGeom>
          <a:noFill/>
        </p:spPr>
        <p:txBody>
          <a:bodyPr wrap="square" anchor="t" lIns="0" rIns="0" tIns="0" bIns="0">
            <a:spAutoFit/>
          </a:bodyPr>
          <a:lstStyle/>
          <a:p>
            <a:pPr algn="ctr">
              <a:lnSpc>
                <a:spcPct val="100000"/>
              </a:lnSpc>
              <a:spcBef>
                <a:spcPts val="0"/>
              </a:spcBef>
              <a:spcAft>
                <a:spcPts val="0"/>
              </a:spcAft>
            </a:pPr>
            <a:r>
              <a:rPr sz="2800" b="1">
                <a:solidFill>
                  <a:srgbClr val="FFFFFF"/>
                </a:solidFill>
                <a:latin typeface="Noto Serif JP"/>
                <a:ea typeface="Noto Serif JP"/>
                <a:cs typeface="Noto Serif JP"/>
              </a:rPr>
              <a:t>3</a:t>
            </a:r>
          </a:p>
        </p:txBody>
      </p:sp>
      <p:sp>
        <p:nvSpPr>
          <p:cNvPr id="12" name="TextBox 11"/>
          <p:cNvSpPr txBox="1"/>
          <p:nvPr/>
        </p:nvSpPr>
        <p:spPr>
          <a:xfrm>
            <a:off x="640080" y="5532120"/>
            <a:ext cx="2011680" cy="457200"/>
          </a:xfrm>
          <a:prstGeom prst="rect">
            <a:avLst/>
          </a:prstGeom>
          <a:noFill/>
        </p:spPr>
        <p:txBody>
          <a:bodyPr wrap="square" anchor="t" lIns="0" rIns="0" tIns="0" bIns="0">
            <a:spAutoFit/>
          </a:bodyPr>
          <a:lstStyle/>
          <a:p>
            <a:pPr algn="ctr">
              <a:lnSpc>
                <a:spcPct val="105000"/>
              </a:lnSpc>
              <a:spcBef>
                <a:spcPts val="0"/>
              </a:spcBef>
              <a:spcAft>
                <a:spcPts val="0"/>
              </a:spcAft>
            </a:pPr>
            <a:r>
              <a:rPr sz="1600" b="0">
                <a:solidFill>
                  <a:srgbClr val="FFFFFF"/>
                </a:solidFill>
                <a:latin typeface="Noto Sans JP"/>
                <a:ea typeface="Noto Sans JP"/>
                <a:cs typeface="Noto Sans JP"/>
              </a:rPr>
              <a:t>実際の事例をもとに解説</a:t>
            </a:r>
          </a:p>
        </p:txBody>
      </p:sp>
      <p:sp>
        <p:nvSpPr>
          <p:cNvPr id="13" name="Rectangle 12"/>
          <p:cNvSpPr/>
          <p:nvPr/>
        </p:nvSpPr>
        <p:spPr>
          <a:xfrm>
            <a:off x="2788920" y="4983480"/>
            <a:ext cx="2011680" cy="10058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88920" y="5029200"/>
            <a:ext cx="2011680" cy="502920"/>
          </a:xfrm>
          <a:prstGeom prst="rect">
            <a:avLst/>
          </a:prstGeom>
          <a:noFill/>
        </p:spPr>
        <p:txBody>
          <a:bodyPr wrap="square" anchor="t" lIns="0" rIns="0" tIns="0" bIns="0">
            <a:spAutoFit/>
          </a:bodyPr>
          <a:lstStyle/>
          <a:p>
            <a:pPr algn="ctr">
              <a:lnSpc>
                <a:spcPct val="100000"/>
              </a:lnSpc>
              <a:spcBef>
                <a:spcPts val="0"/>
              </a:spcBef>
              <a:spcAft>
                <a:spcPts val="0"/>
              </a:spcAft>
            </a:pPr>
            <a:r>
              <a:rPr sz="2800" b="1">
                <a:solidFill>
                  <a:srgbClr val="FFFFFF"/>
                </a:solidFill>
                <a:latin typeface="Noto Serif JP"/>
                <a:ea typeface="Noto Serif JP"/>
                <a:cs typeface="Noto Serif JP"/>
              </a:rPr>
              <a:t>0円</a:t>
            </a:r>
          </a:p>
        </p:txBody>
      </p:sp>
      <p:sp>
        <p:nvSpPr>
          <p:cNvPr id="15" name="TextBox 14"/>
          <p:cNvSpPr txBox="1"/>
          <p:nvPr/>
        </p:nvSpPr>
        <p:spPr>
          <a:xfrm>
            <a:off x="2788920" y="5532120"/>
            <a:ext cx="2011680" cy="457200"/>
          </a:xfrm>
          <a:prstGeom prst="rect">
            <a:avLst/>
          </a:prstGeom>
          <a:noFill/>
        </p:spPr>
        <p:txBody>
          <a:bodyPr wrap="square" anchor="t" lIns="0" rIns="0" tIns="0" bIns="0">
            <a:spAutoFit/>
          </a:bodyPr>
          <a:lstStyle/>
          <a:p>
            <a:pPr algn="ctr">
              <a:lnSpc>
                <a:spcPct val="105000"/>
              </a:lnSpc>
              <a:spcBef>
                <a:spcPts val="0"/>
              </a:spcBef>
              <a:spcAft>
                <a:spcPts val="0"/>
              </a:spcAft>
            </a:pPr>
            <a:r>
              <a:rPr sz="1600" b="0">
                <a:solidFill>
                  <a:srgbClr val="FFFFFF"/>
                </a:solidFill>
                <a:latin typeface="Noto Sans JP"/>
                <a:ea typeface="Noto Sans JP"/>
                <a:cs typeface="Noto Sans JP"/>
              </a:rPr>
              <a:t>弁護士費用特約 依頼者負担なし</a:t>
            </a:r>
          </a:p>
        </p:txBody>
      </p:sp>
      <p:sp>
        <p:nvSpPr>
          <p:cNvPr id="16" name="Rectangle 15"/>
          <p:cNvSpPr/>
          <p:nvPr/>
        </p:nvSpPr>
        <p:spPr>
          <a:xfrm>
            <a:off x="4937760" y="4983480"/>
            <a:ext cx="2011680" cy="10058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0" y="5029200"/>
            <a:ext cx="2011680" cy="502920"/>
          </a:xfrm>
          <a:prstGeom prst="rect">
            <a:avLst/>
          </a:prstGeom>
          <a:noFill/>
        </p:spPr>
        <p:txBody>
          <a:bodyPr wrap="square" anchor="t" lIns="0" rIns="0" tIns="0" bIns="0">
            <a:spAutoFit/>
          </a:bodyPr>
          <a:lstStyle/>
          <a:p>
            <a:pPr algn="ctr">
              <a:lnSpc>
                <a:spcPct val="100000"/>
              </a:lnSpc>
              <a:spcBef>
                <a:spcPts val="0"/>
              </a:spcBef>
              <a:spcAft>
                <a:spcPts val="0"/>
              </a:spcAft>
            </a:pPr>
            <a:r>
              <a:rPr sz="2800" b="1">
                <a:solidFill>
                  <a:srgbClr val="FFFFFF"/>
                </a:solidFill>
                <a:latin typeface="Noto Serif JP"/>
                <a:ea typeface="Noto Serif JP"/>
                <a:cs typeface="Noto Serif JP"/>
              </a:rPr>
              <a:t>初回</a:t>
            </a:r>
          </a:p>
        </p:txBody>
      </p:sp>
      <p:sp>
        <p:nvSpPr>
          <p:cNvPr id="18" name="TextBox 17"/>
          <p:cNvSpPr txBox="1"/>
          <p:nvPr/>
        </p:nvSpPr>
        <p:spPr>
          <a:xfrm>
            <a:off x="4937760" y="5532120"/>
            <a:ext cx="2011680" cy="457200"/>
          </a:xfrm>
          <a:prstGeom prst="rect">
            <a:avLst/>
          </a:prstGeom>
          <a:noFill/>
        </p:spPr>
        <p:txBody>
          <a:bodyPr wrap="square" anchor="t" lIns="0" rIns="0" tIns="0" bIns="0">
            <a:spAutoFit/>
          </a:bodyPr>
          <a:lstStyle/>
          <a:p>
            <a:pPr algn="ctr">
              <a:lnSpc>
                <a:spcPct val="105000"/>
              </a:lnSpc>
              <a:spcBef>
                <a:spcPts val="0"/>
              </a:spcBef>
              <a:spcAft>
                <a:spcPts val="0"/>
              </a:spcAft>
            </a:pPr>
            <a:r>
              <a:rPr sz="1600" b="0">
                <a:solidFill>
                  <a:srgbClr val="FFFFFF"/>
                </a:solidFill>
                <a:latin typeface="Noto Sans JP"/>
                <a:ea typeface="Noto Sans JP"/>
                <a:cs typeface="Noto Sans JP"/>
              </a:rPr>
              <a:t>無料相談 対面・オンライン</a:t>
            </a:r>
          </a:p>
        </p:txBody>
      </p:sp>
      <p:sp>
        <p:nvSpPr>
          <p:cNvPr id="19" name="TextBox 18"/>
          <p:cNvSpPr txBox="1"/>
          <p:nvPr/>
        </p:nvSpPr>
        <p:spPr>
          <a:xfrm>
            <a:off x="640080" y="6263640"/>
            <a:ext cx="6400800" cy="548640"/>
          </a:xfrm>
          <a:prstGeom prst="rect">
            <a:avLst/>
          </a:prstGeom>
          <a:noFill/>
        </p:spPr>
        <p:txBody>
          <a:bodyPr wrap="square" anchor="t" lIns="0" rIns="0" tIns="0" bIns="0">
            <a:spAutoFit/>
          </a:bodyPr>
          <a:lstStyle/>
          <a:p>
            <a:pPr algn="l">
              <a:lnSpc>
                <a:spcPct val="110000"/>
              </a:lnSpc>
              <a:spcBef>
                <a:spcPts val="0"/>
              </a:spcBef>
              <a:spcAft>
                <a:spcPts val="0"/>
              </a:spcAft>
            </a:pPr>
            <a:r>
              <a:rPr sz="1600" b="1">
                <a:solidFill>
                  <a:srgbClr val="1E4D33"/>
                </a:solidFill>
                <a:latin typeface="Noto Serif JP"/>
                <a:ea typeface="Noto Serif JP"/>
                <a:cs typeface="Noto Serif JP"/>
              </a:rPr>
              <a:t>弁護士法人 相生綜合法律事務所　</a:t>
            </a:r>
            <a:r>
              <a:rPr sz="1600" b="0">
                <a:solidFill>
                  <a:srgbClr val="555555"/>
                </a:solidFill>
                <a:latin typeface="Noto Sans JP"/>
                <a:ea typeface="Noto Sans JP"/>
                <a:cs typeface="Noto Sans JP"/>
              </a:rPr>
              <a:t>代表弁護士 福島駿太（第一東京弁護士会）　2026年4月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INTRODUCTION</a:t>
            </a:r>
          </a:p>
        </p:txBody>
      </p:sp>
      <p:sp>
        <p:nvSpPr>
          <p:cNvPr id="3" name="TextBox 2"/>
          <p:cNvSpPr txBox="1"/>
          <p:nvPr/>
        </p:nvSpPr>
        <p:spPr>
          <a:xfrm>
            <a:off x="548640" y="868680"/>
            <a:ext cx="7315200" cy="914400"/>
          </a:xfrm>
          <a:prstGeom prst="rect">
            <a:avLst/>
          </a:prstGeom>
          <a:noFill/>
        </p:spPr>
        <p:txBody>
          <a:bodyPr wrap="square" anchor="t" lIns="0" rIns="0" tIns="0" bIns="0">
            <a:spAutoFit/>
          </a:bodyPr>
          <a:lstStyle/>
          <a:p>
            <a:pPr algn="l">
              <a:lnSpc>
                <a:spcPct val="110000"/>
              </a:lnSpc>
              <a:spcBef>
                <a:spcPts val="0"/>
              </a:spcBef>
              <a:spcAft>
                <a:spcPts val="0"/>
              </a:spcAft>
            </a:pPr>
            <a:r>
              <a:rPr sz="3200" b="1">
                <a:solidFill>
                  <a:srgbClr val="1E4D33"/>
                </a:solidFill>
                <a:latin typeface="Noto Serif JP"/>
                <a:ea typeface="Noto Serif JP"/>
                <a:cs typeface="Noto Serif JP"/>
              </a:rPr>
              <a:t>はじめに</a:t>
            </a:r>
          </a:p>
        </p:txBody>
      </p:sp>
      <p:pic>
        <p:nvPicPr>
          <p:cNvPr id="4" name="Picture 3" descr="01_依頼者.jpg"/>
          <p:cNvPicPr>
            <a:picLocks noChangeAspect="1"/>
          </p:cNvPicPr>
          <p:nvPr/>
        </p:nvPicPr>
        <p:blipFill>
          <a:blip r:embed="rId2"/>
          <a:srcRect l="500" r="500"/>
          <a:stretch>
            <a:fillRect/>
          </a:stretch>
        </p:blipFill>
        <p:spPr>
          <a:xfrm>
            <a:off x="8595360" y="548640"/>
            <a:ext cx="3017520" cy="2286000"/>
          </a:xfrm>
          <a:prstGeom prst="rect">
            <a:avLst/>
          </a:prstGeom>
        </p:spPr>
      </p:pic>
      <p:sp>
        <p:nvSpPr>
          <p:cNvPr id="5" name="TextBox 4"/>
          <p:cNvSpPr txBox="1"/>
          <p:nvPr/>
        </p:nvSpPr>
        <p:spPr>
          <a:xfrm>
            <a:off x="548640" y="1920240"/>
            <a:ext cx="7680960" cy="4114800"/>
          </a:xfrm>
          <a:prstGeom prst="rect">
            <a:avLst/>
          </a:prstGeom>
          <a:noFill/>
        </p:spPr>
        <p:txBody>
          <a:bodyPr wrap="square" anchor="t" lIns="0" rIns="0" tIns="0" bIns="0">
            <a:spAutoFit/>
          </a:bodyPr>
          <a:lstStyle/>
          <a:p>
            <a:pPr algn="l">
              <a:lnSpc>
                <a:spcPct val="150000"/>
              </a:lnSpc>
              <a:spcBef>
                <a:spcPts val="0"/>
              </a:spcBef>
              <a:spcAft>
                <a:spcPts val="1400"/>
              </a:spcAft>
            </a:pPr>
            <a:r>
              <a:rPr sz="1800" b="0">
                <a:solidFill>
                  <a:srgbClr val="1A1A1A"/>
                </a:solidFill>
                <a:latin typeface="Noto Sans JP"/>
                <a:ea typeface="Noto Sans JP"/>
                <a:cs typeface="Noto Sans JP"/>
              </a:rPr>
              <a:t>保険代理店の方々から、「弁護士にはいつ相談すればよいのか」「揉めていなくても依頼してよいものか」といったご質問をいただくことがあります。</a:t>
            </a:r>
          </a:p>
          <a:p>
            <a:pPr algn="l">
              <a:lnSpc>
                <a:spcPct val="150000"/>
              </a:lnSpc>
              <a:spcBef>
                <a:spcPts val="0"/>
              </a:spcBef>
              <a:spcAft>
                <a:spcPts val="1400"/>
              </a:spcAft>
            </a:pPr>
            <a:r>
              <a:rPr sz="1800" b="0">
                <a:solidFill>
                  <a:srgbClr val="1A1A1A"/>
                </a:solidFill>
                <a:latin typeface="Noto Sans JP"/>
                <a:ea typeface="Noto Sans JP"/>
                <a:cs typeface="Noto Sans JP"/>
              </a:rPr>
              <a:t>結論から申し上げると、弁護士費用特約が使える案件であれば、事故後できるだけ早い段階で弁護士につないでいただくことをお勧めします。</a:t>
            </a:r>
          </a:p>
        </p:txBody>
      </p:sp>
      <p:sp>
        <p:nvSpPr>
          <p:cNvPr id="6" name="Rectangle 5"/>
          <p:cNvSpPr/>
          <p:nvPr/>
        </p:nvSpPr>
        <p:spPr>
          <a:xfrm>
            <a:off x="8595360" y="3108960"/>
            <a:ext cx="3017520" cy="274320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23960" y="3337560"/>
            <a:ext cx="2560320" cy="2377440"/>
          </a:xfrm>
          <a:prstGeom prst="rect">
            <a:avLst/>
          </a:prstGeom>
          <a:noFill/>
        </p:spPr>
        <p:txBody>
          <a:bodyPr wrap="square" anchor="t" lIns="0" rIns="0" tIns="0" bIns="0">
            <a:spAutoFit/>
          </a:bodyPr>
          <a:lstStyle/>
          <a:p>
            <a:pPr algn="l">
              <a:lnSpc>
                <a:spcPct val="140000"/>
              </a:lnSpc>
              <a:spcBef>
                <a:spcPts val="0"/>
              </a:spcBef>
              <a:spcAft>
                <a:spcPts val="1000"/>
              </a:spcAft>
            </a:pPr>
            <a:r>
              <a:rPr sz="1600" b="1">
                <a:solidFill>
                  <a:srgbClr val="2B6444"/>
                </a:solidFill>
                <a:latin typeface="Noto Sans JP"/>
                <a:ea typeface="Noto Sans JP"/>
                <a:cs typeface="Noto Sans JP"/>
              </a:rPr>
              <a:t>POINT</a:t>
            </a:r>
          </a:p>
          <a:p>
            <a:pPr algn="l">
              <a:lnSpc>
                <a:spcPct val="140000"/>
              </a:lnSpc>
              <a:spcBef>
                <a:spcPts val="0"/>
              </a:spcBef>
              <a:spcAft>
                <a:spcPts val="1000"/>
              </a:spcAft>
            </a:pPr>
            <a:r>
              <a:rPr sz="1800" b="1">
                <a:solidFill>
                  <a:srgbClr val="1E4D33"/>
                </a:solidFill>
                <a:latin typeface="Noto Serif JP"/>
                <a:ea typeface="Noto Serif JP"/>
                <a:cs typeface="Noto Serif JP"/>
              </a:rPr>
              <a:t>弁護士費用特約が使えるなら、事故後できるだけ早い段階で弁護士へ。</a:t>
            </a:r>
          </a:p>
        </p:txBody>
      </p:sp>
      <p:sp>
        <p:nvSpPr>
          <p:cNvPr id="8" name="TextBox 7"/>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9" name="TextBox 8"/>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INTRODUCTION / 続き</a:t>
            </a:r>
          </a:p>
        </p:txBody>
      </p:sp>
      <p:sp>
        <p:nvSpPr>
          <p:cNvPr id="3" name="TextBox 2"/>
          <p:cNvSpPr txBox="1"/>
          <p:nvPr/>
        </p:nvSpPr>
        <p:spPr>
          <a:xfrm>
            <a:off x="548640" y="868680"/>
            <a:ext cx="10058400" cy="914400"/>
          </a:xfrm>
          <a:prstGeom prst="rect">
            <a:avLst/>
          </a:prstGeom>
          <a:noFill/>
        </p:spPr>
        <p:txBody>
          <a:bodyPr wrap="square" anchor="t" lIns="0" rIns="0" tIns="0" bIns="0">
            <a:spAutoFit/>
          </a:bodyPr>
          <a:lstStyle/>
          <a:p>
            <a:pPr algn="l">
              <a:lnSpc>
                <a:spcPct val="110000"/>
              </a:lnSpc>
              <a:spcBef>
                <a:spcPts val="0"/>
              </a:spcBef>
              <a:spcAft>
                <a:spcPts val="0"/>
              </a:spcAft>
            </a:pPr>
            <a:r>
              <a:rPr sz="2800" b="1">
                <a:solidFill>
                  <a:srgbClr val="1E4D33"/>
                </a:solidFill>
                <a:latin typeface="Noto Serif JP"/>
                <a:ea typeface="Noto Serif JP"/>
                <a:cs typeface="Noto Serif JP"/>
              </a:rPr>
              <a:t>はじめに（続き）</a:t>
            </a:r>
          </a:p>
        </p:txBody>
      </p:sp>
      <p:sp>
        <p:nvSpPr>
          <p:cNvPr id="4" name="TextBox 3"/>
          <p:cNvSpPr txBox="1"/>
          <p:nvPr/>
        </p:nvSpPr>
        <p:spPr>
          <a:xfrm>
            <a:off x="548640" y="1783080"/>
            <a:ext cx="11064240" cy="4206240"/>
          </a:xfrm>
          <a:prstGeom prst="rect">
            <a:avLst/>
          </a:prstGeom>
          <a:noFill/>
        </p:spPr>
        <p:txBody>
          <a:bodyPr wrap="square" anchor="t" lIns="0" rIns="0" tIns="0" bIns="0">
            <a:spAutoFit/>
          </a:bodyPr>
          <a:lstStyle/>
          <a:p>
            <a:pPr algn="l">
              <a:lnSpc>
                <a:spcPct val="155000"/>
              </a:lnSpc>
              <a:spcBef>
                <a:spcPts val="0"/>
              </a:spcBef>
              <a:spcAft>
                <a:spcPts val="1600"/>
              </a:spcAft>
            </a:pPr>
            <a:r>
              <a:rPr sz="1800" b="0">
                <a:solidFill>
                  <a:srgbClr val="1A1A1A"/>
                </a:solidFill>
                <a:latin typeface="Noto Sans JP"/>
                <a:ea typeface="Noto Sans JP"/>
                <a:cs typeface="Noto Sans JP"/>
              </a:rPr>
              <a:t>本レポートでは、実際に当事務所が対応した3つの事例を通じて、「途中から弁護士が入る」ことと「最初から弁護士が入る」ことの違いを具体的に示します。いずれの事例も、最終的には適切な解決に至っていますが、初動から弁護士が関与していれば、より早く、よりスムーズに進められたことが共通しています。</a:t>
            </a:r>
          </a:p>
          <a:p>
            <a:pPr algn="l">
              <a:lnSpc>
                <a:spcPct val="155000"/>
              </a:lnSpc>
              <a:spcBef>
                <a:spcPts val="0"/>
              </a:spcBef>
              <a:spcAft>
                <a:spcPts val="1600"/>
              </a:spcAft>
            </a:pPr>
            <a:r>
              <a:rPr sz="1800" b="0">
                <a:solidFill>
                  <a:srgbClr val="1A1A1A"/>
                </a:solidFill>
                <a:latin typeface="Noto Sans JP"/>
                <a:ea typeface="Noto Sans JP"/>
                <a:cs typeface="Noto Sans JP"/>
              </a:rPr>
              <a:t>事故後の初動に関わる方が、「まだ揉めていないから様子を見よう」ではなく、「弁護士費用特約があるなら、まず弁護士につないでおこう」という発想で動いていただくことに、依頼者にとって大きな意味があります。本レポートがその判断の一助となれば幸いです。</a:t>
            </a:r>
          </a:p>
        </p:txBody>
      </p:sp>
      <p:sp>
        <p:nvSpPr>
          <p:cNvPr id="5" name="TextBox 4"/>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6" name="TextBox 5"/>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CONTENTS</a:t>
            </a:r>
          </a:p>
        </p:txBody>
      </p:sp>
      <p:sp>
        <p:nvSpPr>
          <p:cNvPr id="3" name="TextBox 2"/>
          <p:cNvSpPr txBox="1"/>
          <p:nvPr/>
        </p:nvSpPr>
        <p:spPr>
          <a:xfrm>
            <a:off x="548640" y="868680"/>
            <a:ext cx="10058400" cy="914400"/>
          </a:xfrm>
          <a:prstGeom prst="rect">
            <a:avLst/>
          </a:prstGeom>
          <a:noFill/>
        </p:spPr>
        <p:txBody>
          <a:bodyPr wrap="square" anchor="t" lIns="0" rIns="0" tIns="0" bIns="0">
            <a:spAutoFit/>
          </a:bodyPr>
          <a:lstStyle/>
          <a:p>
            <a:pPr algn="l">
              <a:lnSpc>
                <a:spcPct val="110000"/>
              </a:lnSpc>
              <a:spcBef>
                <a:spcPts val="0"/>
              </a:spcBef>
              <a:spcAft>
                <a:spcPts val="0"/>
              </a:spcAft>
            </a:pPr>
            <a:r>
              <a:rPr sz="3200" b="1">
                <a:solidFill>
                  <a:srgbClr val="1E4D33"/>
                </a:solidFill>
                <a:latin typeface="Noto Serif JP"/>
                <a:ea typeface="Noto Serif JP"/>
                <a:cs typeface="Noto Serif JP"/>
              </a:rPr>
              <a:t>本レポートの内容</a:t>
            </a:r>
          </a:p>
        </p:txBody>
      </p:sp>
      <p:sp>
        <p:nvSpPr>
          <p:cNvPr id="4" name="Oval 3"/>
          <p:cNvSpPr/>
          <p:nvPr/>
        </p:nvSpPr>
        <p:spPr>
          <a:xfrm>
            <a:off x="548640" y="2011680"/>
            <a:ext cx="822960" cy="82296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011680"/>
            <a:ext cx="822960" cy="822960"/>
          </a:xfrm>
          <a:prstGeom prst="rect">
            <a:avLst/>
          </a:prstGeom>
          <a:noFill/>
        </p:spPr>
        <p:txBody>
          <a:bodyPr wrap="square" anchor="ctr" lIns="0" rIns="0" tIns="0" bIns="0">
            <a:spAutoFit/>
          </a:bodyPr>
          <a:lstStyle/>
          <a:p>
            <a:pPr algn="ctr">
              <a:lnSpc>
                <a:spcPct val="100000"/>
              </a:lnSpc>
              <a:spcBef>
                <a:spcPts val="0"/>
              </a:spcBef>
              <a:spcAft>
                <a:spcPts val="0"/>
              </a:spcAft>
            </a:pPr>
            <a:r>
              <a:rPr sz="2600" b="1">
                <a:solidFill>
                  <a:srgbClr val="FFFFFF"/>
                </a:solidFill>
                <a:latin typeface="Noto Serif JP"/>
                <a:ea typeface="Noto Serif JP"/>
                <a:cs typeface="Noto Serif JP"/>
              </a:rPr>
              <a:t>01</a:t>
            </a:r>
          </a:p>
        </p:txBody>
      </p:sp>
      <p:sp>
        <p:nvSpPr>
          <p:cNvPr id="6" name="TextBox 5"/>
          <p:cNvSpPr txBox="1"/>
          <p:nvPr/>
        </p:nvSpPr>
        <p:spPr>
          <a:xfrm>
            <a:off x="1645920" y="2011680"/>
            <a:ext cx="9875520" cy="822960"/>
          </a:xfrm>
          <a:prstGeom prst="rect">
            <a:avLst/>
          </a:prstGeom>
          <a:noFill/>
        </p:spPr>
        <p:txBody>
          <a:bodyPr wrap="square" anchor="ctr" lIns="0" rIns="0" tIns="0" bIns="0">
            <a:spAutoFit/>
          </a:bodyPr>
          <a:lstStyle/>
          <a:p>
            <a:pPr algn="l">
              <a:lnSpc>
                <a:spcPct val="125000"/>
              </a:lnSpc>
              <a:spcBef>
                <a:spcPts val="0"/>
              </a:spcBef>
              <a:spcAft>
                <a:spcPts val="0"/>
              </a:spcAft>
            </a:pPr>
            <a:r>
              <a:rPr sz="1900" b="0">
                <a:solidFill>
                  <a:srgbClr val="1A1A1A"/>
                </a:solidFill>
                <a:latin typeface="Noto Sans JP"/>
                <a:ea typeface="Noto Sans JP"/>
                <a:cs typeface="Noto Sans JP"/>
              </a:rPr>
              <a:t>治療費打切り後に請求漏れが見つかった事例</a:t>
            </a:r>
          </a:p>
        </p:txBody>
      </p:sp>
      <p:sp>
        <p:nvSpPr>
          <p:cNvPr id="7" name="Oval 6"/>
          <p:cNvSpPr/>
          <p:nvPr/>
        </p:nvSpPr>
        <p:spPr>
          <a:xfrm>
            <a:off x="548640" y="3035808"/>
            <a:ext cx="822960" cy="82296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035808"/>
            <a:ext cx="822960" cy="822960"/>
          </a:xfrm>
          <a:prstGeom prst="rect">
            <a:avLst/>
          </a:prstGeom>
          <a:noFill/>
        </p:spPr>
        <p:txBody>
          <a:bodyPr wrap="square" anchor="ctr" lIns="0" rIns="0" tIns="0" bIns="0">
            <a:spAutoFit/>
          </a:bodyPr>
          <a:lstStyle/>
          <a:p>
            <a:pPr algn="ctr">
              <a:lnSpc>
                <a:spcPct val="100000"/>
              </a:lnSpc>
              <a:spcBef>
                <a:spcPts val="0"/>
              </a:spcBef>
              <a:spcAft>
                <a:spcPts val="0"/>
              </a:spcAft>
            </a:pPr>
            <a:r>
              <a:rPr sz="2600" b="1">
                <a:solidFill>
                  <a:srgbClr val="FFFFFF"/>
                </a:solidFill>
                <a:latin typeface="Noto Serif JP"/>
                <a:ea typeface="Noto Serif JP"/>
                <a:cs typeface="Noto Serif JP"/>
              </a:rPr>
              <a:t>02</a:t>
            </a:r>
          </a:p>
        </p:txBody>
      </p:sp>
      <p:sp>
        <p:nvSpPr>
          <p:cNvPr id="9" name="TextBox 8"/>
          <p:cNvSpPr txBox="1"/>
          <p:nvPr/>
        </p:nvSpPr>
        <p:spPr>
          <a:xfrm>
            <a:off x="1645920" y="3035808"/>
            <a:ext cx="9875520" cy="822960"/>
          </a:xfrm>
          <a:prstGeom prst="rect">
            <a:avLst/>
          </a:prstGeom>
          <a:noFill/>
        </p:spPr>
        <p:txBody>
          <a:bodyPr wrap="square" anchor="ctr" lIns="0" rIns="0" tIns="0" bIns="0">
            <a:spAutoFit/>
          </a:bodyPr>
          <a:lstStyle/>
          <a:p>
            <a:pPr algn="l">
              <a:lnSpc>
                <a:spcPct val="125000"/>
              </a:lnSpc>
              <a:spcBef>
                <a:spcPts val="0"/>
              </a:spcBef>
              <a:spcAft>
                <a:spcPts val="0"/>
              </a:spcAft>
            </a:pPr>
            <a:r>
              <a:rPr sz="1900" b="0">
                <a:solidFill>
                  <a:srgbClr val="1A1A1A"/>
                </a:solidFill>
                <a:latin typeface="Noto Sans JP"/>
                <a:ea typeface="Noto Sans JP"/>
                <a:cs typeface="Noto Sans JP"/>
              </a:rPr>
              <a:t>後遺障害診断書の記載を修正したことで、後遺障害認定が得られた事例</a:t>
            </a:r>
          </a:p>
        </p:txBody>
      </p:sp>
      <p:sp>
        <p:nvSpPr>
          <p:cNvPr id="10" name="Oval 9"/>
          <p:cNvSpPr/>
          <p:nvPr/>
        </p:nvSpPr>
        <p:spPr>
          <a:xfrm>
            <a:off x="548640" y="4059936"/>
            <a:ext cx="822960" cy="82296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059936"/>
            <a:ext cx="822960" cy="822960"/>
          </a:xfrm>
          <a:prstGeom prst="rect">
            <a:avLst/>
          </a:prstGeom>
          <a:noFill/>
        </p:spPr>
        <p:txBody>
          <a:bodyPr wrap="square" anchor="ctr" lIns="0" rIns="0" tIns="0" bIns="0">
            <a:spAutoFit/>
          </a:bodyPr>
          <a:lstStyle/>
          <a:p>
            <a:pPr algn="ctr">
              <a:lnSpc>
                <a:spcPct val="100000"/>
              </a:lnSpc>
              <a:spcBef>
                <a:spcPts val="0"/>
              </a:spcBef>
              <a:spcAft>
                <a:spcPts val="0"/>
              </a:spcAft>
            </a:pPr>
            <a:r>
              <a:rPr sz="2600" b="1">
                <a:solidFill>
                  <a:srgbClr val="FFFFFF"/>
                </a:solidFill>
                <a:latin typeface="Noto Serif JP"/>
                <a:ea typeface="Noto Serif JP"/>
                <a:cs typeface="Noto Serif JP"/>
              </a:rPr>
              <a:t>03</a:t>
            </a:r>
          </a:p>
        </p:txBody>
      </p:sp>
      <p:sp>
        <p:nvSpPr>
          <p:cNvPr id="12" name="TextBox 11"/>
          <p:cNvSpPr txBox="1"/>
          <p:nvPr/>
        </p:nvSpPr>
        <p:spPr>
          <a:xfrm>
            <a:off x="1645920" y="4059936"/>
            <a:ext cx="9875520" cy="822960"/>
          </a:xfrm>
          <a:prstGeom prst="rect">
            <a:avLst/>
          </a:prstGeom>
          <a:noFill/>
        </p:spPr>
        <p:txBody>
          <a:bodyPr wrap="square" anchor="ctr" lIns="0" rIns="0" tIns="0" bIns="0">
            <a:spAutoFit/>
          </a:bodyPr>
          <a:lstStyle/>
          <a:p>
            <a:pPr algn="l">
              <a:lnSpc>
                <a:spcPct val="125000"/>
              </a:lnSpc>
              <a:spcBef>
                <a:spcPts val="0"/>
              </a:spcBef>
              <a:spcAft>
                <a:spcPts val="0"/>
              </a:spcAft>
            </a:pPr>
            <a:r>
              <a:rPr sz="1900" b="0">
                <a:solidFill>
                  <a:srgbClr val="1A1A1A"/>
                </a:solidFill>
                <a:latin typeface="Noto Sans JP"/>
                <a:ea typeface="Noto Sans JP"/>
                <a:cs typeface="Noto Sans JP"/>
              </a:rPr>
              <a:t>外車の修理費対応の中で評価損の請求漏れが見つかった事例</a:t>
            </a:r>
          </a:p>
        </p:txBody>
      </p:sp>
      <p:sp>
        <p:nvSpPr>
          <p:cNvPr id="13" name="Oval 12"/>
          <p:cNvSpPr/>
          <p:nvPr/>
        </p:nvSpPr>
        <p:spPr>
          <a:xfrm>
            <a:off x="548640" y="5084064"/>
            <a:ext cx="822960" cy="822960"/>
          </a:xfrm>
          <a:prstGeom prst="ellipse">
            <a:avLst/>
          </a:prstGeom>
          <a:solidFill>
            <a:srgbClr val="1E4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084064"/>
            <a:ext cx="822960" cy="822960"/>
          </a:xfrm>
          <a:prstGeom prst="rect">
            <a:avLst/>
          </a:prstGeom>
          <a:noFill/>
        </p:spPr>
        <p:txBody>
          <a:bodyPr wrap="square" anchor="ctr" lIns="0" rIns="0" tIns="0" bIns="0">
            <a:spAutoFit/>
          </a:bodyPr>
          <a:lstStyle/>
          <a:p>
            <a:pPr algn="ctr">
              <a:lnSpc>
                <a:spcPct val="100000"/>
              </a:lnSpc>
              <a:spcBef>
                <a:spcPts val="0"/>
              </a:spcBef>
              <a:spcAft>
                <a:spcPts val="0"/>
              </a:spcAft>
            </a:pPr>
            <a:r>
              <a:rPr sz="2600" b="1">
                <a:solidFill>
                  <a:srgbClr val="FFFFFF"/>
                </a:solidFill>
                <a:latin typeface="Noto Serif JP"/>
                <a:ea typeface="Noto Serif JP"/>
                <a:cs typeface="Noto Serif JP"/>
              </a:rPr>
              <a:t>結</a:t>
            </a:r>
          </a:p>
        </p:txBody>
      </p:sp>
      <p:sp>
        <p:nvSpPr>
          <p:cNvPr id="15" name="TextBox 14"/>
          <p:cNvSpPr txBox="1"/>
          <p:nvPr/>
        </p:nvSpPr>
        <p:spPr>
          <a:xfrm>
            <a:off x="1645920" y="5084064"/>
            <a:ext cx="9875520" cy="822960"/>
          </a:xfrm>
          <a:prstGeom prst="rect">
            <a:avLst/>
          </a:prstGeom>
          <a:noFill/>
        </p:spPr>
        <p:txBody>
          <a:bodyPr wrap="square" anchor="ctr" lIns="0" rIns="0" tIns="0" bIns="0">
            <a:spAutoFit/>
          </a:bodyPr>
          <a:lstStyle/>
          <a:p>
            <a:pPr algn="l">
              <a:lnSpc>
                <a:spcPct val="125000"/>
              </a:lnSpc>
              <a:spcBef>
                <a:spcPts val="0"/>
              </a:spcBef>
              <a:spcAft>
                <a:spcPts val="0"/>
              </a:spcAft>
            </a:pPr>
            <a:r>
              <a:rPr sz="1900" b="0">
                <a:solidFill>
                  <a:srgbClr val="1A1A1A"/>
                </a:solidFill>
                <a:latin typeface="Noto Sans JP"/>
                <a:ea typeface="Noto Sans JP"/>
                <a:cs typeface="Noto Sans JP"/>
              </a:rPr>
              <a:t>3つの事例に共通していること —— 初動から弁護士が関与することの利点</a:t>
            </a:r>
          </a:p>
        </p:txBody>
      </p:sp>
      <p:sp>
        <p:nvSpPr>
          <p:cNvPr id="16" name="TextBox 15"/>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7" name="TextBox 16"/>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91640"/>
          </a:xfrm>
          <a:prstGeom prst="rect">
            <a:avLst/>
          </a:prstGeom>
          <a:solidFill>
            <a:srgbClr val="1E4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875520" y="0"/>
            <a:ext cx="2377440" cy="16916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92608"/>
            <a:ext cx="3657600" cy="411480"/>
          </a:xfrm>
          <a:prstGeom prst="rect">
            <a:avLst/>
          </a:prstGeom>
          <a:noFill/>
        </p:spPr>
        <p:txBody>
          <a:bodyPr wrap="square" anchor="t" lIns="0" rIns="0" tIns="0" bIns="0">
            <a:spAutoFit/>
          </a:bodyPr>
          <a:lstStyle/>
          <a:p>
            <a:pPr algn="l">
              <a:lnSpc>
                <a:spcPct val="100000"/>
              </a:lnSpc>
              <a:spcBef>
                <a:spcPts val="0"/>
              </a:spcBef>
              <a:spcAft>
                <a:spcPts val="0"/>
              </a:spcAft>
            </a:pPr>
            <a:r>
              <a:rPr sz="1800" b="1">
                <a:solidFill>
                  <a:srgbClr val="C8DFD0"/>
                </a:solidFill>
                <a:latin typeface="Noto Sans JP"/>
                <a:ea typeface="Noto Sans JP"/>
                <a:cs typeface="Noto Sans JP"/>
              </a:rPr>
              <a:t>CASE 01</a:t>
            </a:r>
          </a:p>
        </p:txBody>
      </p:sp>
      <p:sp>
        <p:nvSpPr>
          <p:cNvPr id="5" name="TextBox 4"/>
          <p:cNvSpPr txBox="1"/>
          <p:nvPr/>
        </p:nvSpPr>
        <p:spPr>
          <a:xfrm>
            <a:off x="548640" y="640080"/>
            <a:ext cx="11064240" cy="914400"/>
          </a:xfrm>
          <a:prstGeom prst="rect">
            <a:avLst/>
          </a:prstGeom>
          <a:noFill/>
        </p:spPr>
        <p:txBody>
          <a:bodyPr wrap="square" anchor="t" lIns="0" rIns="0" tIns="0" bIns="0">
            <a:spAutoFit/>
          </a:bodyPr>
          <a:lstStyle/>
          <a:p>
            <a:pPr algn="l">
              <a:lnSpc>
                <a:spcPct val="112000"/>
              </a:lnSpc>
              <a:spcBef>
                <a:spcPts val="0"/>
              </a:spcBef>
              <a:spcAft>
                <a:spcPts val="0"/>
              </a:spcAft>
            </a:pPr>
            <a:r>
              <a:rPr sz="2600" b="1">
                <a:solidFill>
                  <a:srgbClr val="FFFFFF"/>
                </a:solidFill>
                <a:latin typeface="Noto Serif JP"/>
                <a:ea typeface="Noto Serif JP"/>
                <a:cs typeface="Noto Serif JP"/>
              </a:rPr>
              <a:t>治療費打切り後に請求漏れが見つかった事例</a:t>
            </a:r>
          </a:p>
        </p:txBody>
      </p:sp>
      <p:sp>
        <p:nvSpPr>
          <p:cNvPr id="6" name="TextBox 5"/>
          <p:cNvSpPr txBox="1"/>
          <p:nvPr/>
        </p:nvSpPr>
        <p:spPr>
          <a:xfrm>
            <a:off x="548640" y="1920240"/>
            <a:ext cx="11064240" cy="1188720"/>
          </a:xfrm>
          <a:prstGeom prst="rect">
            <a:avLst/>
          </a:prstGeom>
          <a:noFill/>
        </p:spPr>
        <p:txBody>
          <a:bodyPr wrap="square" anchor="t" lIns="0" rIns="0" tIns="0" bIns="0">
            <a:spAutoFit/>
          </a:bodyPr>
          <a:lstStyle/>
          <a:p>
            <a:pPr algn="l">
              <a:lnSpc>
                <a:spcPct val="145000"/>
              </a:lnSpc>
              <a:spcBef>
                <a:spcPts val="0"/>
              </a:spcBef>
              <a:spcAft>
                <a:spcPts val="0"/>
              </a:spcAft>
            </a:pPr>
            <a:r>
              <a:rPr sz="1700" b="0">
                <a:solidFill>
                  <a:srgbClr val="555555"/>
                </a:solidFill>
                <a:latin typeface="Noto Sans JP"/>
                <a:ea typeface="Noto Sans JP"/>
                <a:cs typeface="Noto Sans JP"/>
              </a:rPr>
              <a:t>むち打ち等で通院中、相手方保険会社から「治療費の打切り」を告げられてから初めて相談に来られるケースは少なくありません。しかし、その段階で内容を確認すると、本来請求できるはずの項目が相当程度漏れていることがあります。</a:t>
            </a:r>
          </a:p>
        </p:txBody>
      </p:sp>
      <p:sp>
        <p:nvSpPr>
          <p:cNvPr id="7" name="Oval 6"/>
          <p:cNvSpPr/>
          <p:nvPr/>
        </p:nvSpPr>
        <p:spPr>
          <a:xfrm>
            <a:off x="548640" y="329184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1</a:t>
            </a:r>
          </a:p>
        </p:txBody>
      </p:sp>
      <p:sp>
        <p:nvSpPr>
          <p:cNvPr id="8" name="TextBox 7"/>
          <p:cNvSpPr txBox="1"/>
          <p:nvPr/>
        </p:nvSpPr>
        <p:spPr>
          <a:xfrm>
            <a:off x="1188720" y="3310128"/>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相談が多い典型的な場面</a:t>
            </a:r>
          </a:p>
        </p:txBody>
      </p:sp>
      <p:sp>
        <p:nvSpPr>
          <p:cNvPr id="9" name="TextBox 8"/>
          <p:cNvSpPr txBox="1"/>
          <p:nvPr/>
        </p:nvSpPr>
        <p:spPr>
          <a:xfrm>
            <a:off x="1188720" y="3840480"/>
            <a:ext cx="10424160" cy="2377440"/>
          </a:xfrm>
          <a:prstGeom prst="rect">
            <a:avLst/>
          </a:prstGeom>
          <a:noFill/>
        </p:spPr>
        <p:txBody>
          <a:bodyPr wrap="square" anchor="t" lIns="0" rIns="0" tIns="0" bIns="0">
            <a:spAutoFit/>
          </a:bodyPr>
          <a:lstStyle/>
          <a:p>
            <a:pPr algn="l">
              <a:lnSpc>
                <a:spcPct val="150000"/>
              </a:lnSpc>
              <a:spcBef>
                <a:spcPts val="0"/>
              </a:spcBef>
              <a:spcAft>
                <a:spcPts val="0"/>
              </a:spcAft>
            </a:pPr>
            <a:r>
              <a:rPr sz="1700" b="0">
                <a:solidFill>
                  <a:srgbClr val="1A1A1A"/>
                </a:solidFill>
                <a:latin typeface="Noto Sans JP"/>
                <a:ea typeface="Noto Sans JP"/>
                <a:cs typeface="Noto Sans JP"/>
              </a:rPr>
              <a:t>交通事故の人身案件では、保険代理店様などからご紹介をいただくことが多いです。その中でも特に多いのが、お客様がむち打ち等で整骨院や整形外科に通っていて、相手方保険会社の一括対応で治療費が支払われていたものの、「今月末で治療費の支払が打切りになります」と言われ、「この後どうしたらよいでしょうか」と相談に来られるケースです。</a:t>
            </a:r>
          </a:p>
        </p:txBody>
      </p:sp>
      <p:sp>
        <p:nvSpPr>
          <p:cNvPr id="10" name="TextBox 9"/>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1" name="TextBox 10"/>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01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2</a:t>
            </a:r>
          </a:p>
        </p:txBody>
      </p:sp>
      <p:sp>
        <p:nvSpPr>
          <p:cNvPr id="4" name="TextBox 3"/>
          <p:cNvSpPr txBox="1"/>
          <p:nvPr/>
        </p:nvSpPr>
        <p:spPr>
          <a:xfrm>
            <a:off x="1188720" y="932688"/>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実際に見つかる請求漏れの内容</a:t>
            </a:r>
          </a:p>
        </p:txBody>
      </p:sp>
      <p:sp>
        <p:nvSpPr>
          <p:cNvPr id="5" name="TextBox 4"/>
          <p:cNvSpPr txBox="1"/>
          <p:nvPr/>
        </p:nvSpPr>
        <p:spPr>
          <a:xfrm>
            <a:off x="548640" y="1554480"/>
            <a:ext cx="6766560" cy="4206240"/>
          </a:xfrm>
          <a:prstGeom prst="rect">
            <a:avLst/>
          </a:prstGeom>
          <a:noFill/>
        </p:spPr>
        <p:txBody>
          <a:bodyPr wrap="square" anchor="t" lIns="0" rIns="0" tIns="0" bIns="0">
            <a:spAutoFit/>
          </a:bodyPr>
          <a:lstStyle/>
          <a:p>
            <a:pPr algn="l">
              <a:lnSpc>
                <a:spcPct val="150000"/>
              </a:lnSpc>
              <a:spcBef>
                <a:spcPts val="0"/>
              </a:spcBef>
              <a:spcAft>
                <a:spcPts val="0"/>
              </a:spcAft>
            </a:pPr>
            <a:r>
              <a:rPr sz="1700" b="0">
                <a:solidFill>
                  <a:srgbClr val="1A1A1A"/>
                </a:solidFill>
                <a:latin typeface="Noto Sans JP"/>
                <a:ea typeface="Noto Sans JP"/>
                <a:cs typeface="Noto Sans JP"/>
              </a:rPr>
              <a:t>このような場合、実際に内容を確認してみると、相手方保険会社との間でやり取りされているのが、治療費の直接支払に関する話だけであることが少なくありません。入通院慰謝料の話が全くされていないこともありますし、交通費の請求がされていないこともあります。また、自営業者や会社経営者の方であれば、本来は休業損害や営業損害を検討すべきであるにもかかわらず、その点の請求が全くされていないこともあります。つまり、本来請求できるはずの項目が、相当程度漏れてしまっていることがあるのです。</a:t>
            </a:r>
          </a:p>
        </p:txBody>
      </p:sp>
      <p:sp>
        <p:nvSpPr>
          <p:cNvPr id="6" name="Rectangle 5"/>
          <p:cNvSpPr/>
          <p:nvPr/>
        </p:nvSpPr>
        <p:spPr>
          <a:xfrm>
            <a:off x="7589520" y="1554480"/>
            <a:ext cx="4023360" cy="448056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1783080"/>
            <a:ext cx="3566160" cy="548640"/>
          </a:xfrm>
          <a:prstGeom prst="rect">
            <a:avLst/>
          </a:prstGeom>
          <a:noFill/>
        </p:spPr>
        <p:txBody>
          <a:bodyPr wrap="square" anchor="t" lIns="0" rIns="0" tIns="0" bIns="0">
            <a:spAutoFit/>
          </a:bodyPr>
          <a:lstStyle/>
          <a:p>
            <a:pPr algn="l">
              <a:lnSpc>
                <a:spcPct val="120000"/>
              </a:lnSpc>
              <a:spcBef>
                <a:spcPts val="0"/>
              </a:spcBef>
              <a:spcAft>
                <a:spcPts val="0"/>
              </a:spcAft>
            </a:pPr>
            <a:r>
              <a:rPr sz="1800" b="1">
                <a:solidFill>
                  <a:srgbClr val="1E4D33"/>
                </a:solidFill>
                <a:latin typeface="Noto Serif JP"/>
                <a:ea typeface="Noto Serif JP"/>
                <a:cs typeface="Noto Serif JP"/>
              </a:rPr>
              <a:t>請求漏れとして見つかりやすい主な項目</a:t>
            </a:r>
          </a:p>
        </p:txBody>
      </p:sp>
      <p:sp>
        <p:nvSpPr>
          <p:cNvPr id="8" name="TextBox 7"/>
          <p:cNvSpPr txBox="1"/>
          <p:nvPr/>
        </p:nvSpPr>
        <p:spPr>
          <a:xfrm>
            <a:off x="7863840" y="2514600"/>
            <a:ext cx="3566160" cy="3383280"/>
          </a:xfrm>
          <a:prstGeom prst="rect">
            <a:avLst/>
          </a:prstGeom>
          <a:noFill/>
        </p:spPr>
        <p:txBody>
          <a:bodyPr wrap="square" anchor="t" lIns="0" rIns="0" tIns="0" bIns="0">
            <a:spAutoFit/>
          </a:bodyPr>
          <a:lstStyle/>
          <a:p>
            <a:pPr algn="l">
              <a:lnSpc>
                <a:spcPct val="135000"/>
              </a:lnSpc>
              <a:spcBef>
                <a:spcPts val="0"/>
              </a:spcBef>
              <a:spcAft>
                <a:spcPts val="1200"/>
              </a:spcAft>
            </a:pPr>
            <a:r>
              <a:rPr sz="1600" b="1">
                <a:solidFill>
                  <a:srgbClr val="2B6444"/>
                </a:solidFill>
                <a:latin typeface="Noto Sans JP"/>
                <a:ea typeface="Noto Sans JP"/>
                <a:cs typeface="Noto Sans JP"/>
              </a:rPr>
              <a:t>●  </a:t>
            </a:r>
            <a:r>
              <a:rPr sz="1600" b="0">
                <a:solidFill>
                  <a:srgbClr val="1A1A1A"/>
                </a:solidFill>
                <a:latin typeface="Noto Sans JP"/>
                <a:ea typeface="Noto Sans JP"/>
                <a:cs typeface="Noto Sans JP"/>
              </a:rPr>
              <a:t>入通院慰謝料（通院期間に応じた精神的損害の補償）</a:t>
            </a:r>
          </a:p>
          <a:p>
            <a:pPr algn="l">
              <a:lnSpc>
                <a:spcPct val="135000"/>
              </a:lnSpc>
              <a:spcBef>
                <a:spcPts val="0"/>
              </a:spcBef>
              <a:spcAft>
                <a:spcPts val="1200"/>
              </a:spcAft>
            </a:pPr>
            <a:r>
              <a:rPr sz="1600" b="1">
                <a:solidFill>
                  <a:srgbClr val="2B6444"/>
                </a:solidFill>
                <a:latin typeface="Noto Sans JP"/>
                <a:ea typeface="Noto Sans JP"/>
                <a:cs typeface="Noto Sans JP"/>
              </a:rPr>
              <a:t>●  </a:t>
            </a:r>
            <a:r>
              <a:rPr sz="1600" b="0">
                <a:solidFill>
                  <a:srgbClr val="1A1A1A"/>
                </a:solidFill>
                <a:latin typeface="Noto Sans JP"/>
                <a:ea typeface="Noto Sans JP"/>
                <a:cs typeface="Noto Sans JP"/>
              </a:rPr>
              <a:t>交通費（通院時の交通機関利用料、駐車場代等）</a:t>
            </a:r>
          </a:p>
          <a:p>
            <a:pPr algn="l">
              <a:lnSpc>
                <a:spcPct val="135000"/>
              </a:lnSpc>
              <a:spcBef>
                <a:spcPts val="0"/>
              </a:spcBef>
              <a:spcAft>
                <a:spcPts val="1200"/>
              </a:spcAft>
            </a:pPr>
            <a:r>
              <a:rPr sz="1600" b="1">
                <a:solidFill>
                  <a:srgbClr val="2B6444"/>
                </a:solidFill>
                <a:latin typeface="Noto Sans JP"/>
                <a:ea typeface="Noto Sans JP"/>
                <a:cs typeface="Noto Sans JP"/>
              </a:rPr>
              <a:t>●  </a:t>
            </a:r>
            <a:r>
              <a:rPr sz="1600" b="0">
                <a:solidFill>
                  <a:srgbClr val="1A1A1A"/>
                </a:solidFill>
                <a:latin typeface="Noto Sans JP"/>
                <a:ea typeface="Noto Sans JP"/>
                <a:cs typeface="Noto Sans JP"/>
              </a:rPr>
              <a:t>休業損害（事故による収入減少の補償）</a:t>
            </a:r>
          </a:p>
          <a:p>
            <a:pPr algn="l">
              <a:lnSpc>
                <a:spcPct val="135000"/>
              </a:lnSpc>
              <a:spcBef>
                <a:spcPts val="0"/>
              </a:spcBef>
              <a:spcAft>
                <a:spcPts val="1200"/>
              </a:spcAft>
            </a:pPr>
            <a:r>
              <a:rPr sz="1600" b="1">
                <a:solidFill>
                  <a:srgbClr val="2B6444"/>
                </a:solidFill>
                <a:latin typeface="Noto Sans JP"/>
                <a:ea typeface="Noto Sans JP"/>
                <a:cs typeface="Noto Sans JP"/>
              </a:rPr>
              <a:t>●  </a:t>
            </a:r>
            <a:r>
              <a:rPr sz="1600" b="0">
                <a:solidFill>
                  <a:srgbClr val="1A1A1A"/>
                </a:solidFill>
                <a:latin typeface="Noto Sans JP"/>
                <a:ea typeface="Noto Sans JP"/>
                <a:cs typeface="Noto Sans JP"/>
              </a:rPr>
              <a:t>営業損害（自営業者・経営者に特有の損害項目）</a:t>
            </a:r>
          </a:p>
        </p:txBody>
      </p:sp>
      <p:sp>
        <p:nvSpPr>
          <p:cNvPr id="9" name="TextBox 8"/>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0" name="TextBox 9"/>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01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3</a:t>
            </a:r>
          </a:p>
        </p:txBody>
      </p:sp>
      <p:sp>
        <p:nvSpPr>
          <p:cNvPr id="4" name="TextBox 3"/>
          <p:cNvSpPr txBox="1"/>
          <p:nvPr/>
        </p:nvSpPr>
        <p:spPr>
          <a:xfrm>
            <a:off x="1188720" y="932688"/>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弁護士介入後の対応</a:t>
            </a:r>
          </a:p>
        </p:txBody>
      </p:sp>
      <p:sp>
        <p:nvSpPr>
          <p:cNvPr id="5" name="TextBox 4"/>
          <p:cNvSpPr txBox="1"/>
          <p:nvPr/>
        </p:nvSpPr>
        <p:spPr>
          <a:xfrm>
            <a:off x="548640" y="1554480"/>
            <a:ext cx="7589520" cy="4389120"/>
          </a:xfrm>
          <a:prstGeom prst="rect">
            <a:avLst/>
          </a:prstGeom>
          <a:noFill/>
        </p:spPr>
        <p:txBody>
          <a:bodyPr wrap="square" anchor="t" lIns="0" rIns="0" tIns="0" bIns="0">
            <a:spAutoFit/>
          </a:bodyPr>
          <a:lstStyle/>
          <a:p>
            <a:pPr algn="l">
              <a:lnSpc>
                <a:spcPct val="155000"/>
              </a:lnSpc>
              <a:spcBef>
                <a:spcPts val="0"/>
              </a:spcBef>
              <a:spcAft>
                <a:spcPts val="0"/>
              </a:spcAft>
            </a:pPr>
            <a:r>
              <a:rPr sz="1800" b="0">
                <a:solidFill>
                  <a:srgbClr val="1A1A1A"/>
                </a:solidFill>
                <a:latin typeface="Noto Sans JP"/>
                <a:ea typeface="Noto Sans JP"/>
                <a:cs typeface="Noto Sans JP"/>
              </a:rPr>
              <a:t>そこで弁護士が介入すると、まずは整形外科や整骨院側に、なお治療継続の必要があることを示す診断書や意見書等を作成してもらい、それを相手方保険会社に提出して、必要な範囲で治療期間の延長を求めていくことになります。そして、それと並行して、それまで見落とされていた交通費、休業損害、営業損害、入通院慰謝料などの請求項目を整理し、まとめて請求していくことになります。こうした対応をすることで、結果として適切な解決に至ることが多いです。</a:t>
            </a:r>
          </a:p>
        </p:txBody>
      </p:sp>
      <p:pic>
        <p:nvPicPr>
          <p:cNvPr id="6" name="Picture 5" descr="02_書類対応.jpg"/>
          <p:cNvPicPr>
            <a:picLocks noChangeAspect="1"/>
          </p:cNvPicPr>
          <p:nvPr/>
        </p:nvPicPr>
        <p:blipFill>
          <a:blip r:embed="rId2"/>
          <a:srcRect l="14896" r="14896"/>
          <a:stretch>
            <a:fillRect/>
          </a:stretch>
        </p:blipFill>
        <p:spPr>
          <a:xfrm>
            <a:off x="8412480" y="1554480"/>
            <a:ext cx="3200400" cy="2286000"/>
          </a:xfrm>
          <a:prstGeom prst="rect">
            <a:avLst/>
          </a:prstGeom>
        </p:spPr>
      </p:pic>
      <p:sp>
        <p:nvSpPr>
          <p:cNvPr id="7" name="TextBox 6"/>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8" name="TextBox 7"/>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01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4</a:t>
            </a:r>
          </a:p>
        </p:txBody>
      </p:sp>
      <p:sp>
        <p:nvSpPr>
          <p:cNvPr id="4" name="TextBox 3"/>
          <p:cNvSpPr txBox="1"/>
          <p:nvPr/>
        </p:nvSpPr>
        <p:spPr>
          <a:xfrm>
            <a:off x="1188720" y="932688"/>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この事例から見える問題点</a:t>
            </a:r>
          </a:p>
        </p:txBody>
      </p:sp>
      <p:sp>
        <p:nvSpPr>
          <p:cNvPr id="5" name="TextBox 4"/>
          <p:cNvSpPr txBox="1"/>
          <p:nvPr/>
        </p:nvSpPr>
        <p:spPr>
          <a:xfrm>
            <a:off x="548640" y="1554480"/>
            <a:ext cx="11064240" cy="4389120"/>
          </a:xfrm>
          <a:prstGeom prst="rect">
            <a:avLst/>
          </a:prstGeom>
          <a:noFill/>
        </p:spPr>
        <p:txBody>
          <a:bodyPr wrap="square" anchor="t" lIns="0" rIns="0" tIns="0" bIns="0">
            <a:spAutoFit/>
          </a:bodyPr>
          <a:lstStyle/>
          <a:p>
            <a:pPr algn="l">
              <a:lnSpc>
                <a:spcPct val="150000"/>
              </a:lnSpc>
              <a:spcBef>
                <a:spcPts val="0"/>
              </a:spcBef>
              <a:spcAft>
                <a:spcPts val="1400"/>
              </a:spcAft>
            </a:pPr>
            <a:r>
              <a:rPr sz="1800" b="0">
                <a:solidFill>
                  <a:srgbClr val="1A1A1A"/>
                </a:solidFill>
                <a:latin typeface="Noto Sans JP"/>
                <a:ea typeface="Noto Sans JP"/>
                <a:cs typeface="Noto Sans JP"/>
              </a:rPr>
              <a:t>もっとも、このような案件に接していていつも感じるのは、やはりもっと早い段階で相談していただいた方がよいということです。気づくのが遅れれば、それだけ依頼者のもとに入るべきお金が入ってくるのも遅れますし、請求が後ろ倒しになれば支払時期も後ろ倒しになります。その意味で、依頼者にとっては明らかに不利益です。</a:t>
            </a:r>
          </a:p>
          <a:p>
            <a:pPr algn="l">
              <a:lnSpc>
                <a:spcPct val="150000"/>
              </a:lnSpc>
              <a:spcBef>
                <a:spcPts val="0"/>
              </a:spcBef>
              <a:spcAft>
                <a:spcPts val="1400"/>
              </a:spcAft>
            </a:pPr>
            <a:r>
              <a:rPr sz="1800" b="0">
                <a:solidFill>
                  <a:srgbClr val="1A1A1A"/>
                </a:solidFill>
                <a:latin typeface="Noto Sans JP"/>
                <a:ea typeface="Noto Sans JP"/>
                <a:cs typeface="Noto Sans JP"/>
              </a:rPr>
              <a:t>また、保険会社側から見ても、いったん「この内容で終了する」という前提で社内決裁や方針整理が進んだ後に、途中から弁護士が入って治療期間の延長や追加請求を行うことになると、再度社内調整が必要になります。その結果、案件全体が長期化しやすくなります。依頼者のためにも、相手方保険会社とのやり取りを円滑に進めるためにも、最初から請求項目を整理して進めた方がよいのです。</a:t>
            </a:r>
          </a:p>
        </p:txBody>
      </p:sp>
      <p:sp>
        <p:nvSpPr>
          <p:cNvPr id="6" name="TextBox 5"/>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7" name="TextBox 6"/>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01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5</a:t>
            </a:r>
          </a:p>
        </p:txBody>
      </p:sp>
      <p:sp>
        <p:nvSpPr>
          <p:cNvPr id="4" name="TextBox 3"/>
          <p:cNvSpPr txBox="1"/>
          <p:nvPr/>
        </p:nvSpPr>
        <p:spPr>
          <a:xfrm>
            <a:off x="1188720" y="932688"/>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依頼者の受け止め方と初動対応の重要性</a:t>
            </a:r>
          </a:p>
        </p:txBody>
      </p:sp>
      <p:sp>
        <p:nvSpPr>
          <p:cNvPr id="5" name="TextBox 4"/>
          <p:cNvSpPr txBox="1"/>
          <p:nvPr/>
        </p:nvSpPr>
        <p:spPr>
          <a:xfrm>
            <a:off x="548640" y="1554480"/>
            <a:ext cx="11064240" cy="2926080"/>
          </a:xfrm>
          <a:prstGeom prst="rect">
            <a:avLst/>
          </a:prstGeom>
          <a:noFill/>
        </p:spPr>
        <p:txBody>
          <a:bodyPr wrap="square" anchor="t" lIns="0" rIns="0" tIns="0" bIns="0">
            <a:spAutoFit/>
          </a:bodyPr>
          <a:lstStyle/>
          <a:p>
            <a:pPr algn="l">
              <a:lnSpc>
                <a:spcPct val="150000"/>
              </a:lnSpc>
              <a:spcBef>
                <a:spcPts val="0"/>
              </a:spcBef>
              <a:spcAft>
                <a:spcPts val="0"/>
              </a:spcAft>
            </a:pPr>
            <a:r>
              <a:rPr sz="1800" b="0">
                <a:solidFill>
                  <a:srgbClr val="1A1A1A"/>
                </a:solidFill>
                <a:latin typeface="Noto Sans JP"/>
                <a:ea typeface="Noto Sans JP"/>
                <a:cs typeface="Noto Sans JP"/>
              </a:rPr>
              <a:t>さらに、依頼者の感覚としては、「相手方保険会社も十分に教えてくれなかった」「保険代理店もそこまで案内してくれなかった」という受け止め方になりやすいです。しかし、最初から弁護士が入っていれば、相手方保険会社としても「弁護士が関与している案件である」という前提で対応しますので、当初から請求項目を意識した整理がしやすくなります。結果として、後から修正を重ねるよりも、最初から弁護士に入ってもらった方が、むしろシンプルで早いということが多いです。</a:t>
            </a:r>
          </a:p>
        </p:txBody>
      </p:sp>
      <p:sp>
        <p:nvSpPr>
          <p:cNvPr id="6" name="Rectangle 5"/>
          <p:cNvSpPr/>
          <p:nvPr/>
        </p:nvSpPr>
        <p:spPr>
          <a:xfrm>
            <a:off x="548640" y="4572000"/>
            <a:ext cx="11064240" cy="137160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617720"/>
            <a:ext cx="10332720" cy="1280160"/>
          </a:xfrm>
          <a:prstGeom prst="rect">
            <a:avLst/>
          </a:prstGeom>
          <a:noFill/>
        </p:spPr>
        <p:txBody>
          <a:bodyPr wrap="square" anchor="ctr" lIns="0" rIns="0" tIns="0" bIns="0">
            <a:spAutoFit/>
          </a:bodyPr>
          <a:lstStyle/>
          <a:p>
            <a:pPr algn="l">
              <a:lnSpc>
                <a:spcPct val="135000"/>
              </a:lnSpc>
              <a:spcBef>
                <a:spcPts val="0"/>
              </a:spcBef>
              <a:spcAft>
                <a:spcPts val="0"/>
              </a:spcAft>
            </a:pPr>
            <a:r>
              <a:rPr sz="2000" b="1">
                <a:solidFill>
                  <a:srgbClr val="FFFFFF"/>
                </a:solidFill>
                <a:latin typeface="Noto Serif JP"/>
                <a:ea typeface="Noto Serif JP"/>
                <a:cs typeface="Noto Serif JP"/>
              </a:rPr>
              <a:t>後から修正を重ねるよりも、最初から弁護士に入ってもらった方が、むしろシンプルで早いということが多い。</a:t>
            </a:r>
          </a:p>
        </p:txBody>
      </p:sp>
      <p:sp>
        <p:nvSpPr>
          <p:cNvPr id="8" name="TextBox 7"/>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9" name="TextBox 8"/>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91640"/>
          </a:xfrm>
          <a:prstGeom prst="rect">
            <a:avLst/>
          </a:prstGeom>
          <a:solidFill>
            <a:srgbClr val="1E4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875520" y="0"/>
            <a:ext cx="2377440" cy="16916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92608"/>
            <a:ext cx="3657600" cy="411480"/>
          </a:xfrm>
          <a:prstGeom prst="rect">
            <a:avLst/>
          </a:prstGeom>
          <a:noFill/>
        </p:spPr>
        <p:txBody>
          <a:bodyPr wrap="square" anchor="t" lIns="0" rIns="0" tIns="0" bIns="0">
            <a:spAutoFit/>
          </a:bodyPr>
          <a:lstStyle/>
          <a:p>
            <a:pPr algn="l">
              <a:lnSpc>
                <a:spcPct val="100000"/>
              </a:lnSpc>
              <a:spcBef>
                <a:spcPts val="0"/>
              </a:spcBef>
              <a:spcAft>
                <a:spcPts val="0"/>
              </a:spcAft>
            </a:pPr>
            <a:r>
              <a:rPr sz="1800" b="1">
                <a:solidFill>
                  <a:srgbClr val="C8DFD0"/>
                </a:solidFill>
                <a:latin typeface="Noto Sans JP"/>
                <a:ea typeface="Noto Sans JP"/>
                <a:cs typeface="Noto Sans JP"/>
              </a:rPr>
              <a:t>CASE 02</a:t>
            </a:r>
          </a:p>
        </p:txBody>
      </p:sp>
      <p:sp>
        <p:nvSpPr>
          <p:cNvPr id="5" name="TextBox 4"/>
          <p:cNvSpPr txBox="1"/>
          <p:nvPr/>
        </p:nvSpPr>
        <p:spPr>
          <a:xfrm>
            <a:off x="548640" y="640080"/>
            <a:ext cx="11064240" cy="914400"/>
          </a:xfrm>
          <a:prstGeom prst="rect">
            <a:avLst/>
          </a:prstGeom>
          <a:noFill/>
        </p:spPr>
        <p:txBody>
          <a:bodyPr wrap="square" anchor="t" lIns="0" rIns="0" tIns="0" bIns="0">
            <a:spAutoFit/>
          </a:bodyPr>
          <a:lstStyle/>
          <a:p>
            <a:pPr algn="l">
              <a:lnSpc>
                <a:spcPct val="112000"/>
              </a:lnSpc>
              <a:spcBef>
                <a:spcPts val="0"/>
              </a:spcBef>
              <a:spcAft>
                <a:spcPts val="0"/>
              </a:spcAft>
            </a:pPr>
            <a:r>
              <a:rPr sz="2600" b="1">
                <a:solidFill>
                  <a:srgbClr val="FFFFFF"/>
                </a:solidFill>
                <a:latin typeface="Noto Serif JP"/>
                <a:ea typeface="Noto Serif JP"/>
                <a:cs typeface="Noto Serif JP"/>
              </a:rPr>
              <a:t>後遺障害診断書の記載を修正したことで</a:t>
            </a:r>
          </a:p>
          <a:p>
            <a:pPr algn="l">
              <a:lnSpc>
                <a:spcPct val="112000"/>
              </a:lnSpc>
              <a:spcBef>
                <a:spcPts val="0"/>
              </a:spcBef>
              <a:spcAft>
                <a:spcPts val="0"/>
              </a:spcAft>
            </a:pPr>
            <a:r>
              <a:rPr sz="2600" b="1">
                <a:solidFill>
                  <a:srgbClr val="FFFFFF"/>
                </a:solidFill>
                <a:latin typeface="Noto Serif JP"/>
                <a:ea typeface="Noto Serif JP"/>
                <a:cs typeface="Noto Serif JP"/>
              </a:rPr>
              <a:t>後遺障害認定が得られた事例</a:t>
            </a:r>
          </a:p>
        </p:txBody>
      </p:sp>
      <p:sp>
        <p:nvSpPr>
          <p:cNvPr id="6" name="TextBox 5"/>
          <p:cNvSpPr txBox="1"/>
          <p:nvPr/>
        </p:nvSpPr>
        <p:spPr>
          <a:xfrm>
            <a:off x="548640" y="1920240"/>
            <a:ext cx="11064240" cy="1188720"/>
          </a:xfrm>
          <a:prstGeom prst="rect">
            <a:avLst/>
          </a:prstGeom>
          <a:noFill/>
        </p:spPr>
        <p:txBody>
          <a:bodyPr wrap="square" anchor="t" lIns="0" rIns="0" tIns="0" bIns="0">
            <a:spAutoFit/>
          </a:bodyPr>
          <a:lstStyle/>
          <a:p>
            <a:pPr algn="l">
              <a:lnSpc>
                <a:spcPct val="145000"/>
              </a:lnSpc>
              <a:spcBef>
                <a:spcPts val="0"/>
              </a:spcBef>
              <a:spcAft>
                <a:spcPts val="0"/>
              </a:spcAft>
            </a:pPr>
            <a:r>
              <a:rPr sz="1700" b="0">
                <a:solidFill>
                  <a:srgbClr val="555555"/>
                </a:solidFill>
                <a:latin typeface="Noto Sans JP"/>
                <a:ea typeface="Noto Sans JP"/>
                <a:cs typeface="Noto Sans JP"/>
              </a:rPr>
              <a:t>後遺障害認定は、診断書を提出すれば自動的に得られるものではありません。認定基準との関係で、どの症状をどのように記載するかが結果を左右します。この事例は、弁護士の関与によって不認定が覆った実例です。</a:t>
            </a:r>
          </a:p>
        </p:txBody>
      </p:sp>
      <p:sp>
        <p:nvSpPr>
          <p:cNvPr id="7" name="Oval 6"/>
          <p:cNvSpPr/>
          <p:nvPr/>
        </p:nvSpPr>
        <p:spPr>
          <a:xfrm>
            <a:off x="548640" y="324612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1</a:t>
            </a:r>
          </a:p>
        </p:txBody>
      </p:sp>
      <p:sp>
        <p:nvSpPr>
          <p:cNvPr id="8" name="TextBox 7"/>
          <p:cNvSpPr txBox="1"/>
          <p:nvPr/>
        </p:nvSpPr>
        <p:spPr>
          <a:xfrm>
            <a:off x="1188720" y="3264408"/>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相談時点の状況</a:t>
            </a:r>
          </a:p>
        </p:txBody>
      </p:sp>
      <p:sp>
        <p:nvSpPr>
          <p:cNvPr id="9" name="TextBox 8"/>
          <p:cNvSpPr txBox="1"/>
          <p:nvPr/>
        </p:nvSpPr>
        <p:spPr>
          <a:xfrm>
            <a:off x="1188720" y="3794760"/>
            <a:ext cx="10424160" cy="2377440"/>
          </a:xfrm>
          <a:prstGeom prst="rect">
            <a:avLst/>
          </a:prstGeom>
          <a:noFill/>
        </p:spPr>
        <p:txBody>
          <a:bodyPr wrap="square" anchor="t" lIns="0" rIns="0" tIns="0" bIns="0">
            <a:spAutoFit/>
          </a:bodyPr>
          <a:lstStyle/>
          <a:p>
            <a:pPr algn="l">
              <a:lnSpc>
                <a:spcPct val="150000"/>
              </a:lnSpc>
              <a:spcBef>
                <a:spcPts val="0"/>
              </a:spcBef>
              <a:spcAft>
                <a:spcPts val="0"/>
              </a:spcAft>
            </a:pPr>
            <a:r>
              <a:rPr sz="1700" b="0">
                <a:solidFill>
                  <a:srgbClr val="1A1A1A"/>
                </a:solidFill>
                <a:latin typeface="Noto Sans JP"/>
                <a:ea typeface="Noto Sans JP"/>
                <a:cs typeface="Noto Sans JP"/>
              </a:rPr>
              <a:t>次に、後遺障害診断書の記載を修正したことで、最終的に後遺障害認定が得られた事例があります。この件は、保険代理店からお客様をご紹介いただいたものでした。相談時点では、すでに後遺障害診断書を取得し、後遺障害認定機関に提出済みという状況でした。</a:t>
            </a:r>
          </a:p>
        </p:txBody>
      </p:sp>
      <p:sp>
        <p:nvSpPr>
          <p:cNvPr id="10" name="TextBox 9"/>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1" name="TextBox 10"/>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02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2</a:t>
            </a:r>
          </a:p>
        </p:txBody>
      </p:sp>
      <p:sp>
        <p:nvSpPr>
          <p:cNvPr id="4" name="TextBox 3"/>
          <p:cNvSpPr txBox="1"/>
          <p:nvPr/>
        </p:nvSpPr>
        <p:spPr>
          <a:xfrm>
            <a:off x="1188720" y="932688"/>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一度は不認定となった経緯</a:t>
            </a:r>
          </a:p>
        </p:txBody>
      </p:sp>
      <p:sp>
        <p:nvSpPr>
          <p:cNvPr id="5" name="TextBox 4"/>
          <p:cNvSpPr txBox="1"/>
          <p:nvPr/>
        </p:nvSpPr>
        <p:spPr>
          <a:xfrm>
            <a:off x="548640" y="1508760"/>
            <a:ext cx="11064240" cy="2377440"/>
          </a:xfrm>
          <a:prstGeom prst="rect">
            <a:avLst/>
          </a:prstGeom>
          <a:noFill/>
        </p:spPr>
        <p:txBody>
          <a:bodyPr wrap="square" anchor="t" lIns="0" rIns="0" tIns="0" bIns="0">
            <a:spAutoFit/>
          </a:bodyPr>
          <a:lstStyle/>
          <a:p>
            <a:pPr algn="l">
              <a:lnSpc>
                <a:spcPct val="145000"/>
              </a:lnSpc>
              <a:spcBef>
                <a:spcPts val="0"/>
              </a:spcBef>
              <a:spcAft>
                <a:spcPts val="0"/>
              </a:spcAft>
            </a:pPr>
            <a:r>
              <a:rPr sz="1700" b="0">
                <a:solidFill>
                  <a:srgbClr val="1A1A1A"/>
                </a:solidFill>
                <a:latin typeface="Noto Sans JP"/>
                <a:ea typeface="Noto Sans JP"/>
                <a:cs typeface="Noto Sans JP"/>
              </a:rPr>
              <a:t>もっとも、その段階ではすでに提出が済んでいたため、まずは結果を待つしかありませんでした。そして、実際に結果が出てみると、不認定という判断になっていました。そこで改めて弁護士が介入し、診断書を作成した整形外科医と面談又は協議を行い、どのような症状をどのように記載すべきか、どの点が認定上重要になるのかを整理したうえで、診断書の内容を適切に修正してもらいました。その修正版を再度提出したところ、最終的には後遺障害認定を得ることができました。</a:t>
            </a:r>
          </a:p>
        </p:txBody>
      </p:sp>
      <p:sp>
        <p:nvSpPr>
          <p:cNvPr id="6" name="Oval 5"/>
          <p:cNvSpPr/>
          <p:nvPr/>
        </p:nvSpPr>
        <p:spPr>
          <a:xfrm>
            <a:off x="548640" y="41148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3</a:t>
            </a:r>
          </a:p>
        </p:txBody>
      </p:sp>
      <p:sp>
        <p:nvSpPr>
          <p:cNvPr id="7" name="TextBox 6"/>
          <p:cNvSpPr txBox="1"/>
          <p:nvPr/>
        </p:nvSpPr>
        <p:spPr>
          <a:xfrm>
            <a:off x="1188720" y="4133087"/>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この事例から分かること</a:t>
            </a:r>
          </a:p>
        </p:txBody>
      </p:sp>
      <p:sp>
        <p:nvSpPr>
          <p:cNvPr id="8" name="TextBox 7"/>
          <p:cNvSpPr txBox="1"/>
          <p:nvPr/>
        </p:nvSpPr>
        <p:spPr>
          <a:xfrm>
            <a:off x="1188720" y="4663440"/>
            <a:ext cx="10424160" cy="1737360"/>
          </a:xfrm>
          <a:prstGeom prst="rect">
            <a:avLst/>
          </a:prstGeom>
          <a:noFill/>
        </p:spPr>
        <p:txBody>
          <a:bodyPr wrap="square" anchor="t" lIns="0" rIns="0" tIns="0" bIns="0">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この事例から分かるのは、自分でできるところまでやってから途中で弁護士に依頼するという進め方は、一見すると効率的に見えても、実際にはそうとは限らないということです。いったん不認定という結果が出てしまうと、そこから再度やり直す必要があり、時間も労力も余分にかかります。最初から弁護士が関与していれば、後遺障害認定を見据えた形で診断書の記載内容や必要資料を整理しながら進めることができたはずです。</a:t>
            </a:r>
          </a:p>
        </p:txBody>
      </p:sp>
      <p:sp>
        <p:nvSpPr>
          <p:cNvPr id="9" name="TextBox 8"/>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0" name="TextBox 9"/>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02 / 続き</a:t>
            </a:r>
          </a:p>
        </p:txBody>
      </p:sp>
      <p:sp>
        <p:nvSpPr>
          <p:cNvPr id="3" name="Rectangle 2"/>
          <p:cNvSpPr/>
          <p:nvPr/>
        </p:nvSpPr>
        <p:spPr>
          <a:xfrm>
            <a:off x="548640" y="914400"/>
            <a:ext cx="11064240" cy="137160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005840"/>
            <a:ext cx="10424160" cy="1188720"/>
          </a:xfrm>
          <a:prstGeom prst="rect">
            <a:avLst/>
          </a:prstGeom>
          <a:noFill/>
        </p:spPr>
        <p:txBody>
          <a:bodyPr wrap="square" anchor="ctr" lIns="0" rIns="0" tIns="0" bIns="0">
            <a:spAutoFit/>
          </a:bodyPr>
          <a:lstStyle/>
          <a:p>
            <a:pPr algn="l">
              <a:lnSpc>
                <a:spcPct val="140000"/>
              </a:lnSpc>
              <a:spcBef>
                <a:spcPts val="0"/>
              </a:spcBef>
              <a:spcAft>
                <a:spcPts val="0"/>
              </a:spcAft>
            </a:pPr>
            <a:r>
              <a:rPr sz="1800" b="1">
                <a:solidFill>
                  <a:srgbClr val="1E4D33"/>
                </a:solidFill>
                <a:latin typeface="Noto Serif JP"/>
                <a:ea typeface="Noto Serif JP"/>
                <a:cs typeface="Noto Serif JP"/>
              </a:rPr>
              <a:t>後遺障害認定は、診断書の記載内容が結果を直接左右します。最初から弁護士が関与することで、認定基準を踏まえた準備が可能となり、不認定からのやり直しを防ぐことができます。</a:t>
            </a:r>
          </a:p>
        </p:txBody>
      </p:sp>
      <p:sp>
        <p:nvSpPr>
          <p:cNvPr id="5" name="TextBox 4"/>
          <p:cNvSpPr txBox="1"/>
          <p:nvPr/>
        </p:nvSpPr>
        <p:spPr>
          <a:xfrm>
            <a:off x="548640" y="2651760"/>
            <a:ext cx="758952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後遺障害の場面で重要な視点</a:t>
            </a:r>
          </a:p>
        </p:txBody>
      </p:sp>
      <p:sp>
        <p:nvSpPr>
          <p:cNvPr id="6" name="TextBox 5"/>
          <p:cNvSpPr txBox="1"/>
          <p:nvPr/>
        </p:nvSpPr>
        <p:spPr>
          <a:xfrm>
            <a:off x="548640" y="3246120"/>
            <a:ext cx="7589520" cy="2926080"/>
          </a:xfrm>
          <a:prstGeom prst="rect">
            <a:avLst/>
          </a:prstGeom>
          <a:noFill/>
        </p:spPr>
        <p:txBody>
          <a:bodyPr wrap="square" anchor="t" lIns="0" rIns="0" tIns="0" bIns="0">
            <a:spAutoFit/>
          </a:bodyPr>
          <a:lstStyle/>
          <a:p>
            <a:pPr algn="l">
              <a:lnSpc>
                <a:spcPct val="150000"/>
              </a:lnSpc>
              <a:spcBef>
                <a:spcPts val="0"/>
              </a:spcBef>
              <a:spcAft>
                <a:spcPts val="0"/>
              </a:spcAft>
            </a:pPr>
            <a:r>
              <a:rPr sz="1700" b="0">
                <a:solidFill>
                  <a:srgbClr val="1A1A1A"/>
                </a:solidFill>
                <a:latin typeface="Noto Sans JP"/>
                <a:ea typeface="Noto Sans JP"/>
                <a:cs typeface="Noto Sans JP"/>
              </a:rPr>
              <a:t>特に後遺障害の場面では、単に診断書を出せばよいというものではなく、認定基準との関係で、どの症状をどのように記載するかが非常に重要です。そこは一般の方が当然に理解できる領域ではありませんし、医師側も認定実務を前提とした記載のポイントまで十分に把握しているとは限りません。だからこそ、認定を見据えた段階で弁護士が関与していることに意味があります。</a:t>
            </a:r>
          </a:p>
        </p:txBody>
      </p:sp>
      <p:pic>
        <p:nvPicPr>
          <p:cNvPr id="7" name="Picture 6" descr="03_法律書籍.jpg"/>
          <p:cNvPicPr>
            <a:picLocks noChangeAspect="1"/>
          </p:cNvPicPr>
          <p:nvPr/>
        </p:nvPicPr>
        <p:blipFill>
          <a:blip r:embed="rId2"/>
          <a:srcRect l="17581" r="17581"/>
          <a:stretch>
            <a:fillRect/>
          </a:stretch>
        </p:blipFill>
        <p:spPr>
          <a:xfrm>
            <a:off x="8412480" y="2651760"/>
            <a:ext cx="3200400" cy="3108960"/>
          </a:xfrm>
          <a:prstGeom prst="rect">
            <a:avLst/>
          </a:prstGeom>
        </p:spPr>
      </p:pic>
      <p:sp>
        <p:nvSpPr>
          <p:cNvPr id="8" name="TextBox 7"/>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9" name="TextBox 8"/>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02 / 続き</a:t>
            </a:r>
          </a:p>
        </p:txBody>
      </p:sp>
      <p:sp>
        <p:nvSpPr>
          <p:cNvPr id="3" name="TextBox 2"/>
          <p:cNvSpPr txBox="1"/>
          <p:nvPr/>
        </p:nvSpPr>
        <p:spPr>
          <a:xfrm>
            <a:off x="548640" y="914400"/>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200" b="1">
                <a:solidFill>
                  <a:srgbClr val="1E4D33"/>
                </a:solidFill>
                <a:latin typeface="Noto Serif JP"/>
                <a:ea typeface="Noto Serif JP"/>
                <a:cs typeface="Noto Serif JP"/>
              </a:rPr>
              <a:t>初動から弁護士が関与する意義</a:t>
            </a:r>
          </a:p>
        </p:txBody>
      </p:sp>
      <p:sp>
        <p:nvSpPr>
          <p:cNvPr id="4" name="Rectangle 3"/>
          <p:cNvSpPr/>
          <p:nvPr/>
        </p:nvSpPr>
        <p:spPr>
          <a:xfrm>
            <a:off x="548640" y="1645920"/>
            <a:ext cx="11064240" cy="64008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10424160" cy="640080"/>
          </a:xfrm>
          <a:prstGeom prst="rect">
            <a:avLst/>
          </a:prstGeom>
          <a:noFill/>
        </p:spPr>
        <p:txBody>
          <a:bodyPr wrap="square" anchor="ctr" lIns="0" rIns="0" tIns="0" bIns="0">
            <a:spAutoFit/>
          </a:bodyPr>
          <a:lstStyle/>
          <a:p>
            <a:pPr algn="l">
              <a:lnSpc>
                <a:spcPct val="100000"/>
              </a:lnSpc>
              <a:spcBef>
                <a:spcPts val="0"/>
              </a:spcBef>
              <a:spcAft>
                <a:spcPts val="0"/>
              </a:spcAft>
            </a:pPr>
            <a:r>
              <a:rPr sz="2000" b="1">
                <a:solidFill>
                  <a:srgbClr val="FFFFFF"/>
                </a:solidFill>
                <a:latin typeface="Noto Serif JP"/>
                <a:ea typeface="Noto Serif JP"/>
                <a:cs typeface="Noto Serif JP"/>
              </a:rPr>
              <a:t>後遺障害認定において弁護士が果たす役割</a:t>
            </a:r>
          </a:p>
        </p:txBody>
      </p:sp>
      <p:sp>
        <p:nvSpPr>
          <p:cNvPr id="6" name="Rectangle 5"/>
          <p:cNvSpPr/>
          <p:nvPr/>
        </p:nvSpPr>
        <p:spPr>
          <a:xfrm>
            <a:off x="548640" y="2606040"/>
            <a:ext cx="11064240" cy="96012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852928"/>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1</a:t>
            </a:r>
          </a:p>
        </p:txBody>
      </p:sp>
      <p:sp>
        <p:nvSpPr>
          <p:cNvPr id="8" name="TextBox 7"/>
          <p:cNvSpPr txBox="1"/>
          <p:nvPr/>
        </p:nvSpPr>
        <p:spPr>
          <a:xfrm>
            <a:off x="1554480" y="2606040"/>
            <a:ext cx="9875520" cy="960120"/>
          </a:xfrm>
          <a:prstGeom prst="rect">
            <a:avLst/>
          </a:prstGeom>
          <a:noFill/>
        </p:spPr>
        <p:txBody>
          <a:bodyPr wrap="square" anchor="ctr" lIns="0" rIns="0" tIns="0" bIns="0">
            <a:spAutoFit/>
          </a:bodyPr>
          <a:lstStyle/>
          <a:p>
            <a:pPr algn="l">
              <a:lnSpc>
                <a:spcPct val="125000"/>
              </a:lnSpc>
              <a:spcBef>
                <a:spcPts val="0"/>
              </a:spcBef>
              <a:spcAft>
                <a:spcPts val="0"/>
              </a:spcAft>
            </a:pPr>
            <a:r>
              <a:rPr sz="1900" b="1">
                <a:solidFill>
                  <a:srgbClr val="1E4D33"/>
                </a:solidFill>
                <a:latin typeface="Noto Sans JP"/>
                <a:ea typeface="Noto Sans JP"/>
                <a:cs typeface="Noto Sans JP"/>
              </a:rPr>
              <a:t>認定基準を踏まえた診断書記載のポイントを医師に伝える</a:t>
            </a:r>
          </a:p>
        </p:txBody>
      </p:sp>
      <p:sp>
        <p:nvSpPr>
          <p:cNvPr id="9" name="Rectangle 8"/>
          <p:cNvSpPr/>
          <p:nvPr/>
        </p:nvSpPr>
        <p:spPr>
          <a:xfrm>
            <a:off x="548640" y="3749040"/>
            <a:ext cx="11064240" cy="96012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 y="3995928"/>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2</a:t>
            </a:r>
          </a:p>
        </p:txBody>
      </p:sp>
      <p:sp>
        <p:nvSpPr>
          <p:cNvPr id="11" name="TextBox 10"/>
          <p:cNvSpPr txBox="1"/>
          <p:nvPr/>
        </p:nvSpPr>
        <p:spPr>
          <a:xfrm>
            <a:off x="1554480" y="3749040"/>
            <a:ext cx="9875520" cy="960120"/>
          </a:xfrm>
          <a:prstGeom prst="rect">
            <a:avLst/>
          </a:prstGeom>
          <a:noFill/>
        </p:spPr>
        <p:txBody>
          <a:bodyPr wrap="square" anchor="ctr" lIns="0" rIns="0" tIns="0" bIns="0">
            <a:spAutoFit/>
          </a:bodyPr>
          <a:lstStyle/>
          <a:p>
            <a:pPr algn="l">
              <a:lnSpc>
                <a:spcPct val="125000"/>
              </a:lnSpc>
              <a:spcBef>
                <a:spcPts val="0"/>
              </a:spcBef>
              <a:spcAft>
                <a:spcPts val="0"/>
              </a:spcAft>
            </a:pPr>
            <a:r>
              <a:rPr sz="1900" b="1">
                <a:solidFill>
                  <a:srgbClr val="1E4D33"/>
                </a:solidFill>
                <a:latin typeface="Noto Sans JP"/>
                <a:ea typeface="Noto Sans JP"/>
                <a:cs typeface="Noto Sans JP"/>
              </a:rPr>
              <a:t>認定に必要な検査・画像資料を初期段階から整備する</a:t>
            </a:r>
          </a:p>
        </p:txBody>
      </p:sp>
      <p:sp>
        <p:nvSpPr>
          <p:cNvPr id="12" name="Rectangle 11"/>
          <p:cNvSpPr/>
          <p:nvPr/>
        </p:nvSpPr>
        <p:spPr>
          <a:xfrm>
            <a:off x="548640" y="4892040"/>
            <a:ext cx="11064240" cy="96012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5138928"/>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3</a:t>
            </a:r>
          </a:p>
        </p:txBody>
      </p:sp>
      <p:sp>
        <p:nvSpPr>
          <p:cNvPr id="14" name="TextBox 13"/>
          <p:cNvSpPr txBox="1"/>
          <p:nvPr/>
        </p:nvSpPr>
        <p:spPr>
          <a:xfrm>
            <a:off x="1554480" y="4892040"/>
            <a:ext cx="9875520" cy="960120"/>
          </a:xfrm>
          <a:prstGeom prst="rect">
            <a:avLst/>
          </a:prstGeom>
          <a:noFill/>
        </p:spPr>
        <p:txBody>
          <a:bodyPr wrap="square" anchor="ctr" lIns="0" rIns="0" tIns="0" bIns="0">
            <a:spAutoFit/>
          </a:bodyPr>
          <a:lstStyle/>
          <a:p>
            <a:pPr algn="l">
              <a:lnSpc>
                <a:spcPct val="125000"/>
              </a:lnSpc>
              <a:spcBef>
                <a:spcPts val="0"/>
              </a:spcBef>
              <a:spcAft>
                <a:spcPts val="0"/>
              </a:spcAft>
            </a:pPr>
            <a:r>
              <a:rPr sz="1900" b="1">
                <a:solidFill>
                  <a:srgbClr val="1E4D33"/>
                </a:solidFill>
                <a:latin typeface="Noto Sans JP"/>
                <a:ea typeface="Noto Sans JP"/>
                <a:cs typeface="Noto Sans JP"/>
              </a:rPr>
              <a:t>不認定の場合の異議申立を視野に入れた準備を並行して進める</a:t>
            </a:r>
          </a:p>
        </p:txBody>
      </p:sp>
      <p:sp>
        <p:nvSpPr>
          <p:cNvPr id="15" name="TextBox 14"/>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6" name="TextBox 15"/>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91640"/>
          </a:xfrm>
          <a:prstGeom prst="rect">
            <a:avLst/>
          </a:prstGeom>
          <a:solidFill>
            <a:srgbClr val="1E4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875520" y="0"/>
            <a:ext cx="2377440" cy="16916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92608"/>
            <a:ext cx="3657600" cy="411480"/>
          </a:xfrm>
          <a:prstGeom prst="rect">
            <a:avLst/>
          </a:prstGeom>
          <a:noFill/>
        </p:spPr>
        <p:txBody>
          <a:bodyPr wrap="square" anchor="t" lIns="0" rIns="0" tIns="0" bIns="0">
            <a:spAutoFit/>
          </a:bodyPr>
          <a:lstStyle/>
          <a:p>
            <a:pPr algn="l">
              <a:lnSpc>
                <a:spcPct val="100000"/>
              </a:lnSpc>
              <a:spcBef>
                <a:spcPts val="0"/>
              </a:spcBef>
              <a:spcAft>
                <a:spcPts val="0"/>
              </a:spcAft>
            </a:pPr>
            <a:r>
              <a:rPr sz="1800" b="1">
                <a:solidFill>
                  <a:srgbClr val="C8DFD0"/>
                </a:solidFill>
                <a:latin typeface="Noto Sans JP"/>
                <a:ea typeface="Noto Sans JP"/>
                <a:cs typeface="Noto Sans JP"/>
              </a:rPr>
              <a:t>CASE 03</a:t>
            </a:r>
          </a:p>
        </p:txBody>
      </p:sp>
      <p:sp>
        <p:nvSpPr>
          <p:cNvPr id="5" name="TextBox 4"/>
          <p:cNvSpPr txBox="1"/>
          <p:nvPr/>
        </p:nvSpPr>
        <p:spPr>
          <a:xfrm>
            <a:off x="548640" y="640080"/>
            <a:ext cx="11064240" cy="914400"/>
          </a:xfrm>
          <a:prstGeom prst="rect">
            <a:avLst/>
          </a:prstGeom>
          <a:noFill/>
        </p:spPr>
        <p:txBody>
          <a:bodyPr wrap="square" anchor="t" lIns="0" rIns="0" tIns="0" bIns="0">
            <a:spAutoFit/>
          </a:bodyPr>
          <a:lstStyle/>
          <a:p>
            <a:pPr algn="l">
              <a:lnSpc>
                <a:spcPct val="112000"/>
              </a:lnSpc>
              <a:spcBef>
                <a:spcPts val="0"/>
              </a:spcBef>
              <a:spcAft>
                <a:spcPts val="0"/>
              </a:spcAft>
            </a:pPr>
            <a:r>
              <a:rPr sz="2600" b="1">
                <a:solidFill>
                  <a:srgbClr val="FFFFFF"/>
                </a:solidFill>
                <a:latin typeface="Noto Serif JP"/>
                <a:ea typeface="Noto Serif JP"/>
                <a:cs typeface="Noto Serif JP"/>
              </a:rPr>
              <a:t>外車の修理費対応の中で評価損の請求漏れが見つかった事例</a:t>
            </a:r>
          </a:p>
        </p:txBody>
      </p:sp>
      <p:sp>
        <p:nvSpPr>
          <p:cNvPr id="6" name="TextBox 5"/>
          <p:cNvSpPr txBox="1"/>
          <p:nvPr/>
        </p:nvSpPr>
        <p:spPr>
          <a:xfrm>
            <a:off x="548640" y="1920240"/>
            <a:ext cx="11064240" cy="1280160"/>
          </a:xfrm>
          <a:prstGeom prst="rect">
            <a:avLst/>
          </a:prstGeom>
          <a:noFill/>
        </p:spPr>
        <p:txBody>
          <a:bodyPr wrap="square" anchor="t" lIns="0" rIns="0" tIns="0" bIns="0">
            <a:spAutoFit/>
          </a:bodyPr>
          <a:lstStyle/>
          <a:p>
            <a:pPr algn="l">
              <a:lnSpc>
                <a:spcPct val="145000"/>
              </a:lnSpc>
              <a:spcBef>
                <a:spcPts val="0"/>
              </a:spcBef>
              <a:spcAft>
                <a:spcPts val="0"/>
              </a:spcAft>
            </a:pPr>
            <a:r>
              <a:rPr sz="1700" b="0">
                <a:solidFill>
                  <a:srgbClr val="555555"/>
                </a:solidFill>
                <a:latin typeface="Noto Sans JP"/>
                <a:ea typeface="Noto Sans JP"/>
                <a:cs typeface="Noto Sans JP"/>
              </a:rPr>
              <a:t>修理費が支払われれば損害賠償は完結する——そう思われがちですが、外車・高額車両・購入間もない車両の場合は、「評価損」という論点が生じることがあります。弁護士が介入したことで、この請求漏れに気づいた事例です。</a:t>
            </a:r>
          </a:p>
        </p:txBody>
      </p:sp>
      <p:sp>
        <p:nvSpPr>
          <p:cNvPr id="7" name="Oval 6"/>
          <p:cNvSpPr/>
          <p:nvPr/>
        </p:nvSpPr>
        <p:spPr>
          <a:xfrm>
            <a:off x="548640" y="333756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1</a:t>
            </a:r>
          </a:p>
        </p:txBody>
      </p:sp>
      <p:sp>
        <p:nvSpPr>
          <p:cNvPr id="8" name="TextBox 7"/>
          <p:cNvSpPr txBox="1"/>
          <p:nvPr/>
        </p:nvSpPr>
        <p:spPr>
          <a:xfrm>
            <a:off x="1188720" y="3355848"/>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事案の概要</a:t>
            </a:r>
          </a:p>
        </p:txBody>
      </p:sp>
      <p:sp>
        <p:nvSpPr>
          <p:cNvPr id="9" name="TextBox 8"/>
          <p:cNvSpPr txBox="1"/>
          <p:nvPr/>
        </p:nvSpPr>
        <p:spPr>
          <a:xfrm>
            <a:off x="1188720" y="3886200"/>
            <a:ext cx="10424160" cy="2286000"/>
          </a:xfrm>
          <a:prstGeom prst="rect">
            <a:avLst/>
          </a:prstGeom>
          <a:noFill/>
        </p:spPr>
        <p:txBody>
          <a:bodyPr wrap="square" anchor="t" lIns="0" rIns="0" tIns="0" bIns="0">
            <a:spAutoFit/>
          </a:bodyPr>
          <a:lstStyle/>
          <a:p>
            <a:pPr algn="l">
              <a:lnSpc>
                <a:spcPct val="150000"/>
              </a:lnSpc>
              <a:spcBef>
                <a:spcPts val="0"/>
              </a:spcBef>
              <a:spcAft>
                <a:spcPts val="0"/>
              </a:spcAft>
            </a:pPr>
            <a:r>
              <a:rPr sz="1700" b="0">
                <a:solidFill>
                  <a:srgbClr val="1A1A1A"/>
                </a:solidFill>
                <a:latin typeface="Noto Sans JP"/>
                <a:ea typeface="Noto Sans JP"/>
                <a:cs typeface="Noto Sans JP"/>
              </a:rPr>
              <a:t>3件目は、自動車修理に関する事例です。この案件では、対象車両が外車であり、しかも購入からまだ1年も経っていない車でした。その車両を修理に出したものの、相手方との調整がなかなかうまく進まず、保険代理店様を通じて弁護士に相談が来たという事案です。</a:t>
            </a:r>
          </a:p>
        </p:txBody>
      </p:sp>
      <p:sp>
        <p:nvSpPr>
          <p:cNvPr id="10" name="TextBox 9"/>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1" name="TextBox 10"/>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03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2</a:t>
            </a:r>
          </a:p>
        </p:txBody>
      </p:sp>
      <p:sp>
        <p:nvSpPr>
          <p:cNvPr id="4" name="TextBox 3"/>
          <p:cNvSpPr txBox="1"/>
          <p:nvPr/>
        </p:nvSpPr>
        <p:spPr>
          <a:xfrm>
            <a:off x="1188720" y="932688"/>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修理費だけでは足りなかった理由</a:t>
            </a:r>
          </a:p>
        </p:txBody>
      </p:sp>
      <p:sp>
        <p:nvSpPr>
          <p:cNvPr id="5" name="TextBox 4"/>
          <p:cNvSpPr txBox="1"/>
          <p:nvPr/>
        </p:nvSpPr>
        <p:spPr>
          <a:xfrm>
            <a:off x="548640" y="1508760"/>
            <a:ext cx="7589520" cy="3657600"/>
          </a:xfrm>
          <a:prstGeom prst="rect">
            <a:avLst/>
          </a:prstGeom>
          <a:noFill/>
        </p:spPr>
        <p:txBody>
          <a:bodyPr wrap="square" anchor="t" lIns="0" rIns="0" tIns="0" bIns="0">
            <a:spAutoFit/>
          </a:bodyPr>
          <a:lstStyle/>
          <a:p>
            <a:pPr algn="l">
              <a:lnSpc>
                <a:spcPct val="145000"/>
              </a:lnSpc>
              <a:spcBef>
                <a:spcPts val="0"/>
              </a:spcBef>
              <a:spcAft>
                <a:spcPts val="0"/>
              </a:spcAft>
            </a:pPr>
            <a:r>
              <a:rPr sz="1600" b="0">
                <a:solidFill>
                  <a:srgbClr val="1A1A1A"/>
                </a:solidFill>
                <a:latin typeface="Noto Sans JP"/>
                <a:ea typeface="Noto Sans JP"/>
                <a:cs typeface="Noto Sans JP"/>
              </a:rPr>
              <a:t>もともとは、修理見積書を作成し、その金額を相手方保険会社に提出して対応してもらう予定でした。しかし、弁護士が介入して内容を確認したところ、修理費の請求だけではなく、評価損も請求できる事例であることが分かりました。外車で、しかも購入後1年未満という条件ですので、修理によって物理的には元どおり使用できるようになったとしても、事故歴が付くことで将来売却時の市場価値が下がり、売れにくくなる可能性があります。つまり、このようなケースでは、単に修理費が支払われれば足りるのではなく、評価損についても併せて請求すべき事例です。</a:t>
            </a:r>
          </a:p>
        </p:txBody>
      </p:sp>
      <p:pic>
        <p:nvPicPr>
          <p:cNvPr id="6" name="Picture 5" descr="04_評価損.jpg"/>
          <p:cNvPicPr>
            <a:picLocks noChangeAspect="1"/>
          </p:cNvPicPr>
          <p:nvPr/>
        </p:nvPicPr>
        <p:blipFill>
          <a:blip r:embed="rId2"/>
          <a:srcRect l="1244" r="1244"/>
          <a:stretch>
            <a:fillRect/>
          </a:stretch>
        </p:blipFill>
        <p:spPr>
          <a:xfrm>
            <a:off x="8412480" y="1508760"/>
            <a:ext cx="3200400" cy="1645920"/>
          </a:xfrm>
          <a:prstGeom prst="rect">
            <a:avLst/>
          </a:prstGeom>
        </p:spPr>
      </p:pic>
      <p:sp>
        <p:nvSpPr>
          <p:cNvPr id="7" name="Rectangle 6"/>
          <p:cNvSpPr/>
          <p:nvPr/>
        </p:nvSpPr>
        <p:spPr>
          <a:xfrm>
            <a:off x="8412480" y="3337560"/>
            <a:ext cx="3200400" cy="228600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41080" y="3520440"/>
            <a:ext cx="2788920" cy="1965960"/>
          </a:xfrm>
          <a:prstGeom prst="rect">
            <a:avLst/>
          </a:prstGeom>
          <a:noFill/>
        </p:spPr>
        <p:txBody>
          <a:bodyPr wrap="square" anchor="t" lIns="0" rIns="0" tIns="0" bIns="0">
            <a:spAutoFit/>
          </a:bodyPr>
          <a:lstStyle/>
          <a:p>
            <a:pPr algn="l">
              <a:lnSpc>
                <a:spcPct val="130000"/>
              </a:lnSpc>
              <a:spcBef>
                <a:spcPts val="0"/>
              </a:spcBef>
              <a:spcAft>
                <a:spcPts val="800"/>
              </a:spcAft>
            </a:pPr>
            <a:r>
              <a:rPr sz="1600" b="1">
                <a:solidFill>
                  <a:srgbClr val="2B6444"/>
                </a:solidFill>
                <a:latin typeface="Noto Sans JP"/>
                <a:ea typeface="Noto Sans JP"/>
                <a:cs typeface="Noto Sans JP"/>
              </a:rPr>
              <a:t>評価損が認められやすい条件</a:t>
            </a:r>
          </a:p>
          <a:p>
            <a:pPr algn="l">
              <a:lnSpc>
                <a:spcPct val="130000"/>
              </a:lnSpc>
              <a:spcBef>
                <a:spcPts val="0"/>
              </a:spcBef>
              <a:spcAft>
                <a:spcPts val="800"/>
              </a:spcAft>
            </a:pPr>
            <a:r>
              <a:rPr sz="1600" b="0">
                <a:solidFill>
                  <a:srgbClr val="1E4D33"/>
                </a:solidFill>
                <a:latin typeface="Noto Sans JP"/>
                <a:ea typeface="Noto Sans JP"/>
                <a:cs typeface="Noto Sans JP"/>
              </a:rPr>
              <a:t>外車・高額車両・購入から年数が経っていない車両など、事故後の市場価値の低下が顕著なケース</a:t>
            </a:r>
          </a:p>
        </p:txBody>
      </p:sp>
      <p:sp>
        <p:nvSpPr>
          <p:cNvPr id="9" name="TextBox 8"/>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0" name="TextBox 9"/>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03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3</a:t>
            </a:r>
          </a:p>
        </p:txBody>
      </p:sp>
      <p:sp>
        <p:nvSpPr>
          <p:cNvPr id="4" name="TextBox 3"/>
          <p:cNvSpPr txBox="1"/>
          <p:nvPr/>
        </p:nvSpPr>
        <p:spPr>
          <a:xfrm>
            <a:off x="1188720" y="932688"/>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弁護士介入によって見つかった論点</a:t>
            </a:r>
          </a:p>
        </p:txBody>
      </p:sp>
      <p:sp>
        <p:nvSpPr>
          <p:cNvPr id="5" name="TextBox 4"/>
          <p:cNvSpPr txBox="1"/>
          <p:nvPr/>
        </p:nvSpPr>
        <p:spPr>
          <a:xfrm>
            <a:off x="548640" y="1508760"/>
            <a:ext cx="11064240" cy="2194560"/>
          </a:xfrm>
          <a:prstGeom prst="rect">
            <a:avLst/>
          </a:prstGeom>
          <a:noFill/>
        </p:spPr>
        <p:txBody>
          <a:bodyPr wrap="square" anchor="t" lIns="0" rIns="0" tIns="0" bIns="0">
            <a:spAutoFit/>
          </a:bodyPr>
          <a:lstStyle/>
          <a:p>
            <a:pPr algn="l">
              <a:lnSpc>
                <a:spcPct val="145000"/>
              </a:lnSpc>
              <a:spcBef>
                <a:spcPts val="0"/>
              </a:spcBef>
              <a:spcAft>
                <a:spcPts val="0"/>
              </a:spcAft>
            </a:pPr>
            <a:r>
              <a:rPr sz="1700" b="0">
                <a:solidFill>
                  <a:srgbClr val="1A1A1A"/>
                </a:solidFill>
                <a:latin typeface="Noto Sans JP"/>
                <a:ea typeface="Noto Sans JP"/>
                <a:cs typeface="Noto Sans JP"/>
              </a:rPr>
              <a:t>この件では、修理見積書を取得し、その見積額を前提に相手方保険会社との交渉があまりうまくいっていないという段階でご相談をいただきました。このタイミングで弁護士が入ったことにより、「評価損の請求がされていない」という点に気づき、追加請求を行うことができました。その意味では、途中段階であっても適切なタイミングで弁護士が介入したことにより、依頼者にとって有利な解決につながった事例といえます。</a:t>
            </a:r>
          </a:p>
        </p:txBody>
      </p:sp>
      <p:sp>
        <p:nvSpPr>
          <p:cNvPr id="6" name="Oval 5"/>
          <p:cNvSpPr/>
          <p:nvPr/>
        </p:nvSpPr>
        <p:spPr>
          <a:xfrm>
            <a:off x="548640" y="393192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4</a:t>
            </a:r>
          </a:p>
        </p:txBody>
      </p:sp>
      <p:sp>
        <p:nvSpPr>
          <p:cNvPr id="7" name="TextBox 6"/>
          <p:cNvSpPr txBox="1"/>
          <p:nvPr/>
        </p:nvSpPr>
        <p:spPr>
          <a:xfrm>
            <a:off x="1188720" y="3950208"/>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この事例が示す共通課題</a:t>
            </a:r>
          </a:p>
        </p:txBody>
      </p:sp>
      <p:sp>
        <p:nvSpPr>
          <p:cNvPr id="8" name="TextBox 7"/>
          <p:cNvSpPr txBox="1"/>
          <p:nvPr/>
        </p:nvSpPr>
        <p:spPr>
          <a:xfrm>
            <a:off x="1188720" y="4480560"/>
            <a:ext cx="10424160" cy="1828800"/>
          </a:xfrm>
          <a:prstGeom prst="rect">
            <a:avLst/>
          </a:prstGeom>
          <a:noFill/>
        </p:spPr>
        <p:txBody>
          <a:bodyPr wrap="square" anchor="t" lIns="0" rIns="0" tIns="0" bIns="0">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もっとも、この事例も、これまでの2つの事例と共通するところがあります。すなわち、途中からバトンを渡されて弁護士が追加で入ると、相手方保険会社としても、当初想定していなかった論点への対応を迫られることになり、調整に時間がかかりやすくなります。修理費だけで進むと思っていた案件に、後から評価損の話が入ってくるわけですから、対応が複雑になってしまいます。</a:t>
            </a:r>
          </a:p>
        </p:txBody>
      </p:sp>
      <p:sp>
        <p:nvSpPr>
          <p:cNvPr id="9" name="TextBox 8"/>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0" name="TextBox 9"/>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CASE 03 / 続き</a:t>
            </a:r>
          </a:p>
        </p:txBody>
      </p:sp>
      <p:sp>
        <p:nvSpPr>
          <p:cNvPr id="3" name="Oval 2"/>
          <p:cNvSpPr/>
          <p:nvPr/>
        </p:nvSpPr>
        <p:spPr>
          <a:xfrm>
            <a:off x="548640" y="914400"/>
            <a:ext cx="457200" cy="45720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Noto Sans JP"/>
                <a:ea typeface="Noto Sans JP"/>
                <a:cs typeface="Noto Sans JP"/>
              </a:rPr>
              <a:t>5</a:t>
            </a:r>
          </a:p>
        </p:txBody>
      </p:sp>
      <p:sp>
        <p:nvSpPr>
          <p:cNvPr id="4" name="TextBox 3"/>
          <p:cNvSpPr txBox="1"/>
          <p:nvPr/>
        </p:nvSpPr>
        <p:spPr>
          <a:xfrm>
            <a:off x="1188720" y="932688"/>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1E4D33"/>
                </a:solidFill>
                <a:latin typeface="Noto Serif JP"/>
                <a:ea typeface="Noto Serif JP"/>
                <a:cs typeface="Noto Serif JP"/>
              </a:rPr>
              <a:t>初動で見越しておくべきポイント</a:t>
            </a:r>
          </a:p>
        </p:txBody>
      </p:sp>
      <p:sp>
        <p:nvSpPr>
          <p:cNvPr id="5" name="TextBox 4"/>
          <p:cNvSpPr txBox="1"/>
          <p:nvPr/>
        </p:nvSpPr>
        <p:spPr>
          <a:xfrm>
            <a:off x="548640" y="1463040"/>
            <a:ext cx="11064240" cy="1371600"/>
          </a:xfrm>
          <a:prstGeom prst="rect">
            <a:avLst/>
          </a:prstGeom>
          <a:noFill/>
        </p:spPr>
        <p:txBody>
          <a:bodyPr wrap="square" anchor="t" lIns="0" rIns="0" tIns="0" bIns="0">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したがって、この案件についても、やはり最初の段階から弁護士が関与していた方が、全体としてはよりスムーズだったのではないかと思います。特に、外車、高額車両、購入間もない車両などは、修理費だけではなく評価損の問題が生じる可能性がありますので、その点を最初から見越して進めることが重要です。</a:t>
            </a:r>
          </a:p>
        </p:txBody>
      </p:sp>
      <p:sp>
        <p:nvSpPr>
          <p:cNvPr id="6" name="TextBox 5"/>
          <p:cNvSpPr txBox="1"/>
          <p:nvPr/>
        </p:nvSpPr>
        <p:spPr>
          <a:xfrm>
            <a:off x="548640" y="2880360"/>
            <a:ext cx="10972800" cy="457200"/>
          </a:xfrm>
          <a:prstGeom prst="rect">
            <a:avLst/>
          </a:prstGeom>
          <a:noFill/>
        </p:spPr>
        <p:txBody>
          <a:bodyPr wrap="square" anchor="t" lIns="0" rIns="0" tIns="0" bIns="0">
            <a:spAutoFit/>
          </a:bodyPr>
          <a:lstStyle/>
          <a:p>
            <a:pPr algn="l">
              <a:lnSpc>
                <a:spcPct val="100000"/>
              </a:lnSpc>
              <a:spcBef>
                <a:spcPts val="0"/>
              </a:spcBef>
              <a:spcAft>
                <a:spcPts val="0"/>
              </a:spcAft>
            </a:pPr>
            <a:r>
              <a:rPr sz="2000" b="1">
                <a:solidFill>
                  <a:srgbClr val="1E4D33"/>
                </a:solidFill>
                <a:latin typeface="Noto Serif JP"/>
                <a:ea typeface="Noto Serif JP"/>
                <a:cs typeface="Noto Serif JP"/>
              </a:rPr>
              <a:t>評価損の請求を検討すべき主なケース</a:t>
            </a:r>
          </a:p>
        </p:txBody>
      </p:sp>
      <p:sp>
        <p:nvSpPr>
          <p:cNvPr id="7" name="Rectangle 6"/>
          <p:cNvSpPr/>
          <p:nvPr/>
        </p:nvSpPr>
        <p:spPr>
          <a:xfrm>
            <a:off x="548640" y="3429000"/>
            <a:ext cx="3566160" cy="169164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611880"/>
            <a:ext cx="3108960" cy="457200"/>
          </a:xfrm>
          <a:prstGeom prst="rect">
            <a:avLst/>
          </a:prstGeom>
          <a:noFill/>
        </p:spPr>
        <p:txBody>
          <a:bodyPr wrap="square" anchor="t" lIns="0" rIns="0" tIns="0" bIns="0">
            <a:spAutoFit/>
          </a:bodyPr>
          <a:lstStyle/>
          <a:p>
            <a:pPr algn="l">
              <a:lnSpc>
                <a:spcPct val="110000"/>
              </a:lnSpc>
              <a:spcBef>
                <a:spcPts val="0"/>
              </a:spcBef>
              <a:spcAft>
                <a:spcPts val="400"/>
              </a:spcAft>
            </a:pPr>
            <a:r>
              <a:rPr sz="1800" b="1">
                <a:solidFill>
                  <a:srgbClr val="2B6444"/>
                </a:solidFill>
                <a:latin typeface="Noto Serif JP"/>
                <a:ea typeface="Noto Serif JP"/>
                <a:cs typeface="Noto Serif JP"/>
              </a:rPr>
              <a:t>外車・輸入車</a:t>
            </a:r>
          </a:p>
        </p:txBody>
      </p:sp>
      <p:sp>
        <p:nvSpPr>
          <p:cNvPr id="9" name="TextBox 8"/>
          <p:cNvSpPr txBox="1"/>
          <p:nvPr/>
        </p:nvSpPr>
        <p:spPr>
          <a:xfrm>
            <a:off x="777240" y="4114800"/>
            <a:ext cx="3108960" cy="914400"/>
          </a:xfrm>
          <a:prstGeom prst="rect">
            <a:avLst/>
          </a:prstGeom>
          <a:noFill/>
        </p:spPr>
        <p:txBody>
          <a:bodyPr wrap="square" anchor="t" lIns="0" rIns="0" tIns="0" bIns="0">
            <a:spAutoFit/>
          </a:bodyPr>
          <a:lstStyle/>
          <a:p>
            <a:pPr algn="l">
              <a:lnSpc>
                <a:spcPct val="130000"/>
              </a:lnSpc>
              <a:spcBef>
                <a:spcPts val="0"/>
              </a:spcBef>
              <a:spcAft>
                <a:spcPts val="0"/>
              </a:spcAft>
            </a:pPr>
            <a:r>
              <a:rPr sz="1600" b="0">
                <a:solidFill>
                  <a:srgbClr val="1A1A1A"/>
                </a:solidFill>
                <a:latin typeface="Noto Sans JP"/>
                <a:ea typeface="Noto Sans JP"/>
                <a:cs typeface="Noto Sans JP"/>
              </a:rPr>
              <a:t>事故歴による市場価値低下が国産車より大きくなるケースがある</a:t>
            </a:r>
          </a:p>
        </p:txBody>
      </p:sp>
      <p:sp>
        <p:nvSpPr>
          <p:cNvPr id="10" name="Rectangle 9"/>
          <p:cNvSpPr/>
          <p:nvPr/>
        </p:nvSpPr>
        <p:spPr>
          <a:xfrm>
            <a:off x="4297680" y="3429000"/>
            <a:ext cx="3566160" cy="169164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3611880"/>
            <a:ext cx="3108960" cy="457200"/>
          </a:xfrm>
          <a:prstGeom prst="rect">
            <a:avLst/>
          </a:prstGeom>
          <a:noFill/>
        </p:spPr>
        <p:txBody>
          <a:bodyPr wrap="square" anchor="t" lIns="0" rIns="0" tIns="0" bIns="0">
            <a:spAutoFit/>
          </a:bodyPr>
          <a:lstStyle/>
          <a:p>
            <a:pPr algn="l">
              <a:lnSpc>
                <a:spcPct val="110000"/>
              </a:lnSpc>
              <a:spcBef>
                <a:spcPts val="0"/>
              </a:spcBef>
              <a:spcAft>
                <a:spcPts val="400"/>
              </a:spcAft>
            </a:pPr>
            <a:r>
              <a:rPr sz="1800" b="1">
                <a:solidFill>
                  <a:srgbClr val="2B6444"/>
                </a:solidFill>
                <a:latin typeface="Noto Serif JP"/>
                <a:ea typeface="Noto Serif JP"/>
                <a:cs typeface="Noto Serif JP"/>
              </a:rPr>
              <a:t>購入から年数が浅い車両</a:t>
            </a:r>
          </a:p>
        </p:txBody>
      </p:sp>
      <p:sp>
        <p:nvSpPr>
          <p:cNvPr id="12" name="TextBox 11"/>
          <p:cNvSpPr txBox="1"/>
          <p:nvPr/>
        </p:nvSpPr>
        <p:spPr>
          <a:xfrm>
            <a:off x="4526280" y="4114800"/>
            <a:ext cx="3108960" cy="914400"/>
          </a:xfrm>
          <a:prstGeom prst="rect">
            <a:avLst/>
          </a:prstGeom>
          <a:noFill/>
        </p:spPr>
        <p:txBody>
          <a:bodyPr wrap="square" anchor="t" lIns="0" rIns="0" tIns="0" bIns="0">
            <a:spAutoFit/>
          </a:bodyPr>
          <a:lstStyle/>
          <a:p>
            <a:pPr algn="l">
              <a:lnSpc>
                <a:spcPct val="130000"/>
              </a:lnSpc>
              <a:spcBef>
                <a:spcPts val="0"/>
              </a:spcBef>
              <a:spcAft>
                <a:spcPts val="0"/>
              </a:spcAft>
            </a:pPr>
            <a:r>
              <a:rPr sz="1600" b="0">
                <a:solidFill>
                  <a:srgbClr val="1A1A1A"/>
                </a:solidFill>
                <a:latin typeface="Noto Sans JP"/>
                <a:ea typeface="Noto Sans JP"/>
                <a:cs typeface="Noto Sans JP"/>
              </a:rPr>
              <a:t>購入後1〜2年以内は評価損が認められる可能性が特に高い</a:t>
            </a:r>
          </a:p>
        </p:txBody>
      </p:sp>
      <p:sp>
        <p:nvSpPr>
          <p:cNvPr id="13" name="Rectangle 12"/>
          <p:cNvSpPr/>
          <p:nvPr/>
        </p:nvSpPr>
        <p:spPr>
          <a:xfrm>
            <a:off x="8046720" y="3429000"/>
            <a:ext cx="3566160" cy="169164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3611880"/>
            <a:ext cx="3108960" cy="457200"/>
          </a:xfrm>
          <a:prstGeom prst="rect">
            <a:avLst/>
          </a:prstGeom>
          <a:noFill/>
        </p:spPr>
        <p:txBody>
          <a:bodyPr wrap="square" anchor="t" lIns="0" rIns="0" tIns="0" bIns="0">
            <a:spAutoFit/>
          </a:bodyPr>
          <a:lstStyle/>
          <a:p>
            <a:pPr algn="l">
              <a:lnSpc>
                <a:spcPct val="110000"/>
              </a:lnSpc>
              <a:spcBef>
                <a:spcPts val="0"/>
              </a:spcBef>
              <a:spcAft>
                <a:spcPts val="400"/>
              </a:spcAft>
            </a:pPr>
            <a:r>
              <a:rPr sz="1800" b="1">
                <a:solidFill>
                  <a:srgbClr val="2B6444"/>
                </a:solidFill>
                <a:latin typeface="Noto Serif JP"/>
                <a:ea typeface="Noto Serif JP"/>
                <a:cs typeface="Noto Serif JP"/>
              </a:rPr>
              <a:t>修理費が高額なケース</a:t>
            </a:r>
          </a:p>
        </p:txBody>
      </p:sp>
      <p:sp>
        <p:nvSpPr>
          <p:cNvPr id="15" name="TextBox 14"/>
          <p:cNvSpPr txBox="1"/>
          <p:nvPr/>
        </p:nvSpPr>
        <p:spPr>
          <a:xfrm>
            <a:off x="8275320" y="4114800"/>
            <a:ext cx="3108960" cy="914400"/>
          </a:xfrm>
          <a:prstGeom prst="rect">
            <a:avLst/>
          </a:prstGeom>
          <a:noFill/>
        </p:spPr>
        <p:txBody>
          <a:bodyPr wrap="square" anchor="t" lIns="0" rIns="0" tIns="0" bIns="0">
            <a:spAutoFit/>
          </a:bodyPr>
          <a:lstStyle/>
          <a:p>
            <a:pPr algn="l">
              <a:lnSpc>
                <a:spcPct val="130000"/>
              </a:lnSpc>
              <a:spcBef>
                <a:spcPts val="0"/>
              </a:spcBef>
              <a:spcAft>
                <a:spcPts val="0"/>
              </a:spcAft>
            </a:pPr>
            <a:r>
              <a:rPr sz="1600" b="0">
                <a:solidFill>
                  <a:srgbClr val="1A1A1A"/>
                </a:solidFill>
                <a:latin typeface="Noto Sans JP"/>
                <a:ea typeface="Noto Sans JP"/>
                <a:cs typeface="Noto Sans JP"/>
              </a:rPr>
              <a:t>修理費が車両価格の一定割合を超える損傷は評価損の根拠になりやすい</a:t>
            </a:r>
          </a:p>
        </p:txBody>
      </p:sp>
      <p:sp>
        <p:nvSpPr>
          <p:cNvPr id="16" name="Rectangle 15"/>
          <p:cNvSpPr/>
          <p:nvPr/>
        </p:nvSpPr>
        <p:spPr>
          <a:xfrm>
            <a:off x="548640" y="5257800"/>
            <a:ext cx="11064240" cy="1143000"/>
          </a:xfrm>
          <a:prstGeom prst="rect">
            <a:avLst/>
          </a:prstGeom>
          <a:solidFill>
            <a:srgbClr val="1E4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394960"/>
            <a:ext cx="6492240" cy="914400"/>
          </a:xfrm>
          <a:prstGeom prst="rect">
            <a:avLst/>
          </a:prstGeom>
          <a:noFill/>
        </p:spPr>
        <p:txBody>
          <a:bodyPr wrap="square" anchor="ctr" lIns="0" rIns="0" tIns="0" bIns="0">
            <a:spAutoFit/>
          </a:bodyPr>
          <a:lstStyle/>
          <a:p>
            <a:pPr algn="l">
              <a:lnSpc>
                <a:spcPct val="120000"/>
              </a:lnSpc>
              <a:spcBef>
                <a:spcPts val="0"/>
              </a:spcBef>
              <a:spcAft>
                <a:spcPts val="200"/>
              </a:spcAft>
            </a:pPr>
            <a:r>
              <a:rPr sz="1600" b="1">
                <a:solidFill>
                  <a:srgbClr val="C8DFD0"/>
                </a:solidFill>
                <a:latin typeface="Noto Sans JP"/>
                <a:ea typeface="Noto Sans JP"/>
                <a:cs typeface="Noto Sans JP"/>
              </a:rPr>
              <a:t>保険代理店様へのポイント</a:t>
            </a:r>
          </a:p>
          <a:p>
            <a:pPr algn="l">
              <a:lnSpc>
                <a:spcPct val="120000"/>
              </a:lnSpc>
              <a:spcBef>
                <a:spcPts val="0"/>
              </a:spcBef>
              <a:spcAft>
                <a:spcPts val="200"/>
              </a:spcAft>
            </a:pPr>
            <a:r>
              <a:rPr sz="1600" b="0">
                <a:solidFill>
                  <a:srgbClr val="FFFFFF"/>
                </a:solidFill>
                <a:latin typeface="Noto Sans JP"/>
                <a:ea typeface="Noto Sans JP"/>
                <a:cs typeface="Noto Sans JP"/>
              </a:rPr>
              <a:t>外車・高額車両・購入間もない車両の物損案件は、修理費の見積もり段階から速やかに弁護士にご相談ください。</a:t>
            </a:r>
          </a:p>
        </p:txBody>
      </p:sp>
      <p:sp>
        <p:nvSpPr>
          <p:cNvPr id="18" name="TextBox 17"/>
          <p:cNvSpPr txBox="1"/>
          <p:nvPr/>
        </p:nvSpPr>
        <p:spPr>
          <a:xfrm>
            <a:off x="7589520" y="5349240"/>
            <a:ext cx="3749039" cy="960120"/>
          </a:xfrm>
          <a:prstGeom prst="rect">
            <a:avLst/>
          </a:prstGeom>
          <a:noFill/>
        </p:spPr>
        <p:txBody>
          <a:bodyPr wrap="square" anchor="ctr" lIns="0" rIns="0" tIns="0" bIns="0">
            <a:spAutoFit/>
          </a:bodyPr>
          <a:lstStyle/>
          <a:p>
            <a:pPr algn="l">
              <a:lnSpc>
                <a:spcPct val="115000"/>
              </a:lnSpc>
              <a:spcBef>
                <a:spcPts val="0"/>
              </a:spcBef>
              <a:spcAft>
                <a:spcPts val="200"/>
              </a:spcAft>
            </a:pPr>
            <a:r>
              <a:rPr sz="1600" b="1">
                <a:solidFill>
                  <a:srgbClr val="FFFFFF"/>
                </a:solidFill>
                <a:latin typeface="Noto Sans JP"/>
                <a:ea typeface="Noto Sans JP"/>
                <a:cs typeface="Noto Sans JP"/>
              </a:rPr>
              <a:t>CHECK 01  購入から2年以内か</a:t>
            </a:r>
          </a:p>
          <a:p>
            <a:pPr algn="l">
              <a:lnSpc>
                <a:spcPct val="115000"/>
              </a:lnSpc>
              <a:spcBef>
                <a:spcPts val="0"/>
              </a:spcBef>
              <a:spcAft>
                <a:spcPts val="200"/>
              </a:spcAft>
            </a:pPr>
            <a:r>
              <a:rPr sz="1600" b="1">
                <a:solidFill>
                  <a:srgbClr val="FFFFFF"/>
                </a:solidFill>
                <a:latin typeface="Noto Sans JP"/>
                <a:ea typeface="Noto Sans JP"/>
                <a:cs typeface="Noto Sans JP"/>
              </a:rPr>
              <a:t>CHECK 02  外車・輸入車か</a:t>
            </a:r>
          </a:p>
          <a:p>
            <a:pPr algn="l">
              <a:lnSpc>
                <a:spcPct val="115000"/>
              </a:lnSpc>
              <a:spcBef>
                <a:spcPts val="0"/>
              </a:spcBef>
              <a:spcAft>
                <a:spcPts val="200"/>
              </a:spcAft>
            </a:pPr>
            <a:r>
              <a:rPr sz="1600" b="1">
                <a:solidFill>
                  <a:srgbClr val="FFFFFF"/>
                </a:solidFill>
                <a:latin typeface="Noto Sans JP"/>
                <a:ea typeface="Noto Sans JP"/>
                <a:cs typeface="Noto Sans JP"/>
              </a:rPr>
              <a:t>CHECK 03  修理費が高額か</a:t>
            </a:r>
          </a:p>
        </p:txBody>
      </p:sp>
      <p:sp>
        <p:nvSpPr>
          <p:cNvPr id="19" name="TextBox 18"/>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20" name="TextBox 19"/>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CONCLUSION</a:t>
            </a:r>
          </a:p>
        </p:txBody>
      </p:sp>
      <p:sp>
        <p:nvSpPr>
          <p:cNvPr id="3" name="TextBox 2"/>
          <p:cNvSpPr txBox="1"/>
          <p:nvPr/>
        </p:nvSpPr>
        <p:spPr>
          <a:xfrm>
            <a:off x="548640" y="868680"/>
            <a:ext cx="10058400" cy="914400"/>
          </a:xfrm>
          <a:prstGeom prst="rect">
            <a:avLst/>
          </a:prstGeom>
          <a:noFill/>
        </p:spPr>
        <p:txBody>
          <a:bodyPr wrap="square" anchor="t" lIns="0" rIns="0" tIns="0" bIns="0">
            <a:spAutoFit/>
          </a:bodyPr>
          <a:lstStyle/>
          <a:p>
            <a:pPr algn="l">
              <a:lnSpc>
                <a:spcPct val="110000"/>
              </a:lnSpc>
              <a:spcBef>
                <a:spcPts val="0"/>
              </a:spcBef>
              <a:spcAft>
                <a:spcPts val="0"/>
              </a:spcAft>
            </a:pPr>
            <a:r>
              <a:rPr sz="3000" b="1">
                <a:solidFill>
                  <a:srgbClr val="1E4D33"/>
                </a:solidFill>
                <a:latin typeface="Noto Serif JP"/>
                <a:ea typeface="Noto Serif JP"/>
                <a:cs typeface="Noto Serif JP"/>
              </a:rPr>
              <a:t>3つの事例に共通していること</a:t>
            </a:r>
          </a:p>
        </p:txBody>
      </p:sp>
      <p:sp>
        <p:nvSpPr>
          <p:cNvPr id="4" name="TextBox 3"/>
          <p:cNvSpPr txBox="1"/>
          <p:nvPr/>
        </p:nvSpPr>
        <p:spPr>
          <a:xfrm>
            <a:off x="548640" y="1828800"/>
            <a:ext cx="7315200" cy="548640"/>
          </a:xfrm>
          <a:prstGeom prst="rect">
            <a:avLst/>
          </a:prstGeom>
          <a:noFill/>
        </p:spPr>
        <p:txBody>
          <a:bodyPr wrap="square" anchor="t" lIns="0" rIns="0" tIns="0" bIns="0">
            <a:spAutoFit/>
          </a:bodyPr>
          <a:lstStyle/>
          <a:p>
            <a:pPr algn="l">
              <a:lnSpc>
                <a:spcPct val="115000"/>
              </a:lnSpc>
              <a:spcBef>
                <a:spcPts val="0"/>
              </a:spcBef>
              <a:spcAft>
                <a:spcPts val="0"/>
              </a:spcAft>
            </a:pPr>
            <a:r>
              <a:rPr sz="2000" b="1">
                <a:solidFill>
                  <a:srgbClr val="2B6444"/>
                </a:solidFill>
                <a:latin typeface="Noto Serif JP"/>
                <a:ea typeface="Noto Serif JP"/>
                <a:cs typeface="Noto Serif JP"/>
              </a:rPr>
              <a:t>共通する結論</a:t>
            </a:r>
          </a:p>
        </p:txBody>
      </p:sp>
      <p:sp>
        <p:nvSpPr>
          <p:cNvPr id="5" name="TextBox 4"/>
          <p:cNvSpPr txBox="1"/>
          <p:nvPr/>
        </p:nvSpPr>
        <p:spPr>
          <a:xfrm>
            <a:off x="548640" y="2423160"/>
            <a:ext cx="7589520" cy="3657600"/>
          </a:xfrm>
          <a:prstGeom prst="rect">
            <a:avLst/>
          </a:prstGeom>
          <a:noFill/>
        </p:spPr>
        <p:txBody>
          <a:bodyPr wrap="square" anchor="t" lIns="0" rIns="0" tIns="0" bIns="0">
            <a:spAutoFit/>
          </a:bodyPr>
          <a:lstStyle/>
          <a:p>
            <a:pPr algn="l">
              <a:lnSpc>
                <a:spcPct val="155000"/>
              </a:lnSpc>
              <a:spcBef>
                <a:spcPts val="0"/>
              </a:spcBef>
              <a:spcAft>
                <a:spcPts val="0"/>
              </a:spcAft>
            </a:pPr>
            <a:r>
              <a:rPr sz="1800" b="0">
                <a:solidFill>
                  <a:srgbClr val="1A1A1A"/>
                </a:solidFill>
                <a:latin typeface="Noto Sans JP"/>
                <a:ea typeface="Noto Sans JP"/>
                <a:cs typeface="Noto Sans JP"/>
              </a:rPr>
              <a:t>以上の3つの事例に共通しているのは、いずれも「途中から弁護士が入っても解決はできるが、最初から弁護士が入っていた方が、より早く、よりスムーズに進められたはずだ」という点です。治療費打切り後の請求漏れの事例でも、後遺障害診断書の修正事例でも、外車修理における評価損の事例でも、途中からの介入によって救済できた部分はありました。しかし、その一方で、最初から関与していれば避けられた時間的ロスや調整負担があったことも事実です。</a:t>
            </a:r>
          </a:p>
        </p:txBody>
      </p:sp>
      <p:pic>
        <p:nvPicPr>
          <p:cNvPr id="6" name="Picture 5" descr="05_家族.jpg"/>
          <p:cNvPicPr>
            <a:picLocks noChangeAspect="1"/>
          </p:cNvPicPr>
          <p:nvPr/>
        </p:nvPicPr>
        <p:blipFill>
          <a:blip r:embed="rId2"/>
          <a:srcRect l="19530" r="19530"/>
          <a:stretch>
            <a:fillRect/>
          </a:stretch>
        </p:blipFill>
        <p:spPr>
          <a:xfrm>
            <a:off x="8412480" y="1828800"/>
            <a:ext cx="3200400" cy="3931920"/>
          </a:xfrm>
          <a:prstGeom prst="rect">
            <a:avLst/>
          </a:prstGeom>
        </p:spPr>
      </p:pic>
      <p:sp>
        <p:nvSpPr>
          <p:cNvPr id="7" name="TextBox 6"/>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8" name="TextBox 7"/>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CONCLUSION</a:t>
            </a:r>
          </a:p>
        </p:txBody>
      </p:sp>
      <p:sp>
        <p:nvSpPr>
          <p:cNvPr id="3" name="TextBox 2"/>
          <p:cNvSpPr txBox="1"/>
          <p:nvPr/>
        </p:nvSpPr>
        <p:spPr>
          <a:xfrm>
            <a:off x="548640" y="868680"/>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400" b="1">
                <a:solidFill>
                  <a:srgbClr val="2B6444"/>
                </a:solidFill>
                <a:latin typeface="Noto Serif JP"/>
                <a:ea typeface="Noto Serif JP"/>
                <a:cs typeface="Noto Serif JP"/>
              </a:rPr>
              <a:t>3つの事例の比較</a:t>
            </a:r>
          </a:p>
        </p:txBody>
      </p:sp>
      <p:graphicFrame>
        <p:nvGraphicFramePr>
          <p:cNvPr id="4" name="Table 3"/>
          <p:cNvGraphicFramePr>
            <a:graphicFrameLocks noGrp="1"/>
          </p:cNvGraphicFramePr>
          <p:nvPr/>
        </p:nvGraphicFramePr>
        <p:xfrm>
          <a:off x="548640" y="1554480"/>
          <a:ext cx="11064240" cy="4480560"/>
        </p:xfrm>
        <a:graphic>
          <a:graphicData uri="http://schemas.openxmlformats.org/drawingml/2006/table">
            <a:tbl>
              <a:tblPr firstRow="1" bandRow="1">
                <a:tableStyleId>{5C22544A-7EE6-4342-B048-85BDC9FD1C3A}</a:tableStyleId>
              </a:tblPr>
              <a:tblGrid>
                <a:gridCol w="2377440"/>
                <a:gridCol w="4343400"/>
                <a:gridCol w="4343400"/>
              </a:tblGrid>
              <a:tr h="1120140">
                <a:tc>
                  <a:txBody>
                    <a:bodyPr wrap="square"/>
                    <a:lstStyle/>
                    <a:p>
                      <a:pPr>
                        <a:lnSpc>
                          <a:spcPct val="120000"/>
                        </a:lnSpc>
                      </a:pPr>
                      <a:r>
                        <a:rPr sz="1800" b="1">
                          <a:solidFill>
                            <a:srgbClr val="FFFFFF"/>
                          </a:solidFill>
                          <a:latin typeface="Noto Serif JP"/>
                          <a:ea typeface="Noto Serif JP"/>
                          <a:cs typeface="Noto Serif JP"/>
                        </a:rPr>
                        <a:t>事例</a:t>
                      </a:r>
                    </a:p>
                  </a:txBody>
                  <a:tcPr marL="109728" marR="109728" marT="73152" marB="73152" anchor="ctr">
                    <a:solidFill>
                      <a:srgbClr val="2B6444"/>
                    </a:solidFill>
                  </a:tcPr>
                </a:tc>
                <a:tc>
                  <a:txBody>
                    <a:bodyPr wrap="square"/>
                    <a:lstStyle/>
                    <a:p>
                      <a:pPr>
                        <a:lnSpc>
                          <a:spcPct val="120000"/>
                        </a:lnSpc>
                      </a:pPr>
                      <a:r>
                        <a:rPr sz="1800" b="1">
                          <a:solidFill>
                            <a:srgbClr val="FFFFFF"/>
                          </a:solidFill>
                          <a:latin typeface="Noto Serif JP"/>
                          <a:ea typeface="Noto Serif JP"/>
                          <a:cs typeface="Noto Serif JP"/>
                        </a:rPr>
                        <a:t>途中介入で生じた課題</a:t>
                      </a:r>
                    </a:p>
                  </a:txBody>
                  <a:tcPr marL="109728" marR="109728" marT="73152" marB="73152" anchor="ctr">
                    <a:solidFill>
                      <a:srgbClr val="2B6444"/>
                    </a:solidFill>
                  </a:tcPr>
                </a:tc>
                <a:tc>
                  <a:txBody>
                    <a:bodyPr wrap="square"/>
                    <a:lstStyle/>
                    <a:p>
                      <a:pPr>
                        <a:lnSpc>
                          <a:spcPct val="120000"/>
                        </a:lnSpc>
                      </a:pPr>
                      <a:r>
                        <a:rPr sz="1800" b="1">
                          <a:solidFill>
                            <a:srgbClr val="FFFFFF"/>
                          </a:solidFill>
                          <a:latin typeface="Noto Serif JP"/>
                          <a:ea typeface="Noto Serif JP"/>
                          <a:cs typeface="Noto Serif JP"/>
                        </a:rPr>
                        <a:t>初動介入であれば</a:t>
                      </a:r>
                    </a:p>
                  </a:txBody>
                  <a:tcPr marL="109728" marR="109728" marT="73152" marB="73152" anchor="ctr">
                    <a:solidFill>
                      <a:srgbClr val="2B6444"/>
                    </a:solidFill>
                  </a:tcPr>
                </a:tc>
              </a:tr>
              <a:tr h="1120140">
                <a:tc>
                  <a:txBody>
                    <a:bodyPr wrap="square"/>
                    <a:lstStyle/>
                    <a:p>
                      <a:pPr>
                        <a:lnSpc>
                          <a:spcPct val="120000"/>
                        </a:lnSpc>
                      </a:pPr>
                      <a:r>
                        <a:rPr sz="1700" b="1">
                          <a:solidFill>
                            <a:srgbClr val="1E4D33"/>
                          </a:solidFill>
                          <a:latin typeface="Noto Serif JP"/>
                          <a:ea typeface="Noto Serif JP"/>
                          <a:cs typeface="Noto Serif JP"/>
                        </a:rPr>
                        <a:t>事例1</a:t>
                      </a:r>
                    </a:p>
                    <a:p>
                      <a:pPr>
                        <a:lnSpc>
                          <a:spcPct val="120000"/>
                        </a:lnSpc>
                      </a:pPr>
                      <a:r>
                        <a:rPr sz="1700" b="0">
                          <a:solidFill>
                            <a:srgbClr val="555555"/>
                          </a:solidFill>
                          <a:latin typeface="Noto Sans JP"/>
                          <a:ea typeface="Noto Sans JP"/>
                          <a:cs typeface="Noto Sans JP"/>
                        </a:rPr>
                        <a:t>治療費打切り・請求漏れ</a:t>
                      </a:r>
                    </a:p>
                  </a:txBody>
                  <a:tcPr marL="109728" marR="109728" marT="73152" marB="73152" anchor="ctr">
                    <a:solidFill>
                      <a:srgbClr val="E8F2EB"/>
                    </a:solidFill>
                  </a:tcPr>
                </a:tc>
                <a:tc>
                  <a:txBody>
                    <a:bodyPr wrap="square"/>
                    <a:lstStyle/>
                    <a:p>
                      <a:pPr>
                        <a:lnSpc>
                          <a:spcPct val="120000"/>
                        </a:lnSpc>
                      </a:pPr>
                      <a:r>
                        <a:rPr sz="1600">
                          <a:solidFill>
                            <a:srgbClr val="1A1A1A"/>
                          </a:solidFill>
                          <a:latin typeface="Noto Sans JP"/>
                          <a:ea typeface="Noto Sans JP"/>
                          <a:cs typeface="Noto Sans JP"/>
                        </a:rPr>
                        <a:t>請求後ろ倒し・保険会社の社内調整やり直し・案件長期化</a:t>
                      </a:r>
                    </a:p>
                  </a:txBody>
                  <a:tcPr marL="109728" marR="109728" marT="73152" marB="73152" anchor="ctr">
                    <a:solidFill>
                      <a:srgbClr val="FFFFFF"/>
                    </a:solidFill>
                  </a:tcPr>
                </a:tc>
                <a:tc>
                  <a:txBody>
                    <a:bodyPr wrap="square"/>
                    <a:lstStyle/>
                    <a:p>
                      <a:pPr>
                        <a:lnSpc>
                          <a:spcPct val="120000"/>
                        </a:lnSpc>
                      </a:pPr>
                      <a:r>
                        <a:rPr sz="1600">
                          <a:solidFill>
                            <a:srgbClr val="1A1A1A"/>
                          </a:solidFill>
                          <a:latin typeface="Noto Sans JP"/>
                          <a:ea typeface="Noto Sans JP"/>
                          <a:cs typeface="Noto Sans JP"/>
                        </a:rPr>
                        <a:t>当初から全請求項目を整理・スムーズな折衝が可能</a:t>
                      </a:r>
                    </a:p>
                  </a:txBody>
                  <a:tcPr marL="109728" marR="109728" marT="73152" marB="73152" anchor="ctr">
                    <a:solidFill>
                      <a:srgbClr val="FFFFFF"/>
                    </a:solidFill>
                  </a:tcPr>
                </a:tc>
              </a:tr>
              <a:tr h="1120140">
                <a:tc>
                  <a:txBody>
                    <a:bodyPr wrap="square"/>
                    <a:lstStyle/>
                    <a:p>
                      <a:pPr>
                        <a:lnSpc>
                          <a:spcPct val="120000"/>
                        </a:lnSpc>
                      </a:pPr>
                      <a:r>
                        <a:rPr sz="1700" b="1">
                          <a:solidFill>
                            <a:srgbClr val="1E4D33"/>
                          </a:solidFill>
                          <a:latin typeface="Noto Serif JP"/>
                          <a:ea typeface="Noto Serif JP"/>
                          <a:cs typeface="Noto Serif JP"/>
                        </a:rPr>
                        <a:t>事例2</a:t>
                      </a:r>
                    </a:p>
                    <a:p>
                      <a:pPr>
                        <a:lnSpc>
                          <a:spcPct val="120000"/>
                        </a:lnSpc>
                      </a:pPr>
                      <a:r>
                        <a:rPr sz="1700" b="0">
                          <a:solidFill>
                            <a:srgbClr val="555555"/>
                          </a:solidFill>
                          <a:latin typeface="Noto Sans JP"/>
                          <a:ea typeface="Noto Sans JP"/>
                          <a:cs typeface="Noto Sans JP"/>
                        </a:rPr>
                        <a:t>後遺障害認定</a:t>
                      </a:r>
                    </a:p>
                  </a:txBody>
                  <a:tcPr marL="109728" marR="109728" marT="73152" marB="73152" anchor="ctr">
                    <a:solidFill>
                      <a:srgbClr val="E8F2EB"/>
                    </a:solidFill>
                  </a:tcPr>
                </a:tc>
                <a:tc>
                  <a:txBody>
                    <a:bodyPr wrap="square"/>
                    <a:lstStyle/>
                    <a:p>
                      <a:pPr>
                        <a:lnSpc>
                          <a:spcPct val="120000"/>
                        </a:lnSpc>
                      </a:pPr>
                      <a:r>
                        <a:rPr sz="1600">
                          <a:solidFill>
                            <a:srgbClr val="1A1A1A"/>
                          </a:solidFill>
                          <a:latin typeface="Noto Sans JP"/>
                          <a:ea typeface="Noto Sans JP"/>
                          <a:cs typeface="Noto Sans JP"/>
                        </a:rPr>
                        <a:t>一度不認定→やり直し→余分な時間・労力</a:t>
                      </a:r>
                    </a:p>
                  </a:txBody>
                  <a:tcPr marL="109728" marR="109728" marT="73152" marB="73152" anchor="ctr">
                    <a:solidFill>
                      <a:srgbClr val="FFFFFF"/>
                    </a:solidFill>
                  </a:tcPr>
                </a:tc>
                <a:tc>
                  <a:txBody>
                    <a:bodyPr wrap="square"/>
                    <a:lstStyle/>
                    <a:p>
                      <a:pPr>
                        <a:lnSpc>
                          <a:spcPct val="120000"/>
                        </a:lnSpc>
                      </a:pPr>
                      <a:r>
                        <a:rPr sz="1600">
                          <a:solidFill>
                            <a:srgbClr val="1A1A1A"/>
                          </a:solidFill>
                          <a:latin typeface="Noto Sans JP"/>
                          <a:ea typeface="Noto Sans JP"/>
                          <a:cs typeface="Noto Sans JP"/>
                        </a:rPr>
                        <a:t>認定を見据えた診断書・資料整備で一発認定を狙える</a:t>
                      </a:r>
                    </a:p>
                  </a:txBody>
                  <a:tcPr marL="109728" marR="109728" marT="73152" marB="73152" anchor="ctr">
                    <a:solidFill>
                      <a:srgbClr val="FFFFFF"/>
                    </a:solidFill>
                  </a:tcPr>
                </a:tc>
              </a:tr>
              <a:tr h="1120140">
                <a:tc>
                  <a:txBody>
                    <a:bodyPr wrap="square"/>
                    <a:lstStyle/>
                    <a:p>
                      <a:pPr>
                        <a:lnSpc>
                          <a:spcPct val="120000"/>
                        </a:lnSpc>
                      </a:pPr>
                      <a:r>
                        <a:rPr sz="1700" b="1">
                          <a:solidFill>
                            <a:srgbClr val="1E4D33"/>
                          </a:solidFill>
                          <a:latin typeface="Noto Serif JP"/>
                          <a:ea typeface="Noto Serif JP"/>
                          <a:cs typeface="Noto Serif JP"/>
                        </a:rPr>
                        <a:t>事例3</a:t>
                      </a:r>
                    </a:p>
                    <a:p>
                      <a:pPr>
                        <a:lnSpc>
                          <a:spcPct val="120000"/>
                        </a:lnSpc>
                      </a:pPr>
                      <a:r>
                        <a:rPr sz="1700" b="0">
                          <a:solidFill>
                            <a:srgbClr val="555555"/>
                          </a:solidFill>
                          <a:latin typeface="Noto Sans JP"/>
                          <a:ea typeface="Noto Sans JP"/>
                          <a:cs typeface="Noto Sans JP"/>
                        </a:rPr>
                        <a:t>外車・評価損</a:t>
                      </a:r>
                    </a:p>
                  </a:txBody>
                  <a:tcPr marL="109728" marR="109728" marT="73152" marB="73152" anchor="ctr">
                    <a:solidFill>
                      <a:srgbClr val="E8F2EB"/>
                    </a:solidFill>
                  </a:tcPr>
                </a:tc>
                <a:tc>
                  <a:txBody>
                    <a:bodyPr wrap="square"/>
                    <a:lstStyle/>
                    <a:p>
                      <a:pPr>
                        <a:lnSpc>
                          <a:spcPct val="120000"/>
                        </a:lnSpc>
                      </a:pPr>
                      <a:r>
                        <a:rPr sz="1600">
                          <a:solidFill>
                            <a:srgbClr val="1A1A1A"/>
                          </a:solidFill>
                          <a:latin typeface="Noto Sans JP"/>
                          <a:ea typeface="Noto Sans JP"/>
                          <a:cs typeface="Noto Sans JP"/>
                        </a:rPr>
                        <a:t>修理費のみで交渉開始→後から評価損追加で複雑化</a:t>
                      </a:r>
                    </a:p>
                  </a:txBody>
                  <a:tcPr marL="109728" marR="109728" marT="73152" marB="73152" anchor="ctr">
                    <a:solidFill>
                      <a:srgbClr val="FFFFFF"/>
                    </a:solidFill>
                  </a:tcPr>
                </a:tc>
                <a:tc>
                  <a:txBody>
                    <a:bodyPr wrap="square"/>
                    <a:lstStyle/>
                    <a:p>
                      <a:pPr>
                        <a:lnSpc>
                          <a:spcPct val="120000"/>
                        </a:lnSpc>
                      </a:pPr>
                      <a:r>
                        <a:rPr sz="1600">
                          <a:solidFill>
                            <a:srgbClr val="1A1A1A"/>
                          </a:solidFill>
                          <a:latin typeface="Noto Sans JP"/>
                          <a:ea typeface="Noto Sans JP"/>
                          <a:cs typeface="Noto Sans JP"/>
                        </a:rPr>
                        <a:t>評価損を当初から請求項目に組み込み整合的に交渉できる</a:t>
                      </a:r>
                    </a:p>
                  </a:txBody>
                  <a:tcPr marL="109728" marR="109728" marT="73152" marB="73152" anchor="ctr">
                    <a:solidFill>
                      <a:srgbClr val="FFFFFF"/>
                    </a:solidFill>
                  </a:tcPr>
                </a:tc>
              </a:tr>
            </a:tbl>
          </a:graphicData>
        </a:graphic>
      </p:graphicFrame>
      <p:sp>
        <p:nvSpPr>
          <p:cNvPr id="5" name="TextBox 4"/>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6" name="TextBox 5"/>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CONCLUSION / 続き</a:t>
            </a:r>
          </a:p>
        </p:txBody>
      </p:sp>
      <p:sp>
        <p:nvSpPr>
          <p:cNvPr id="3" name="TextBox 2"/>
          <p:cNvSpPr txBox="1"/>
          <p:nvPr/>
        </p:nvSpPr>
        <p:spPr>
          <a:xfrm>
            <a:off x="548640" y="868680"/>
            <a:ext cx="10058400" cy="548640"/>
          </a:xfrm>
          <a:prstGeom prst="rect">
            <a:avLst/>
          </a:prstGeom>
          <a:noFill/>
        </p:spPr>
        <p:txBody>
          <a:bodyPr wrap="square" anchor="t" lIns="0" rIns="0" tIns="0" bIns="0">
            <a:spAutoFit/>
          </a:bodyPr>
          <a:lstStyle/>
          <a:p>
            <a:pPr algn="l">
              <a:lnSpc>
                <a:spcPct val="115000"/>
              </a:lnSpc>
              <a:spcBef>
                <a:spcPts val="0"/>
              </a:spcBef>
              <a:spcAft>
                <a:spcPts val="0"/>
              </a:spcAft>
            </a:pPr>
            <a:r>
              <a:rPr sz="2400" b="1">
                <a:solidFill>
                  <a:srgbClr val="2B6444"/>
                </a:solidFill>
                <a:latin typeface="Noto Serif JP"/>
                <a:ea typeface="Noto Serif JP"/>
                <a:cs typeface="Noto Serif JP"/>
              </a:rPr>
              <a:t>最初から弁護士が関与することの利点</a:t>
            </a:r>
          </a:p>
        </p:txBody>
      </p:sp>
      <p:sp>
        <p:nvSpPr>
          <p:cNvPr id="4" name="TextBox 3"/>
          <p:cNvSpPr txBox="1"/>
          <p:nvPr/>
        </p:nvSpPr>
        <p:spPr>
          <a:xfrm>
            <a:off x="548640" y="1463040"/>
            <a:ext cx="11064240" cy="1463040"/>
          </a:xfrm>
          <a:prstGeom prst="rect">
            <a:avLst/>
          </a:prstGeom>
          <a:noFill/>
        </p:spPr>
        <p:txBody>
          <a:bodyPr wrap="square" anchor="t" lIns="0" rIns="0" tIns="0" bIns="0">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弁護士費用特約が使える案件であれば、「揉めてから弁護士に依頼する」という発想ではなく、「揉める前から弁護士を入れておく」という発想の方が、依頼者にとっても、紹介元にとっても、相手方保険会社にとっても、結果的には合理的であることが多いです。実際、最初から弁護士が入っていれば、請求項目の漏れを防ぎやすくなり、後遺障害認定も見据えた準備がしやすくなり、物損についても評価損のような見落としやすい論点を早期に拾うことができます。</a:t>
            </a:r>
          </a:p>
        </p:txBody>
      </p:sp>
      <p:sp>
        <p:nvSpPr>
          <p:cNvPr id="5" name="Rectangle 4"/>
          <p:cNvSpPr/>
          <p:nvPr/>
        </p:nvSpPr>
        <p:spPr>
          <a:xfrm>
            <a:off x="548640" y="3017520"/>
            <a:ext cx="11064240" cy="1024128"/>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3328416"/>
            <a:ext cx="411480" cy="41148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328416"/>
            <a:ext cx="411480" cy="411480"/>
          </a:xfrm>
          <a:prstGeom prst="rect">
            <a:avLst/>
          </a:prstGeom>
          <a:noFill/>
        </p:spPr>
        <p:txBody>
          <a:bodyPr wrap="square" anchor="ctr" lIns="0" rIns="0" tIns="0" bIns="0">
            <a:spAutoFit/>
          </a:bodyPr>
          <a:lstStyle/>
          <a:p>
            <a:pPr algn="ctr">
              <a:lnSpc>
                <a:spcPct val="100000"/>
              </a:lnSpc>
              <a:spcBef>
                <a:spcPts val="0"/>
              </a:spcBef>
              <a:spcAft>
                <a:spcPts val="0"/>
              </a:spcAft>
            </a:pPr>
            <a:r>
              <a:rPr sz="1800" b="1">
                <a:solidFill>
                  <a:srgbClr val="FFFFFF"/>
                </a:solidFill>
                <a:latin typeface="Noto Sans JP"/>
                <a:ea typeface="Noto Sans JP"/>
                <a:cs typeface="Noto Sans JP"/>
              </a:rPr>
              <a:t>✓</a:t>
            </a:r>
          </a:p>
        </p:txBody>
      </p:sp>
      <p:sp>
        <p:nvSpPr>
          <p:cNvPr id="8" name="TextBox 7"/>
          <p:cNvSpPr txBox="1"/>
          <p:nvPr/>
        </p:nvSpPr>
        <p:spPr>
          <a:xfrm>
            <a:off x="1417320" y="3090672"/>
            <a:ext cx="10241280" cy="896112"/>
          </a:xfrm>
          <a:prstGeom prst="rect">
            <a:avLst/>
          </a:prstGeom>
          <a:noFill/>
        </p:spPr>
        <p:txBody>
          <a:bodyPr wrap="square" anchor="ctr" lIns="0" rIns="0" tIns="0" bIns="0">
            <a:spAutoFit/>
          </a:bodyPr>
          <a:lstStyle/>
          <a:p>
            <a:pPr algn="l">
              <a:lnSpc>
                <a:spcPct val="115000"/>
              </a:lnSpc>
              <a:spcBef>
                <a:spcPts val="0"/>
              </a:spcBef>
              <a:spcAft>
                <a:spcPts val="200"/>
              </a:spcAft>
            </a:pPr>
            <a:r>
              <a:rPr sz="1600" b="1">
                <a:solidFill>
                  <a:srgbClr val="1E4D33"/>
                </a:solidFill>
                <a:latin typeface="Noto Serif JP"/>
                <a:ea typeface="Noto Serif JP"/>
                <a:cs typeface="Noto Serif JP"/>
              </a:rPr>
              <a:t>請求項目の漏れを防ぎやすくなる　</a:t>
            </a:r>
          </a:p>
          <a:p>
            <a:pPr algn="l">
              <a:lnSpc>
                <a:spcPct val="115000"/>
              </a:lnSpc>
              <a:spcBef>
                <a:spcPts val="0"/>
              </a:spcBef>
              <a:spcAft>
                <a:spcPts val="200"/>
              </a:spcAft>
            </a:pPr>
            <a:r>
              <a:rPr sz="1600" b="0">
                <a:solidFill>
                  <a:srgbClr val="1A1A1A"/>
                </a:solidFill>
                <a:latin typeface="Noto Sans JP"/>
                <a:ea typeface="Noto Sans JP"/>
                <a:cs typeface="Noto Sans JP"/>
              </a:rPr>
              <a:t>弁護士は交通事故案件の全請求項目を把握しており、初期段階から漏れのない請求リストを作成できます。依頼者が「言われていないから気にしなかった」という状況を防ぎます。</a:t>
            </a:r>
          </a:p>
        </p:txBody>
      </p:sp>
      <p:sp>
        <p:nvSpPr>
          <p:cNvPr id="9" name="Rectangle 8"/>
          <p:cNvSpPr/>
          <p:nvPr/>
        </p:nvSpPr>
        <p:spPr>
          <a:xfrm>
            <a:off x="548640" y="4160520"/>
            <a:ext cx="11064240" cy="1024128"/>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4471416"/>
            <a:ext cx="411480" cy="41148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471416"/>
            <a:ext cx="411480" cy="411480"/>
          </a:xfrm>
          <a:prstGeom prst="rect">
            <a:avLst/>
          </a:prstGeom>
          <a:noFill/>
        </p:spPr>
        <p:txBody>
          <a:bodyPr wrap="square" anchor="ctr" lIns="0" rIns="0" tIns="0" bIns="0">
            <a:spAutoFit/>
          </a:bodyPr>
          <a:lstStyle/>
          <a:p>
            <a:pPr algn="ctr">
              <a:lnSpc>
                <a:spcPct val="100000"/>
              </a:lnSpc>
              <a:spcBef>
                <a:spcPts val="0"/>
              </a:spcBef>
              <a:spcAft>
                <a:spcPts val="0"/>
              </a:spcAft>
            </a:pPr>
            <a:r>
              <a:rPr sz="1800" b="1">
                <a:solidFill>
                  <a:srgbClr val="FFFFFF"/>
                </a:solidFill>
                <a:latin typeface="Noto Sans JP"/>
                <a:ea typeface="Noto Sans JP"/>
                <a:cs typeface="Noto Sans JP"/>
              </a:rPr>
              <a:t>✓</a:t>
            </a:r>
          </a:p>
        </p:txBody>
      </p:sp>
      <p:sp>
        <p:nvSpPr>
          <p:cNvPr id="12" name="TextBox 11"/>
          <p:cNvSpPr txBox="1"/>
          <p:nvPr/>
        </p:nvSpPr>
        <p:spPr>
          <a:xfrm>
            <a:off x="1417320" y="4233672"/>
            <a:ext cx="10241280" cy="896112"/>
          </a:xfrm>
          <a:prstGeom prst="rect">
            <a:avLst/>
          </a:prstGeom>
          <a:noFill/>
        </p:spPr>
        <p:txBody>
          <a:bodyPr wrap="square" anchor="ctr" lIns="0" rIns="0" tIns="0" bIns="0">
            <a:spAutoFit/>
          </a:bodyPr>
          <a:lstStyle/>
          <a:p>
            <a:pPr algn="l">
              <a:lnSpc>
                <a:spcPct val="115000"/>
              </a:lnSpc>
              <a:spcBef>
                <a:spcPts val="0"/>
              </a:spcBef>
              <a:spcAft>
                <a:spcPts val="200"/>
              </a:spcAft>
            </a:pPr>
            <a:r>
              <a:rPr sz="1600" b="1">
                <a:solidFill>
                  <a:srgbClr val="1E4D33"/>
                </a:solidFill>
                <a:latin typeface="Noto Serif JP"/>
                <a:ea typeface="Noto Serif JP"/>
                <a:cs typeface="Noto Serif JP"/>
              </a:rPr>
              <a:t>後遺障害認定を見据えた準備がしやすくなる　</a:t>
            </a:r>
          </a:p>
          <a:p>
            <a:pPr algn="l">
              <a:lnSpc>
                <a:spcPct val="115000"/>
              </a:lnSpc>
              <a:spcBef>
                <a:spcPts val="0"/>
              </a:spcBef>
              <a:spcAft>
                <a:spcPts val="200"/>
              </a:spcAft>
            </a:pPr>
            <a:r>
              <a:rPr sz="1600" b="0">
                <a:solidFill>
                  <a:srgbClr val="1A1A1A"/>
                </a:solidFill>
                <a:latin typeface="Noto Sans JP"/>
                <a:ea typeface="Noto Sans JP"/>
                <a:cs typeface="Noto Sans JP"/>
              </a:rPr>
              <a:t>認定基準を理解した弁護士が主治医と連携することで、診断書の記載方針・必要な検査・資料収集を初動から最適化できます。</a:t>
            </a:r>
          </a:p>
        </p:txBody>
      </p:sp>
      <p:sp>
        <p:nvSpPr>
          <p:cNvPr id="13" name="Rectangle 12"/>
          <p:cNvSpPr/>
          <p:nvPr/>
        </p:nvSpPr>
        <p:spPr>
          <a:xfrm>
            <a:off x="548640" y="5303520"/>
            <a:ext cx="11064240" cy="1024128"/>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7240" y="5614416"/>
            <a:ext cx="411480" cy="411480"/>
          </a:xfrm>
          <a:prstGeom prst="ellipse">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614416"/>
            <a:ext cx="411480" cy="411480"/>
          </a:xfrm>
          <a:prstGeom prst="rect">
            <a:avLst/>
          </a:prstGeom>
          <a:noFill/>
        </p:spPr>
        <p:txBody>
          <a:bodyPr wrap="square" anchor="ctr" lIns="0" rIns="0" tIns="0" bIns="0">
            <a:spAutoFit/>
          </a:bodyPr>
          <a:lstStyle/>
          <a:p>
            <a:pPr algn="ctr">
              <a:lnSpc>
                <a:spcPct val="100000"/>
              </a:lnSpc>
              <a:spcBef>
                <a:spcPts val="0"/>
              </a:spcBef>
              <a:spcAft>
                <a:spcPts val="0"/>
              </a:spcAft>
            </a:pPr>
            <a:r>
              <a:rPr sz="1800" b="1">
                <a:solidFill>
                  <a:srgbClr val="FFFFFF"/>
                </a:solidFill>
                <a:latin typeface="Noto Sans JP"/>
                <a:ea typeface="Noto Sans JP"/>
                <a:cs typeface="Noto Sans JP"/>
              </a:rPr>
              <a:t>✓</a:t>
            </a:r>
          </a:p>
        </p:txBody>
      </p:sp>
      <p:sp>
        <p:nvSpPr>
          <p:cNvPr id="16" name="TextBox 15"/>
          <p:cNvSpPr txBox="1"/>
          <p:nvPr/>
        </p:nvSpPr>
        <p:spPr>
          <a:xfrm>
            <a:off x="1417320" y="5376672"/>
            <a:ext cx="10241280" cy="896112"/>
          </a:xfrm>
          <a:prstGeom prst="rect">
            <a:avLst/>
          </a:prstGeom>
          <a:noFill/>
        </p:spPr>
        <p:txBody>
          <a:bodyPr wrap="square" anchor="ctr" lIns="0" rIns="0" tIns="0" bIns="0">
            <a:spAutoFit/>
          </a:bodyPr>
          <a:lstStyle/>
          <a:p>
            <a:pPr algn="l">
              <a:lnSpc>
                <a:spcPct val="115000"/>
              </a:lnSpc>
              <a:spcBef>
                <a:spcPts val="0"/>
              </a:spcBef>
              <a:spcAft>
                <a:spcPts val="200"/>
              </a:spcAft>
            </a:pPr>
            <a:r>
              <a:rPr sz="1600" b="1">
                <a:solidFill>
                  <a:srgbClr val="1E4D33"/>
                </a:solidFill>
                <a:latin typeface="Noto Serif JP"/>
                <a:ea typeface="Noto Serif JP"/>
                <a:cs typeface="Noto Serif JP"/>
              </a:rPr>
              <a:t>物損における評価損などを早期に拾いやすくなる　</a:t>
            </a:r>
          </a:p>
          <a:p>
            <a:pPr algn="l">
              <a:lnSpc>
                <a:spcPct val="115000"/>
              </a:lnSpc>
              <a:spcBef>
                <a:spcPts val="0"/>
              </a:spcBef>
              <a:spcAft>
                <a:spcPts val="200"/>
              </a:spcAft>
            </a:pPr>
            <a:r>
              <a:rPr sz="1600" b="0">
                <a:solidFill>
                  <a:srgbClr val="1A1A1A"/>
                </a:solidFill>
                <a:latin typeface="Noto Sans JP"/>
                <a:ea typeface="Noto Sans JP"/>
                <a:cs typeface="Noto Sans JP"/>
              </a:rPr>
              <a:t>修理費以外に評価損・代車費用・格落ち損害など見落とされやすい論点も初期段階から整理し、一体的に請求できます。</a:t>
            </a:r>
          </a:p>
        </p:txBody>
      </p:sp>
      <p:sp>
        <p:nvSpPr>
          <p:cNvPr id="17" name="TextBox 16"/>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8" name="TextBox 17"/>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MESSAGE</a:t>
            </a:r>
          </a:p>
        </p:txBody>
      </p:sp>
      <p:sp>
        <p:nvSpPr>
          <p:cNvPr id="3" name="TextBox 2"/>
          <p:cNvSpPr txBox="1"/>
          <p:nvPr/>
        </p:nvSpPr>
        <p:spPr>
          <a:xfrm>
            <a:off x="548640" y="868680"/>
            <a:ext cx="10058400" cy="914400"/>
          </a:xfrm>
          <a:prstGeom prst="rect">
            <a:avLst/>
          </a:prstGeom>
          <a:noFill/>
        </p:spPr>
        <p:txBody>
          <a:bodyPr wrap="square" anchor="t" lIns="0" rIns="0" tIns="0" bIns="0">
            <a:spAutoFit/>
          </a:bodyPr>
          <a:lstStyle/>
          <a:p>
            <a:pPr algn="l">
              <a:lnSpc>
                <a:spcPct val="110000"/>
              </a:lnSpc>
              <a:spcBef>
                <a:spcPts val="0"/>
              </a:spcBef>
              <a:spcAft>
                <a:spcPts val="0"/>
              </a:spcAft>
            </a:pPr>
            <a:r>
              <a:rPr sz="2800" b="1">
                <a:solidFill>
                  <a:srgbClr val="1E4D33"/>
                </a:solidFill>
                <a:latin typeface="Noto Serif JP"/>
                <a:ea typeface="Noto Serif JP"/>
                <a:cs typeface="Noto Serif JP"/>
              </a:rPr>
              <a:t>初動対応を担う方々へのメッセージ</a:t>
            </a:r>
          </a:p>
        </p:txBody>
      </p:sp>
      <p:sp>
        <p:nvSpPr>
          <p:cNvPr id="4" name="TextBox 3"/>
          <p:cNvSpPr txBox="1"/>
          <p:nvPr/>
        </p:nvSpPr>
        <p:spPr>
          <a:xfrm>
            <a:off x="548640" y="1828800"/>
            <a:ext cx="7589520" cy="4206240"/>
          </a:xfrm>
          <a:prstGeom prst="rect">
            <a:avLst/>
          </a:prstGeom>
          <a:noFill/>
        </p:spPr>
        <p:txBody>
          <a:bodyPr wrap="square" anchor="t" lIns="0" rIns="0" tIns="0" bIns="0">
            <a:spAutoFit/>
          </a:bodyPr>
          <a:lstStyle/>
          <a:p>
            <a:pPr algn="l">
              <a:lnSpc>
                <a:spcPct val="140000"/>
              </a:lnSpc>
              <a:spcBef>
                <a:spcPts val="0"/>
              </a:spcBef>
              <a:spcAft>
                <a:spcPts val="1000"/>
              </a:spcAft>
            </a:pPr>
            <a:r>
              <a:rPr sz="1600" b="0">
                <a:solidFill>
                  <a:srgbClr val="1A1A1A"/>
                </a:solidFill>
                <a:latin typeface="Noto Sans JP"/>
                <a:ea typeface="Noto Sans JP"/>
                <a:cs typeface="Noto Sans JP"/>
              </a:rPr>
              <a:t>その意味で、保険代理店として、事故後の初動でお客様と接する立場の方が、「まだ揉めていないから様子を見よう」と考えるのではなく、「弁護士費用特約があるなら、まず弁護士につないでおこう」と判断していただくことには、大きな意味があると考えています。</a:t>
            </a:r>
          </a:p>
          <a:p>
            <a:pPr algn="l">
              <a:lnSpc>
                <a:spcPct val="140000"/>
              </a:lnSpc>
              <a:spcBef>
                <a:spcPts val="0"/>
              </a:spcBef>
              <a:spcAft>
                <a:spcPts val="1000"/>
              </a:spcAft>
            </a:pPr>
            <a:r>
              <a:rPr sz="1600" b="0">
                <a:solidFill>
                  <a:srgbClr val="1A1A1A"/>
                </a:solidFill>
                <a:latin typeface="Noto Sans JP"/>
                <a:ea typeface="Noto Sans JP"/>
                <a:cs typeface="Noto Sans JP"/>
              </a:rPr>
              <a:t>弁護士費用特約は、あくまでも「使えるなら使う」ものです。特約がある限り、依頼者の自己負担は基本的に生じません。であれば、「早く使えば使うほど、依頼者のメリットが大きい」という論理は、至極自然なものです。</a:t>
            </a:r>
          </a:p>
          <a:p>
            <a:pPr algn="l">
              <a:lnSpc>
                <a:spcPct val="140000"/>
              </a:lnSpc>
              <a:spcBef>
                <a:spcPts val="0"/>
              </a:spcBef>
              <a:spcAft>
                <a:spcPts val="1000"/>
              </a:spcAft>
            </a:pPr>
            <a:r>
              <a:rPr sz="1600" b="0">
                <a:solidFill>
                  <a:srgbClr val="1A1A1A"/>
                </a:solidFill>
                <a:latin typeface="Noto Sans JP"/>
                <a:ea typeface="Noto Sans JP"/>
                <a:cs typeface="Noto Sans JP"/>
              </a:rPr>
              <a:t>「揉める前に弁護士へ」——この一言を合言葉に、事故後の初動でお客様を適切な方向へ誘導していただければ、依頼者にとって最善の解決への近道になります。当事務所は、そのような連携をご希望の保険代理店様からのご相談を随時お待ちしております。</a:t>
            </a:r>
          </a:p>
        </p:txBody>
      </p:sp>
      <p:pic>
        <p:nvPicPr>
          <p:cNvPr id="5" name="Picture 4" descr="06_相談.jpg"/>
          <p:cNvPicPr>
            <a:picLocks noChangeAspect="1"/>
          </p:cNvPicPr>
          <p:nvPr/>
        </p:nvPicPr>
        <p:blipFill>
          <a:blip r:embed="rId2"/>
          <a:srcRect t="1573" b="1573"/>
          <a:stretch>
            <a:fillRect/>
          </a:stretch>
        </p:blipFill>
        <p:spPr>
          <a:xfrm>
            <a:off x="8412480" y="1828800"/>
            <a:ext cx="3200400" cy="1554480"/>
          </a:xfrm>
          <a:prstGeom prst="rect">
            <a:avLst/>
          </a:prstGeom>
        </p:spPr>
      </p:pic>
      <p:sp>
        <p:nvSpPr>
          <p:cNvPr id="6" name="Rectangle 5"/>
          <p:cNvSpPr/>
          <p:nvPr/>
        </p:nvSpPr>
        <p:spPr>
          <a:xfrm>
            <a:off x="8412480" y="3520440"/>
            <a:ext cx="3200400" cy="269748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41080" y="3657600"/>
            <a:ext cx="2788920" cy="548640"/>
          </a:xfrm>
          <a:prstGeom prst="rect">
            <a:avLst/>
          </a:prstGeom>
          <a:noFill/>
        </p:spPr>
        <p:txBody>
          <a:bodyPr wrap="square" anchor="t" lIns="0" rIns="0" tIns="0" bIns="0">
            <a:spAutoFit/>
          </a:bodyPr>
          <a:lstStyle/>
          <a:p>
            <a:pPr algn="l">
              <a:lnSpc>
                <a:spcPct val="115000"/>
              </a:lnSpc>
              <a:spcBef>
                <a:spcPts val="0"/>
              </a:spcBef>
              <a:spcAft>
                <a:spcPts val="400"/>
              </a:spcAft>
            </a:pPr>
            <a:r>
              <a:rPr sz="1600" b="1">
                <a:solidFill>
                  <a:srgbClr val="2B6444"/>
                </a:solidFill>
                <a:latin typeface="Noto Sans JP"/>
                <a:ea typeface="Noto Sans JP"/>
                <a:cs typeface="Noto Sans JP"/>
              </a:rPr>
              <a:t>弁護士費用特約を活用するメリット</a:t>
            </a:r>
          </a:p>
        </p:txBody>
      </p:sp>
      <p:sp>
        <p:nvSpPr>
          <p:cNvPr id="8" name="TextBox 7"/>
          <p:cNvSpPr txBox="1"/>
          <p:nvPr/>
        </p:nvSpPr>
        <p:spPr>
          <a:xfrm>
            <a:off x="8641080" y="4206240"/>
            <a:ext cx="2788920" cy="1920240"/>
          </a:xfrm>
          <a:prstGeom prst="rect">
            <a:avLst/>
          </a:prstGeom>
          <a:noFill/>
        </p:spPr>
        <p:txBody>
          <a:bodyPr wrap="square" anchor="t" lIns="0" rIns="0" tIns="0" bIns="0">
            <a:spAutoFit/>
          </a:bodyPr>
          <a:lstStyle/>
          <a:p>
            <a:pPr algn="l">
              <a:lnSpc>
                <a:spcPct val="130000"/>
              </a:lnSpc>
              <a:spcBef>
                <a:spcPts val="0"/>
              </a:spcBef>
              <a:spcAft>
                <a:spcPts val="800"/>
              </a:spcAft>
            </a:pPr>
            <a:r>
              <a:rPr sz="1600" b="1">
                <a:solidFill>
                  <a:srgbClr val="2B6444"/>
                </a:solidFill>
                <a:latin typeface="Noto Sans JP"/>
                <a:ea typeface="Noto Sans JP"/>
                <a:cs typeface="Noto Sans JP"/>
              </a:rPr>
              <a:t>・</a:t>
            </a:r>
            <a:r>
              <a:rPr sz="1600" b="0">
                <a:solidFill>
                  <a:srgbClr val="1E4D33"/>
                </a:solidFill>
                <a:latin typeface="Noto Sans JP"/>
                <a:ea typeface="Noto Sans JP"/>
                <a:cs typeface="Noto Sans JP"/>
              </a:rPr>
              <a:t>依頼者の自己負担なしで弁護士に依頼できる</a:t>
            </a:r>
          </a:p>
          <a:p>
            <a:pPr algn="l">
              <a:lnSpc>
                <a:spcPct val="130000"/>
              </a:lnSpc>
              <a:spcBef>
                <a:spcPts val="0"/>
              </a:spcBef>
              <a:spcAft>
                <a:spcPts val="800"/>
              </a:spcAft>
            </a:pPr>
            <a:r>
              <a:rPr sz="1600" b="1">
                <a:solidFill>
                  <a:srgbClr val="2B6444"/>
                </a:solidFill>
                <a:latin typeface="Noto Sans JP"/>
                <a:ea typeface="Noto Sans JP"/>
                <a:cs typeface="Noto Sans JP"/>
              </a:rPr>
              <a:t>・</a:t>
            </a:r>
            <a:r>
              <a:rPr sz="1600" b="0">
                <a:solidFill>
                  <a:srgbClr val="1E4D33"/>
                </a:solidFill>
                <a:latin typeface="Noto Sans JP"/>
                <a:ea typeface="Noto Sans JP"/>
                <a:cs typeface="Noto Sans JP"/>
              </a:rPr>
              <a:t>早期着手で請求漏れを防ぎ、適正補償を確保できる</a:t>
            </a:r>
          </a:p>
          <a:p>
            <a:pPr algn="l">
              <a:lnSpc>
                <a:spcPct val="130000"/>
              </a:lnSpc>
              <a:spcBef>
                <a:spcPts val="0"/>
              </a:spcBef>
              <a:spcAft>
                <a:spcPts val="800"/>
              </a:spcAft>
            </a:pPr>
            <a:r>
              <a:rPr sz="1600" b="1">
                <a:solidFill>
                  <a:srgbClr val="2B6444"/>
                </a:solidFill>
                <a:latin typeface="Noto Sans JP"/>
                <a:ea typeface="Noto Sans JP"/>
                <a:cs typeface="Noto Sans JP"/>
              </a:rPr>
              <a:t>・</a:t>
            </a:r>
            <a:r>
              <a:rPr sz="1600" b="0">
                <a:solidFill>
                  <a:srgbClr val="1E4D33"/>
                </a:solidFill>
                <a:latin typeface="Noto Sans JP"/>
                <a:ea typeface="Noto Sans JP"/>
                <a:cs typeface="Noto Sans JP"/>
              </a:rPr>
              <a:t>紹介元（保険代理店様）への顧客からの信頼向上につながる</a:t>
            </a:r>
          </a:p>
        </p:txBody>
      </p:sp>
      <p:sp>
        <p:nvSpPr>
          <p:cNvPr id="9" name="TextBox 8"/>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0" name="TextBox 9"/>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MESSAGE / 続き</a:t>
            </a:r>
          </a:p>
        </p:txBody>
      </p:sp>
      <p:sp>
        <p:nvSpPr>
          <p:cNvPr id="3" name="Rectangle 2"/>
          <p:cNvSpPr/>
          <p:nvPr/>
        </p:nvSpPr>
        <p:spPr>
          <a:xfrm>
            <a:off x="548640" y="960120"/>
            <a:ext cx="3566160" cy="1783080"/>
          </a:xfrm>
          <a:prstGeom prst="rect">
            <a:avLst/>
          </a:prstGeom>
          <a:solidFill>
            <a:srgbClr val="FFFFFF"/>
          </a:solidFill>
          <a:ln w="19050">
            <a:solidFill>
              <a:srgbClr val="C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960120"/>
            <a:ext cx="3566160" cy="109728"/>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188720"/>
            <a:ext cx="3108960" cy="1463040"/>
          </a:xfrm>
          <a:prstGeom prst="rect">
            <a:avLst/>
          </a:prstGeom>
          <a:noFill/>
        </p:spPr>
        <p:txBody>
          <a:bodyPr wrap="square" anchor="t" lIns="0" rIns="0" tIns="0" bIns="0">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入通院慰謝料・交通費・休業損害・営業損害など、全請求項目を当初から整理。後から追加する手間なし。</a:t>
            </a:r>
          </a:p>
        </p:txBody>
      </p:sp>
      <p:sp>
        <p:nvSpPr>
          <p:cNvPr id="6" name="Rectangle 5"/>
          <p:cNvSpPr/>
          <p:nvPr/>
        </p:nvSpPr>
        <p:spPr>
          <a:xfrm>
            <a:off x="4297680" y="960120"/>
            <a:ext cx="3566160" cy="1783080"/>
          </a:xfrm>
          <a:prstGeom prst="rect">
            <a:avLst/>
          </a:prstGeom>
          <a:solidFill>
            <a:srgbClr val="FFFFFF"/>
          </a:solidFill>
          <a:ln w="19050">
            <a:solidFill>
              <a:srgbClr val="C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7680" y="960120"/>
            <a:ext cx="3566160" cy="109728"/>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188720"/>
            <a:ext cx="3108960" cy="1463040"/>
          </a:xfrm>
          <a:prstGeom prst="rect">
            <a:avLst/>
          </a:prstGeom>
          <a:noFill/>
        </p:spPr>
        <p:txBody>
          <a:bodyPr wrap="square" anchor="t" lIns="0" rIns="0" tIns="0" bIns="0">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認定基準を踏まえた診断書・資料整備を初期から最適化。不認定からのやり直し不要。</a:t>
            </a:r>
          </a:p>
        </p:txBody>
      </p:sp>
      <p:sp>
        <p:nvSpPr>
          <p:cNvPr id="9" name="Rectangle 8"/>
          <p:cNvSpPr/>
          <p:nvPr/>
        </p:nvSpPr>
        <p:spPr>
          <a:xfrm>
            <a:off x="8046720" y="960120"/>
            <a:ext cx="3566160" cy="1783080"/>
          </a:xfrm>
          <a:prstGeom prst="rect">
            <a:avLst/>
          </a:prstGeom>
          <a:solidFill>
            <a:srgbClr val="FFFFFF"/>
          </a:solidFill>
          <a:ln w="19050">
            <a:solidFill>
              <a:srgbClr val="C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46720" y="960120"/>
            <a:ext cx="3566160" cy="109728"/>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188720"/>
            <a:ext cx="3108960" cy="1463040"/>
          </a:xfrm>
          <a:prstGeom prst="rect">
            <a:avLst/>
          </a:prstGeom>
          <a:noFill/>
        </p:spPr>
        <p:txBody>
          <a:bodyPr wrap="square" anchor="t" lIns="0" rIns="0" tIns="0" bIns="0">
            <a:spAutoFit/>
          </a:bodyPr>
          <a:lstStyle/>
          <a:p>
            <a:pPr algn="l">
              <a:lnSpc>
                <a:spcPct val="140000"/>
              </a:lnSpc>
              <a:spcBef>
                <a:spcPts val="0"/>
              </a:spcBef>
              <a:spcAft>
                <a:spcPts val="0"/>
              </a:spcAft>
            </a:pPr>
            <a:r>
              <a:rPr sz="1600" b="0">
                <a:solidFill>
                  <a:srgbClr val="1A1A1A"/>
                </a:solidFill>
                <a:latin typeface="Noto Sans JP"/>
                <a:ea typeface="Noto Sans JP"/>
                <a:cs typeface="Noto Sans JP"/>
              </a:rPr>
              <a:t>外車評価損・代車費用・格落ち損害など見落とされがちな論点も、初期段階から一体的に請求。</a:t>
            </a:r>
          </a:p>
        </p:txBody>
      </p:sp>
      <p:sp>
        <p:nvSpPr>
          <p:cNvPr id="12" name="Rectangle 11"/>
          <p:cNvSpPr/>
          <p:nvPr/>
        </p:nvSpPr>
        <p:spPr>
          <a:xfrm>
            <a:off x="548640" y="3017520"/>
            <a:ext cx="11064240" cy="1463040"/>
          </a:xfrm>
          <a:prstGeom prst="rect">
            <a:avLst/>
          </a:prstGeom>
          <a:solidFill>
            <a:srgbClr val="2B6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08960"/>
            <a:ext cx="10332720" cy="1280160"/>
          </a:xfrm>
          <a:prstGeom prst="rect">
            <a:avLst/>
          </a:prstGeom>
          <a:noFill/>
        </p:spPr>
        <p:txBody>
          <a:bodyPr wrap="square" anchor="ctr" lIns="0" rIns="0" tIns="0" bIns="0">
            <a:spAutoFit/>
          </a:bodyPr>
          <a:lstStyle/>
          <a:p>
            <a:pPr algn="l">
              <a:lnSpc>
                <a:spcPct val="140000"/>
              </a:lnSpc>
              <a:spcBef>
                <a:spcPts val="0"/>
              </a:spcBef>
              <a:spcAft>
                <a:spcPts val="0"/>
              </a:spcAft>
            </a:pPr>
            <a:r>
              <a:rPr sz="2000" b="1">
                <a:solidFill>
                  <a:srgbClr val="FFFFFF"/>
                </a:solidFill>
                <a:latin typeface="Noto Serif JP"/>
                <a:ea typeface="Noto Serif JP"/>
                <a:cs typeface="Noto Serif JP"/>
              </a:rPr>
              <a:t>「揉めてから弁護士」ではなく「揉める前から弁護士」——弁護士費用特約があるなら、早期の弁護士介入が依頼者にとっても、紹介元にとっても、最も合理的な選択です。</a:t>
            </a:r>
          </a:p>
        </p:txBody>
      </p:sp>
      <p:sp>
        <p:nvSpPr>
          <p:cNvPr id="14" name="Rectangle 13"/>
          <p:cNvSpPr/>
          <p:nvPr/>
        </p:nvSpPr>
        <p:spPr>
          <a:xfrm>
            <a:off x="548640" y="4754880"/>
            <a:ext cx="5440680" cy="141732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92040"/>
            <a:ext cx="4983480" cy="1188720"/>
          </a:xfrm>
          <a:prstGeom prst="rect">
            <a:avLst/>
          </a:prstGeom>
          <a:noFill/>
        </p:spPr>
        <p:txBody>
          <a:bodyPr wrap="square" anchor="t" lIns="0" rIns="0" tIns="0" bIns="0">
            <a:spAutoFit/>
          </a:bodyPr>
          <a:lstStyle/>
          <a:p>
            <a:pPr algn="l">
              <a:lnSpc>
                <a:spcPct val="130000"/>
              </a:lnSpc>
              <a:spcBef>
                <a:spcPts val="0"/>
              </a:spcBef>
              <a:spcAft>
                <a:spcPts val="400"/>
              </a:spcAft>
            </a:pPr>
            <a:r>
              <a:rPr sz="1600" b="1">
                <a:solidFill>
                  <a:srgbClr val="2B6444"/>
                </a:solidFill>
                <a:latin typeface="Noto Sans JP"/>
                <a:ea typeface="Noto Sans JP"/>
                <a:cs typeface="Noto Sans JP"/>
              </a:rPr>
              <a:t>当事務所の対応</a:t>
            </a:r>
          </a:p>
          <a:p>
            <a:pPr algn="l">
              <a:lnSpc>
                <a:spcPct val="130000"/>
              </a:lnSpc>
              <a:spcBef>
                <a:spcPts val="0"/>
              </a:spcBef>
              <a:spcAft>
                <a:spcPts val="400"/>
              </a:spcAft>
            </a:pPr>
            <a:r>
              <a:rPr sz="1600" b="0">
                <a:solidFill>
                  <a:srgbClr val="1E4D33"/>
                </a:solidFill>
                <a:latin typeface="Noto Sans JP"/>
                <a:ea typeface="Noto Sans JP"/>
                <a:cs typeface="Noto Sans JP"/>
              </a:rPr>
              <a:t>保険代理店様からのご紹介・連携を随時受け付けております。まずはお気軽にご相談ください。</a:t>
            </a:r>
          </a:p>
        </p:txBody>
      </p:sp>
      <p:sp>
        <p:nvSpPr>
          <p:cNvPr id="16" name="Rectangle 15"/>
          <p:cNvSpPr/>
          <p:nvPr/>
        </p:nvSpPr>
        <p:spPr>
          <a:xfrm>
            <a:off x="6172200" y="4754880"/>
            <a:ext cx="5440680" cy="141732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892040"/>
            <a:ext cx="4983480" cy="1188720"/>
          </a:xfrm>
          <a:prstGeom prst="rect">
            <a:avLst/>
          </a:prstGeom>
          <a:noFill/>
        </p:spPr>
        <p:txBody>
          <a:bodyPr wrap="square" anchor="t" lIns="0" rIns="0" tIns="0" bIns="0">
            <a:spAutoFit/>
          </a:bodyPr>
          <a:lstStyle/>
          <a:p>
            <a:pPr algn="l">
              <a:lnSpc>
                <a:spcPct val="130000"/>
              </a:lnSpc>
              <a:spcBef>
                <a:spcPts val="0"/>
              </a:spcBef>
              <a:spcAft>
                <a:spcPts val="400"/>
              </a:spcAft>
            </a:pPr>
            <a:r>
              <a:rPr sz="1600" b="1">
                <a:solidFill>
                  <a:srgbClr val="2B6444"/>
                </a:solidFill>
                <a:latin typeface="Noto Sans JP"/>
                <a:ea typeface="Noto Sans JP"/>
                <a:cs typeface="Noto Sans JP"/>
              </a:rPr>
              <a:t>アクセス</a:t>
            </a:r>
          </a:p>
          <a:p>
            <a:pPr algn="l">
              <a:lnSpc>
                <a:spcPct val="130000"/>
              </a:lnSpc>
              <a:spcBef>
                <a:spcPts val="0"/>
              </a:spcBef>
              <a:spcAft>
                <a:spcPts val="400"/>
              </a:spcAft>
            </a:pPr>
            <a:r>
              <a:rPr sz="1600" b="0">
                <a:solidFill>
                  <a:srgbClr val="1E4D33"/>
                </a:solidFill>
                <a:latin typeface="Noto Sans JP"/>
                <a:ea typeface="Noto Sans JP"/>
                <a:cs typeface="Noto Sans JP"/>
              </a:rPr>
              <a:t>東銀座駅 徒歩7分 ／ 新橋駅 徒歩9分 ／ 〒104-0061 東京都中央区銀座8丁目17-5</a:t>
            </a:r>
          </a:p>
        </p:txBody>
      </p:sp>
      <p:sp>
        <p:nvSpPr>
          <p:cNvPr id="18" name="TextBox 17"/>
          <p:cNvSpPr txBox="1"/>
          <p:nvPr/>
        </p:nvSpPr>
        <p:spPr>
          <a:xfrm>
            <a:off x="457200" y="6446520"/>
            <a:ext cx="8229600" cy="320040"/>
          </a:xfrm>
          <a:prstGeom prst="rect">
            <a:avLst/>
          </a:prstGeom>
          <a:noFill/>
        </p:spPr>
        <p:txBody>
          <a:bodyPr wrap="square" anchor="ctr" lIns="0" rIns="0" tIns="0" bIns="0">
            <a:spAutoFit/>
          </a:bodyPr>
          <a:lstStyle/>
          <a:p>
            <a:pPr algn="l">
              <a:lnSpc>
                <a:spcPct val="100000"/>
              </a:lnSpc>
              <a:spcBef>
                <a:spcPts val="0"/>
              </a:spcBef>
              <a:spcAft>
                <a:spcPts val="0"/>
              </a:spcAft>
            </a:pPr>
            <a:r>
              <a:rPr sz="1600" b="0">
                <a:solidFill>
                  <a:srgbClr val="555555"/>
                </a:solidFill>
                <a:latin typeface="Noto Sans JP"/>
                <a:ea typeface="Noto Sans JP"/>
                <a:cs typeface="Noto Sans JP"/>
              </a:rPr>
              <a:t>弁護士法人 相生綜合法律事務所</a:t>
            </a:r>
          </a:p>
        </p:txBody>
      </p:sp>
      <p:sp>
        <p:nvSpPr>
          <p:cNvPr id="19" name="TextBox 18"/>
          <p:cNvSpPr txBox="1"/>
          <p:nvPr/>
        </p:nvSpPr>
        <p:spPr>
          <a:xfrm>
            <a:off x="10972800" y="6446520"/>
            <a:ext cx="758952" cy="320040"/>
          </a:xfrm>
          <a:prstGeom prst="rect">
            <a:avLst/>
          </a:prstGeom>
          <a:noFill/>
        </p:spPr>
        <p:txBody>
          <a:bodyPr wrap="square" anchor="ctr" lIns="0" rIns="0" tIns="0" bIns="0">
            <a:spAutoFit/>
          </a:bodyPr>
          <a:lstStyle/>
          <a:p>
            <a:pPr algn="r">
              <a:lnSpc>
                <a:spcPct val="100000"/>
              </a:lnSpc>
              <a:spcBef>
                <a:spcPts val="0"/>
              </a:spcBef>
              <a:spcAft>
                <a:spcPts val="0"/>
              </a:spcAft>
            </a:pPr>
            <a:r>
              <a:rPr sz="1600" b="0">
                <a:solidFill>
                  <a:srgbClr val="555555"/>
                </a:solidFill>
                <a:latin typeface="Noto Sans JP"/>
                <a:ea typeface="Noto Sans JP"/>
                <a:cs typeface="Noto Sans JP"/>
              </a:rPr>
              <a:t>P.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ta-bg-img.jpg"/>
          <p:cNvPicPr>
            <a:picLocks noChangeAspect="1"/>
          </p:cNvPicPr>
          <p:nvPr/>
        </p:nvPicPr>
        <p:blipFill>
          <a:blip r:embed="rId2"/>
          <a:srcRect t="22924" b="22924"/>
          <a:stretch>
            <a:fillRect/>
          </a:stretch>
        </p:blipFill>
        <p:spPr>
          <a:xfrm>
            <a:off x="0" y="0"/>
            <a:ext cx="12191695" cy="2468880"/>
          </a:xfrm>
          <a:prstGeom prst="rect">
            <a:avLst/>
          </a:prstGeom>
        </p:spPr>
      </p:pic>
      <p:sp>
        <p:nvSpPr>
          <p:cNvPr id="3" name="Rectangle 2"/>
          <p:cNvSpPr/>
          <p:nvPr/>
        </p:nvSpPr>
        <p:spPr>
          <a:xfrm>
            <a:off x="0" y="0"/>
            <a:ext cx="7772400" cy="2468880"/>
          </a:xfrm>
          <a:prstGeom prst="rect">
            <a:avLst/>
          </a:prstGeom>
          <a:solidFill>
            <a:srgbClr val="1E4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68580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C8DFD0"/>
                </a:solidFill>
                <a:latin typeface="Noto Sans JP"/>
                <a:ea typeface="Noto Sans JP"/>
                <a:cs typeface="Noto Sans JP"/>
              </a:rPr>
              <a:t>CONTACT</a:t>
            </a:r>
          </a:p>
        </p:txBody>
      </p:sp>
      <p:sp>
        <p:nvSpPr>
          <p:cNvPr id="5" name="TextBox 4"/>
          <p:cNvSpPr txBox="1"/>
          <p:nvPr/>
        </p:nvSpPr>
        <p:spPr>
          <a:xfrm>
            <a:off x="548640" y="685800"/>
            <a:ext cx="7040880" cy="914400"/>
          </a:xfrm>
          <a:prstGeom prst="rect">
            <a:avLst/>
          </a:prstGeom>
          <a:noFill/>
        </p:spPr>
        <p:txBody>
          <a:bodyPr wrap="square" anchor="t" lIns="0" rIns="0" tIns="0" bIns="0">
            <a:spAutoFit/>
          </a:bodyPr>
          <a:lstStyle/>
          <a:p>
            <a:pPr algn="l">
              <a:lnSpc>
                <a:spcPct val="120000"/>
              </a:lnSpc>
              <a:spcBef>
                <a:spcPts val="0"/>
              </a:spcBef>
              <a:spcAft>
                <a:spcPts val="0"/>
              </a:spcAft>
            </a:pPr>
            <a:r>
              <a:rPr sz="2400" b="1">
                <a:solidFill>
                  <a:srgbClr val="FFFFFF"/>
                </a:solidFill>
                <a:latin typeface="Noto Serif JP"/>
                <a:ea typeface="Noto Serif JP"/>
                <a:cs typeface="Noto Serif JP"/>
              </a:rPr>
              <a:t>保険代理店様からのご相談・連携のお問い合わせ</a:t>
            </a:r>
          </a:p>
        </p:txBody>
      </p:sp>
      <p:sp>
        <p:nvSpPr>
          <p:cNvPr id="6" name="TextBox 5"/>
          <p:cNvSpPr txBox="1"/>
          <p:nvPr/>
        </p:nvSpPr>
        <p:spPr>
          <a:xfrm>
            <a:off x="548640" y="1600200"/>
            <a:ext cx="7040880" cy="822960"/>
          </a:xfrm>
          <a:prstGeom prst="rect">
            <a:avLst/>
          </a:prstGeom>
          <a:noFill/>
        </p:spPr>
        <p:txBody>
          <a:bodyPr wrap="square" anchor="t" lIns="0" rIns="0" tIns="0" bIns="0">
            <a:spAutoFit/>
          </a:bodyPr>
          <a:lstStyle/>
          <a:p>
            <a:pPr algn="l">
              <a:lnSpc>
                <a:spcPct val="130000"/>
              </a:lnSpc>
              <a:spcBef>
                <a:spcPts val="0"/>
              </a:spcBef>
              <a:spcAft>
                <a:spcPts val="0"/>
              </a:spcAft>
            </a:pPr>
            <a:r>
              <a:rPr sz="1600" b="0">
                <a:solidFill>
                  <a:srgbClr val="E8F2EB"/>
                </a:solidFill>
                <a:latin typeface="Noto Sans JP"/>
                <a:ea typeface="Noto Sans JP"/>
                <a:cs typeface="Noto Sans JP"/>
              </a:rPr>
              <a:t>交通事故案件における弁護士費用特約の活用や、お客様へのご紹介の流れについて、ご不明な点はお気軽にお問い合わせください。初回の相談は無料で承ります。対面・オンライン（Zoom等）どちらでも対応しております。</a:t>
            </a:r>
          </a:p>
        </p:txBody>
      </p:sp>
      <p:sp>
        <p:nvSpPr>
          <p:cNvPr id="7" name="TextBox 6"/>
          <p:cNvSpPr txBox="1"/>
          <p:nvPr/>
        </p:nvSpPr>
        <p:spPr>
          <a:xfrm>
            <a:off x="548640" y="2606040"/>
            <a:ext cx="10058400" cy="457200"/>
          </a:xfrm>
          <a:prstGeom prst="rect">
            <a:avLst/>
          </a:prstGeom>
          <a:noFill/>
        </p:spPr>
        <p:txBody>
          <a:bodyPr wrap="square" anchor="t" lIns="0" rIns="0" tIns="0" bIns="0">
            <a:spAutoFit/>
          </a:bodyPr>
          <a:lstStyle/>
          <a:p>
            <a:pPr algn="l">
              <a:lnSpc>
                <a:spcPct val="110000"/>
              </a:lnSpc>
              <a:spcBef>
                <a:spcPts val="0"/>
              </a:spcBef>
              <a:spcAft>
                <a:spcPts val="0"/>
              </a:spcAft>
            </a:pPr>
            <a:r>
              <a:rPr sz="1800" b="1">
                <a:solidFill>
                  <a:srgbClr val="1E4D33"/>
                </a:solidFill>
                <a:latin typeface="Noto Serif JP"/>
                <a:ea typeface="Noto Serif JP"/>
                <a:cs typeface="Noto Serif JP"/>
              </a:rPr>
              <a:t>弁護士法人 相生綜合法律事務所　</a:t>
            </a:r>
            <a:r>
              <a:rPr sz="1600" b="0">
                <a:solidFill>
                  <a:srgbClr val="555555"/>
                </a:solidFill>
                <a:latin typeface="Noto Sans JP"/>
                <a:ea typeface="Noto Sans JP"/>
                <a:cs typeface="Noto Sans JP"/>
              </a:rPr>
              <a:t>AIOI SOGO LAW OFFICE</a:t>
            </a:r>
          </a:p>
        </p:txBody>
      </p:sp>
      <p:sp>
        <p:nvSpPr>
          <p:cNvPr id="8" name="Rectangle 7"/>
          <p:cNvSpPr/>
          <p:nvPr/>
        </p:nvSpPr>
        <p:spPr>
          <a:xfrm>
            <a:off x="548640" y="3108960"/>
            <a:ext cx="1362456" cy="384048"/>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08960"/>
            <a:ext cx="1362456" cy="384048"/>
          </a:xfrm>
          <a:prstGeom prst="rect">
            <a:avLst/>
          </a:prstGeom>
          <a:noFill/>
        </p:spPr>
        <p:txBody>
          <a:bodyPr wrap="square" anchor="ctr" lIns="0" rIns="0" tIns="0" bIns="0">
            <a:spAutoFit/>
          </a:bodyPr>
          <a:lstStyle/>
          <a:p>
            <a:pPr algn="ctr">
              <a:lnSpc>
                <a:spcPct val="100000"/>
              </a:lnSpc>
              <a:spcBef>
                <a:spcPts val="0"/>
              </a:spcBef>
              <a:spcAft>
                <a:spcPts val="0"/>
              </a:spcAft>
            </a:pPr>
            <a:r>
              <a:rPr sz="1600" b="1">
                <a:solidFill>
                  <a:srgbClr val="1E4D33"/>
                </a:solidFill>
                <a:latin typeface="Noto Sans JP"/>
                <a:ea typeface="Noto Sans JP"/>
                <a:cs typeface="Noto Sans JP"/>
              </a:rPr>
              <a:t>オンライン全国対応</a:t>
            </a:r>
          </a:p>
        </p:txBody>
      </p:sp>
      <p:sp>
        <p:nvSpPr>
          <p:cNvPr id="10" name="Rectangle 9"/>
          <p:cNvSpPr/>
          <p:nvPr/>
        </p:nvSpPr>
        <p:spPr>
          <a:xfrm>
            <a:off x="2048256" y="3108960"/>
            <a:ext cx="1005840" cy="384048"/>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48256" y="3108960"/>
            <a:ext cx="1005840" cy="384048"/>
          </a:xfrm>
          <a:prstGeom prst="rect">
            <a:avLst/>
          </a:prstGeom>
          <a:noFill/>
        </p:spPr>
        <p:txBody>
          <a:bodyPr wrap="square" anchor="ctr" lIns="0" rIns="0" tIns="0" bIns="0">
            <a:spAutoFit/>
          </a:bodyPr>
          <a:lstStyle/>
          <a:p>
            <a:pPr algn="ctr">
              <a:lnSpc>
                <a:spcPct val="100000"/>
              </a:lnSpc>
              <a:spcBef>
                <a:spcPts val="0"/>
              </a:spcBef>
              <a:spcAft>
                <a:spcPts val="0"/>
              </a:spcAft>
            </a:pPr>
            <a:r>
              <a:rPr sz="1600" b="1">
                <a:solidFill>
                  <a:srgbClr val="1E4D33"/>
                </a:solidFill>
                <a:latin typeface="Noto Sans JP"/>
                <a:ea typeface="Noto Sans JP"/>
                <a:cs typeface="Noto Sans JP"/>
              </a:rPr>
              <a:t>初回相談無料</a:t>
            </a:r>
          </a:p>
        </p:txBody>
      </p:sp>
      <p:sp>
        <p:nvSpPr>
          <p:cNvPr id="12" name="Rectangle 11"/>
          <p:cNvSpPr/>
          <p:nvPr/>
        </p:nvSpPr>
        <p:spPr>
          <a:xfrm>
            <a:off x="3191256" y="3108960"/>
            <a:ext cx="2075688" cy="384048"/>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91256" y="3108960"/>
            <a:ext cx="2075688" cy="384048"/>
          </a:xfrm>
          <a:prstGeom prst="rect">
            <a:avLst/>
          </a:prstGeom>
          <a:noFill/>
        </p:spPr>
        <p:txBody>
          <a:bodyPr wrap="square" anchor="ctr" lIns="0" rIns="0" tIns="0" bIns="0">
            <a:spAutoFit/>
          </a:bodyPr>
          <a:lstStyle/>
          <a:p>
            <a:pPr algn="ctr">
              <a:lnSpc>
                <a:spcPct val="100000"/>
              </a:lnSpc>
              <a:spcBef>
                <a:spcPts val="0"/>
              </a:spcBef>
              <a:spcAft>
                <a:spcPts val="0"/>
              </a:spcAft>
            </a:pPr>
            <a:r>
              <a:rPr sz="1600" b="1">
                <a:solidFill>
                  <a:srgbClr val="1E4D33"/>
                </a:solidFill>
                <a:latin typeface="Noto Sans JP"/>
                <a:ea typeface="Noto Sans JP"/>
                <a:cs typeface="Noto Sans JP"/>
              </a:rPr>
              <a:t>土日祝・夜間対応（要事前相談）</a:t>
            </a:r>
          </a:p>
        </p:txBody>
      </p:sp>
      <p:sp>
        <p:nvSpPr>
          <p:cNvPr id="14" name="Rectangle 13"/>
          <p:cNvSpPr/>
          <p:nvPr/>
        </p:nvSpPr>
        <p:spPr>
          <a:xfrm>
            <a:off x="5404104" y="3108960"/>
            <a:ext cx="1956816" cy="384048"/>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4104" y="3108960"/>
            <a:ext cx="1956816" cy="384048"/>
          </a:xfrm>
          <a:prstGeom prst="rect">
            <a:avLst/>
          </a:prstGeom>
          <a:noFill/>
        </p:spPr>
        <p:txBody>
          <a:bodyPr wrap="square" anchor="ctr" lIns="0" rIns="0" tIns="0" bIns="0">
            <a:spAutoFit/>
          </a:bodyPr>
          <a:lstStyle/>
          <a:p>
            <a:pPr algn="ctr">
              <a:lnSpc>
                <a:spcPct val="100000"/>
              </a:lnSpc>
              <a:spcBef>
                <a:spcPts val="0"/>
              </a:spcBef>
              <a:spcAft>
                <a:spcPts val="0"/>
              </a:spcAft>
            </a:pPr>
            <a:r>
              <a:rPr sz="1600" b="1">
                <a:solidFill>
                  <a:srgbClr val="1E4D33"/>
                </a:solidFill>
                <a:latin typeface="Noto Sans JP"/>
                <a:ea typeface="Noto Sans JP"/>
                <a:cs typeface="Noto Sans JP"/>
              </a:rPr>
              <a:t>弁護士費用特約案件 取扱多数</a:t>
            </a:r>
          </a:p>
        </p:txBody>
      </p:sp>
      <p:sp>
        <p:nvSpPr>
          <p:cNvPr id="16" name="TextBox 15"/>
          <p:cNvSpPr txBox="1"/>
          <p:nvPr/>
        </p:nvSpPr>
        <p:spPr>
          <a:xfrm>
            <a:off x="548640" y="3749039"/>
            <a:ext cx="5486400" cy="32004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ABOUT</a:t>
            </a:r>
          </a:p>
        </p:txBody>
      </p:sp>
      <p:sp>
        <p:nvSpPr>
          <p:cNvPr id="17" name="TextBox 16"/>
          <p:cNvSpPr txBox="1"/>
          <p:nvPr/>
        </p:nvSpPr>
        <p:spPr>
          <a:xfrm>
            <a:off x="548640" y="4069080"/>
            <a:ext cx="5486400" cy="457200"/>
          </a:xfrm>
          <a:prstGeom prst="rect">
            <a:avLst/>
          </a:prstGeom>
          <a:noFill/>
        </p:spPr>
        <p:txBody>
          <a:bodyPr wrap="square" anchor="t" lIns="0" rIns="0" tIns="0" bIns="0">
            <a:spAutoFit/>
          </a:bodyPr>
          <a:lstStyle/>
          <a:p>
            <a:pPr algn="l">
              <a:lnSpc>
                <a:spcPct val="100000"/>
              </a:lnSpc>
              <a:spcBef>
                <a:spcPts val="0"/>
              </a:spcBef>
              <a:spcAft>
                <a:spcPts val="0"/>
              </a:spcAft>
            </a:pPr>
            <a:r>
              <a:rPr sz="2200" b="1">
                <a:solidFill>
                  <a:srgbClr val="1E4D33"/>
                </a:solidFill>
                <a:latin typeface="Noto Serif JP"/>
                <a:ea typeface="Noto Serif JP"/>
                <a:cs typeface="Noto Serif JP"/>
              </a:rPr>
              <a:t>事務所概要</a:t>
            </a:r>
          </a:p>
        </p:txBody>
      </p:sp>
      <p:sp>
        <p:nvSpPr>
          <p:cNvPr id="18" name="TextBox 17"/>
          <p:cNvSpPr txBox="1"/>
          <p:nvPr/>
        </p:nvSpPr>
        <p:spPr>
          <a:xfrm>
            <a:off x="548640" y="4754880"/>
            <a:ext cx="5669280" cy="2011680"/>
          </a:xfrm>
          <a:prstGeom prst="rect">
            <a:avLst/>
          </a:prstGeom>
          <a:noFill/>
        </p:spPr>
        <p:txBody>
          <a:bodyPr wrap="square" anchor="t" lIns="0" rIns="0" tIns="0" bIns="0">
            <a:spAutoFit/>
          </a:bodyPr>
          <a:lstStyle/>
          <a:p>
            <a:pPr algn="l">
              <a:lnSpc>
                <a:spcPct val="135000"/>
              </a:lnSpc>
              <a:spcBef>
                <a:spcPts val="0"/>
              </a:spcBef>
              <a:spcAft>
                <a:spcPts val="1000"/>
              </a:spcAft>
            </a:pPr>
            <a:r>
              <a:rPr sz="1700" b="1">
                <a:solidFill>
                  <a:srgbClr val="2B6444"/>
                </a:solidFill>
                <a:latin typeface="Noto Sans JP"/>
                <a:ea typeface="Noto Sans JP"/>
                <a:cs typeface="Noto Sans JP"/>
              </a:rPr>
              <a:t>所在地：</a:t>
            </a:r>
            <a:r>
              <a:rPr sz="1700" b="0">
                <a:solidFill>
                  <a:srgbClr val="1A1A1A"/>
                </a:solidFill>
                <a:latin typeface="Noto Sans JP"/>
                <a:ea typeface="Noto Sans JP"/>
                <a:cs typeface="Noto Sans JP"/>
              </a:rPr>
              <a:t>〒104-0061 東京都中央区銀座8丁目17-5</a:t>
            </a:r>
          </a:p>
          <a:p>
            <a:pPr algn="l">
              <a:lnSpc>
                <a:spcPct val="135000"/>
              </a:lnSpc>
              <a:spcBef>
                <a:spcPts val="0"/>
              </a:spcBef>
              <a:spcAft>
                <a:spcPts val="1000"/>
              </a:spcAft>
            </a:pPr>
            <a:r>
              <a:rPr sz="1700" b="1">
                <a:solidFill>
                  <a:srgbClr val="2B6444"/>
                </a:solidFill>
                <a:latin typeface="Noto Sans JP"/>
                <a:ea typeface="Noto Sans JP"/>
                <a:cs typeface="Noto Sans JP"/>
              </a:rPr>
              <a:t>事務所名：</a:t>
            </a:r>
            <a:r>
              <a:rPr sz="1700" b="0">
                <a:solidFill>
                  <a:srgbClr val="1A1A1A"/>
                </a:solidFill>
                <a:latin typeface="Noto Sans JP"/>
                <a:ea typeface="Noto Sans JP"/>
                <a:cs typeface="Noto Sans JP"/>
              </a:rPr>
              <a:t>弁護士法人 相生綜合法律事務所</a:t>
            </a:r>
          </a:p>
          <a:p>
            <a:pPr algn="l">
              <a:lnSpc>
                <a:spcPct val="135000"/>
              </a:lnSpc>
              <a:spcBef>
                <a:spcPts val="0"/>
              </a:spcBef>
              <a:spcAft>
                <a:spcPts val="1000"/>
              </a:spcAft>
            </a:pPr>
            <a:r>
              <a:rPr sz="1700" b="1">
                <a:solidFill>
                  <a:srgbClr val="2B6444"/>
                </a:solidFill>
                <a:latin typeface="Noto Sans JP"/>
                <a:ea typeface="Noto Sans JP"/>
                <a:cs typeface="Noto Sans JP"/>
              </a:rPr>
              <a:t>代表弁護士：</a:t>
            </a:r>
            <a:r>
              <a:rPr sz="1700" b="0">
                <a:solidFill>
                  <a:srgbClr val="1A1A1A"/>
                </a:solidFill>
                <a:latin typeface="Noto Sans JP"/>
                <a:ea typeface="Noto Sans JP"/>
                <a:cs typeface="Noto Sans JP"/>
              </a:rPr>
              <a:t>福島 駿太（第一東京弁護士会 登録）</a:t>
            </a:r>
          </a:p>
        </p:txBody>
      </p:sp>
      <p:sp>
        <p:nvSpPr>
          <p:cNvPr id="19" name="TextBox 18"/>
          <p:cNvSpPr txBox="1"/>
          <p:nvPr/>
        </p:nvSpPr>
        <p:spPr>
          <a:xfrm>
            <a:off x="6400800" y="4754880"/>
            <a:ext cx="5349240" cy="2011680"/>
          </a:xfrm>
          <a:prstGeom prst="rect">
            <a:avLst/>
          </a:prstGeom>
          <a:noFill/>
        </p:spPr>
        <p:txBody>
          <a:bodyPr wrap="square" anchor="t" lIns="0" rIns="0" tIns="0" bIns="0">
            <a:spAutoFit/>
          </a:bodyPr>
          <a:lstStyle/>
          <a:p>
            <a:pPr algn="l">
              <a:lnSpc>
                <a:spcPct val="135000"/>
              </a:lnSpc>
              <a:spcBef>
                <a:spcPts val="0"/>
              </a:spcBef>
              <a:spcAft>
                <a:spcPts val="1000"/>
              </a:spcAft>
            </a:pPr>
            <a:r>
              <a:rPr sz="1700" b="1">
                <a:solidFill>
                  <a:srgbClr val="2B6444"/>
                </a:solidFill>
                <a:latin typeface="Noto Sans JP"/>
                <a:ea typeface="Noto Sans JP"/>
                <a:cs typeface="Noto Sans JP"/>
              </a:rPr>
              <a:t>取扱分野：</a:t>
            </a:r>
            <a:r>
              <a:rPr sz="1700" b="0">
                <a:solidFill>
                  <a:srgbClr val="1A1A1A"/>
                </a:solidFill>
                <a:latin typeface="Noto Sans JP"/>
                <a:ea typeface="Noto Sans JP"/>
                <a:cs typeface="Noto Sans JP"/>
              </a:rPr>
              <a:t>交通事故、離婚・相続、労働問題、債務整理、企業法務 ほか</a:t>
            </a:r>
          </a:p>
          <a:p>
            <a:pPr algn="l">
              <a:lnSpc>
                <a:spcPct val="135000"/>
              </a:lnSpc>
              <a:spcBef>
                <a:spcPts val="0"/>
              </a:spcBef>
              <a:spcAft>
                <a:spcPts val="1000"/>
              </a:spcAft>
            </a:pPr>
            <a:r>
              <a:rPr sz="1700" b="1">
                <a:solidFill>
                  <a:srgbClr val="2B6444"/>
                </a:solidFill>
                <a:latin typeface="Noto Sans JP"/>
                <a:ea typeface="Noto Sans JP"/>
                <a:cs typeface="Noto Sans JP"/>
              </a:rPr>
              <a:t>対応エリア：</a:t>
            </a:r>
            <a:r>
              <a:rPr sz="1700" b="0">
                <a:solidFill>
                  <a:srgbClr val="1A1A1A"/>
                </a:solidFill>
                <a:latin typeface="Noto Sans JP"/>
                <a:ea typeface="Noto Sans JP"/>
                <a:cs typeface="Noto Sans JP"/>
              </a:rPr>
              <a:t>オンラインにて全国対応</a:t>
            </a:r>
          </a:p>
          <a:p>
            <a:pPr algn="l">
              <a:lnSpc>
                <a:spcPct val="135000"/>
              </a:lnSpc>
              <a:spcBef>
                <a:spcPts val="0"/>
              </a:spcBef>
              <a:spcAft>
                <a:spcPts val="1000"/>
              </a:spcAft>
            </a:pPr>
            <a:r>
              <a:rPr sz="1700" b="1">
                <a:solidFill>
                  <a:srgbClr val="2B6444"/>
                </a:solidFill>
                <a:latin typeface="Noto Sans JP"/>
                <a:ea typeface="Noto Sans JP"/>
                <a:cs typeface="Noto Sans JP"/>
              </a:rPr>
              <a:t>初回相談：</a:t>
            </a:r>
            <a:r>
              <a:rPr sz="1700" b="0">
                <a:solidFill>
                  <a:srgbClr val="1A1A1A"/>
                </a:solidFill>
                <a:latin typeface="Noto Sans JP"/>
                <a:ea typeface="Noto Sans JP"/>
                <a:cs typeface="Noto Sans JP"/>
              </a:rPr>
              <a:t>無料（対面・オンライン対応）</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600" b="1">
                <a:solidFill>
                  <a:srgbClr val="2B6444"/>
                </a:solidFill>
                <a:latin typeface="Noto Sans JP"/>
                <a:ea typeface="Noto Sans JP"/>
                <a:cs typeface="Noto Sans JP"/>
              </a:rPr>
              <a:t>DISCLAIMER</a:t>
            </a:r>
          </a:p>
        </p:txBody>
      </p:sp>
      <p:sp>
        <p:nvSpPr>
          <p:cNvPr id="3" name="TextBox 2"/>
          <p:cNvSpPr txBox="1"/>
          <p:nvPr/>
        </p:nvSpPr>
        <p:spPr>
          <a:xfrm>
            <a:off x="548640" y="868680"/>
            <a:ext cx="10058400" cy="914400"/>
          </a:xfrm>
          <a:prstGeom prst="rect">
            <a:avLst/>
          </a:prstGeom>
          <a:noFill/>
        </p:spPr>
        <p:txBody>
          <a:bodyPr wrap="square" anchor="t" lIns="0" rIns="0" tIns="0" bIns="0">
            <a:spAutoFit/>
          </a:bodyPr>
          <a:lstStyle/>
          <a:p>
            <a:pPr algn="l">
              <a:lnSpc>
                <a:spcPct val="110000"/>
              </a:lnSpc>
              <a:spcBef>
                <a:spcPts val="0"/>
              </a:spcBef>
              <a:spcAft>
                <a:spcPts val="0"/>
              </a:spcAft>
            </a:pPr>
            <a:r>
              <a:rPr sz="3000" b="1">
                <a:solidFill>
                  <a:srgbClr val="1E4D33"/>
                </a:solidFill>
                <a:latin typeface="Noto Serif JP"/>
                <a:ea typeface="Noto Serif JP"/>
                <a:cs typeface="Noto Serif JP"/>
              </a:rPr>
              <a:t>本レポートについて</a:t>
            </a:r>
          </a:p>
        </p:txBody>
      </p:sp>
      <p:sp>
        <p:nvSpPr>
          <p:cNvPr id="4" name="TextBox 3"/>
          <p:cNvSpPr txBox="1"/>
          <p:nvPr/>
        </p:nvSpPr>
        <p:spPr>
          <a:xfrm>
            <a:off x="548640" y="1920240"/>
            <a:ext cx="11064240" cy="4114800"/>
          </a:xfrm>
          <a:prstGeom prst="rect">
            <a:avLst/>
          </a:prstGeom>
          <a:noFill/>
        </p:spPr>
        <p:txBody>
          <a:bodyPr wrap="square" anchor="t" lIns="0" rIns="0" tIns="0" bIns="0">
            <a:spAutoFit/>
          </a:bodyPr>
          <a:lstStyle/>
          <a:p>
            <a:pPr algn="l">
              <a:lnSpc>
                <a:spcPct val="155000"/>
              </a:lnSpc>
              <a:spcBef>
                <a:spcPts val="0"/>
              </a:spcBef>
              <a:spcAft>
                <a:spcPts val="1800"/>
              </a:spcAft>
            </a:pPr>
            <a:r>
              <a:rPr sz="1800" b="0">
                <a:solidFill>
                  <a:srgbClr val="1A1A1A"/>
                </a:solidFill>
                <a:latin typeface="Noto Sans JP"/>
                <a:ea typeface="Noto Sans JP"/>
                <a:cs typeface="Noto Sans JP"/>
              </a:rPr>
              <a:t>本レポートに記載されている事例は、実際の案件をもとに一部内容を整理・匿名化したものです。個別の案件の結果を保証するものではありません。</a:t>
            </a:r>
          </a:p>
          <a:p>
            <a:pPr algn="l">
              <a:lnSpc>
                <a:spcPct val="155000"/>
              </a:lnSpc>
              <a:spcBef>
                <a:spcPts val="0"/>
              </a:spcBef>
              <a:spcAft>
                <a:spcPts val="1800"/>
              </a:spcAft>
            </a:pPr>
            <a:r>
              <a:rPr sz="1800" b="0">
                <a:solidFill>
                  <a:srgbClr val="1A1A1A"/>
                </a:solidFill>
                <a:latin typeface="Noto Sans JP"/>
                <a:ea typeface="Noto Sans JP"/>
                <a:cs typeface="Noto Sans JP"/>
              </a:rPr>
              <a:t>記載内容は2026年4月時点の情報をもとにしており、法令・実務の変更により内容が変わる場合があります。具体的なご相談については、弁護士にご相談ください。</a:t>
            </a:r>
          </a:p>
          <a:p>
            <a:pPr algn="l">
              <a:lnSpc>
                <a:spcPct val="155000"/>
              </a:lnSpc>
              <a:spcBef>
                <a:spcPts val="0"/>
              </a:spcBef>
              <a:spcAft>
                <a:spcPts val="1800"/>
              </a:spcAft>
            </a:pPr>
            <a:r>
              <a:rPr sz="1800" b="0">
                <a:solidFill>
                  <a:srgbClr val="1A1A1A"/>
                </a:solidFill>
                <a:latin typeface="Noto Sans JP"/>
                <a:ea typeface="Noto Sans JP"/>
                <a:cs typeface="Noto Sans JP"/>
              </a:rPr>
              <a:t>本レポートの著作権は弁護士法人相生綜合法律事務所に帰属します。無断転載・複製はお断りしております。</a:t>
            </a:r>
          </a:p>
        </p:txBody>
      </p:sp>
      <p:sp>
        <p:nvSpPr>
          <p:cNvPr id="5" name="Rectangle 4"/>
          <p:cNvSpPr/>
          <p:nvPr/>
        </p:nvSpPr>
        <p:spPr>
          <a:xfrm>
            <a:off x="548640" y="5486400"/>
            <a:ext cx="11064240" cy="777240"/>
          </a:xfrm>
          <a:prstGeom prst="rect">
            <a:avLst/>
          </a:prstGeom>
          <a:solidFill>
            <a:srgbClr val="E8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486400"/>
            <a:ext cx="10424160" cy="777240"/>
          </a:xfrm>
          <a:prstGeom prst="rect">
            <a:avLst/>
          </a:prstGeom>
          <a:noFill/>
        </p:spPr>
        <p:txBody>
          <a:bodyPr wrap="square" anchor="ctr" lIns="0" rIns="0" tIns="0" bIns="0">
            <a:spAutoFit/>
          </a:bodyPr>
          <a:lstStyle/>
          <a:p>
            <a:pPr algn="l">
              <a:lnSpc>
                <a:spcPct val="110000"/>
              </a:lnSpc>
              <a:spcBef>
                <a:spcPts val="0"/>
              </a:spcBef>
              <a:spcAft>
                <a:spcPts val="0"/>
              </a:spcAft>
            </a:pPr>
            <a:r>
              <a:rPr sz="1800" b="1">
                <a:solidFill>
                  <a:srgbClr val="1E4D33"/>
                </a:solidFill>
                <a:latin typeface="Noto Serif JP"/>
                <a:ea typeface="Noto Serif JP"/>
                <a:cs typeface="Noto Serif JP"/>
              </a:rPr>
              <a:t>弁護士法人 相生綜合法律事務所　</a:t>
            </a:r>
            <a:r>
              <a:rPr sz="1600" b="0">
                <a:solidFill>
                  <a:srgbClr val="555555"/>
                </a:solidFill>
                <a:latin typeface="Noto Sans JP"/>
                <a:ea typeface="Noto Sans JP"/>
                <a:cs typeface="Noto Sans JP"/>
              </a:rPr>
              <a:t>AIOI SOGO LAW OFFICE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